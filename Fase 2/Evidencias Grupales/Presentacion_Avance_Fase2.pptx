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B5E625F7-E456-1A48-BAB1-84D9757224FE}">
          <p14:sldIdLst>
            <p14:sldId id="256"/>
            <p14:sldId id="271"/>
          </p14:sldIdLst>
        </p14:section>
        <p14:section name="Resumen" id="{D0C083AD-14D7-0188-15D5-B0E569CC4197}">
          <p14:sldIdLst>
            <p14:sldId id="257"/>
            <p14:sldId id="258"/>
          </p14:sldIdLst>
        </p14:section>
        <p14:section name="El sistema" id="{73A41568-855F-B1E9-9504-4AFE79F68ED7}">
          <p14:sldIdLst>
            <p14:sldId id="259"/>
            <p14:sldId id="260"/>
            <p14:sldId id="261"/>
            <p14:sldId id="262"/>
          </p14:sldIdLst>
        </p14:section>
        <p14:section name="Datos para decidir" id="{258C2569-7944-634C-59F1-40DA617BBA96}">
          <p14:sldIdLst>
            <p14:sldId id="263"/>
            <p14:sldId id="264"/>
          </p14:sldIdLst>
        </p14:section>
        <p14:section name="Avance y calidad" id="{6119822A-89EF-1849-6E75-03AD4DDE995A}">
          <p14:sldIdLst>
            <p14:sldId id="265"/>
            <p14:sldId id="266"/>
            <p14:sldId id="267"/>
            <p14:sldId id="268"/>
          </p14:sldIdLst>
        </p14:section>
        <p14:section name="Cierre" id="{6640DF12-8FBB-9151-BA87-CF3E6A18E01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10"/>
  </p:normalViewPr>
  <p:slideViewPr>
    <p:cSldViewPr snapToGrid="0" snapToObjects="1">
      <p:cViewPr varScale="1">
        <p:scale>
          <a:sx n="108" d="100"/>
          <a:sy n="108" d="100"/>
        </p:scale>
        <p:origin x="6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doughnutChart>
        <c:varyColors val="1"/>
        <c:ser>
          <c:idx val="0"/>
          <c:order val="0"/>
          <c:tx>
            <c:strRef>
              <c:f>Sheet1!$B$1</c:f>
              <c:strCache>
                <c:ptCount val="1"/>
                <c:pt idx="0">
                  <c:v>Historias</c:v>
                </c:pt>
              </c:strCache>
            </c:strRef>
          </c:tx>
          <c:spPr>
            <a:solidFill>
              <a:schemeClr val="accent1"/>
            </a:solidFill>
            <a:ln w="9525" cap="flat">
              <a:solidFill>
                <a:srgbClr val="F9F9F9"/>
              </a:solidFill>
              <a:prstDash val="solid"/>
              <a:round/>
            </a:ln>
            <a:effectLst/>
          </c:spPr>
          <c:dPt>
            <c:idx val="0"/>
            <c:bubble3D val="0"/>
            <c:spPr>
              <a:solidFill>
                <a:srgbClr val="34D399"/>
              </a:solidFill>
              <a:effectLst/>
            </c:spPr>
            <c:extLst>
              <c:ext xmlns:c16="http://schemas.microsoft.com/office/drawing/2014/chart" uri="{C3380CC4-5D6E-409C-BE32-E72D297353CC}">
                <c16:uniqueId val="{00000001-E7ED-4770-BA25-3E218AE4639F}"/>
              </c:ext>
            </c:extLst>
          </c:dPt>
          <c:dPt>
            <c:idx val="1"/>
            <c:bubble3D val="0"/>
            <c:spPr>
              <a:solidFill>
                <a:srgbClr val="38BDF8"/>
              </a:solidFill>
              <a:effectLst/>
            </c:spPr>
            <c:extLst>
              <c:ext xmlns:c16="http://schemas.microsoft.com/office/drawing/2014/chart" uri="{C3380CC4-5D6E-409C-BE32-E72D297353CC}">
                <c16:uniqueId val="{00000003-E7ED-4770-BA25-3E218AE4639F}"/>
              </c:ext>
            </c:extLst>
          </c:dPt>
          <c:dPt>
            <c:idx val="2"/>
            <c:bubble3D val="0"/>
            <c:spPr>
              <a:solidFill>
                <a:srgbClr val="F0A93B"/>
              </a:solidFill>
              <a:effectLst/>
            </c:spPr>
            <c:extLst>
              <c:ext xmlns:c16="http://schemas.microsoft.com/office/drawing/2014/chart" uri="{C3380CC4-5D6E-409C-BE32-E72D297353CC}">
                <c16:uniqueId val="{00000005-E7ED-4770-BA25-3E218AE4639F}"/>
              </c:ext>
            </c:extLst>
          </c:dPt>
          <c:dPt>
            <c:idx val="3"/>
            <c:bubble3D val="0"/>
            <c:spPr>
              <a:solidFill>
                <a:srgbClr val="A78BFA"/>
              </a:solidFill>
              <a:effectLst/>
            </c:spPr>
            <c:extLst>
              <c:ext xmlns:c16="http://schemas.microsoft.com/office/drawing/2014/chart" uri="{C3380CC4-5D6E-409C-BE32-E72D297353CC}">
                <c16:uniqueId val="{00000007-E7ED-4770-BA25-3E218AE4639F}"/>
              </c:ext>
            </c:extLst>
          </c:dPt>
          <c:dPt>
            <c:idx val="4"/>
            <c:bubble3D val="0"/>
            <c:spPr>
              <a:solidFill>
                <a:srgbClr val="E0283F"/>
              </a:solidFill>
              <a:effectLst/>
            </c:spPr>
            <c:extLst>
              <c:ext xmlns:c16="http://schemas.microsoft.com/office/drawing/2014/chart" uri="{C3380CC4-5D6E-409C-BE32-E72D297353CC}">
                <c16:uniqueId val="{00000009-E7ED-4770-BA25-3E218AE4639F}"/>
              </c:ext>
            </c:extLst>
          </c:dPt>
          <c:dLbls>
            <c:dLbl>
              <c:idx val="0"/>
              <c:numFmt formatCode="General" sourceLinked="0"/>
              <c:spPr/>
              <c:txPr>
                <a:bodyPr/>
                <a:lstStyle/>
                <a:p>
                  <a:pPr>
                    <a:defRPr sz="1400" b="1" i="0" u="none" strike="noStrike">
                      <a:solidFill>
                        <a:srgbClr val="0B0B0C"/>
                      </a:solidFill>
                      <a:latin typeface="+mn-lt"/>
                    </a:defRPr>
                  </a:pPr>
                  <a:endParaRPr lang="es-CL"/>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7ED-4770-BA25-3E218AE4639F}"/>
                </c:ext>
              </c:extLst>
            </c:dLbl>
            <c:dLbl>
              <c:idx val="1"/>
              <c:numFmt formatCode="General" sourceLinked="0"/>
              <c:spPr/>
              <c:txPr>
                <a:bodyPr/>
                <a:lstStyle/>
                <a:p>
                  <a:pPr>
                    <a:defRPr sz="1400" b="1" i="0" u="none" strike="noStrike">
                      <a:solidFill>
                        <a:srgbClr val="0B0B0C"/>
                      </a:solidFill>
                      <a:latin typeface="+mn-lt"/>
                    </a:defRPr>
                  </a:pPr>
                  <a:endParaRPr lang="es-CL"/>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7ED-4770-BA25-3E218AE4639F}"/>
                </c:ext>
              </c:extLst>
            </c:dLbl>
            <c:dLbl>
              <c:idx val="2"/>
              <c:numFmt formatCode="General" sourceLinked="0"/>
              <c:spPr/>
              <c:txPr>
                <a:bodyPr/>
                <a:lstStyle/>
                <a:p>
                  <a:pPr>
                    <a:defRPr sz="1400" b="1" i="0" u="none" strike="noStrike">
                      <a:solidFill>
                        <a:srgbClr val="0B0B0C"/>
                      </a:solidFill>
                      <a:latin typeface="+mn-lt"/>
                    </a:defRPr>
                  </a:pPr>
                  <a:endParaRPr lang="es-CL"/>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7ED-4770-BA25-3E218AE4639F}"/>
                </c:ext>
              </c:extLst>
            </c:dLbl>
            <c:dLbl>
              <c:idx val="3"/>
              <c:numFmt formatCode="General" sourceLinked="0"/>
              <c:spPr/>
              <c:txPr>
                <a:bodyPr/>
                <a:lstStyle/>
                <a:p>
                  <a:pPr>
                    <a:defRPr sz="1400" b="1" i="0" u="none" strike="noStrike">
                      <a:solidFill>
                        <a:srgbClr val="0B0B0C"/>
                      </a:solidFill>
                      <a:latin typeface="+mn-lt"/>
                    </a:defRPr>
                  </a:pPr>
                  <a:endParaRPr lang="es-CL"/>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7ED-4770-BA25-3E218AE4639F}"/>
                </c:ext>
              </c:extLst>
            </c:dLbl>
            <c:dLbl>
              <c:idx val="4"/>
              <c:numFmt formatCode="General" sourceLinked="0"/>
              <c:spPr/>
              <c:txPr>
                <a:bodyPr/>
                <a:lstStyle/>
                <a:p>
                  <a:pPr>
                    <a:defRPr sz="1400" b="1" i="0" u="none" strike="noStrike">
                      <a:solidFill>
                        <a:srgbClr val="0B0B0C"/>
                      </a:solidFill>
                      <a:latin typeface="+mn-lt"/>
                    </a:defRPr>
                  </a:pPr>
                  <a:endParaRPr lang="es-CL"/>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7ED-4770-BA25-3E218AE4639F}"/>
                </c:ext>
              </c:extLst>
            </c:dLbl>
            <c:numFmt formatCode="General" sourceLinked="0"/>
            <c:spPr>
              <a:noFill/>
              <a:ln>
                <a:noFill/>
              </a:ln>
              <a:effectLst/>
            </c:spPr>
            <c:txPr>
              <a:bodyPr/>
              <a:lstStyle/>
              <a:p>
                <a:pPr>
                  <a:defRPr sz="1800" b="1" i="0" u="none" strike="noStrike">
                    <a:solidFill>
                      <a:srgbClr val="000000"/>
                    </a:solidFill>
                    <a:latin typeface="Arial"/>
                  </a:defRPr>
                </a:pPr>
                <a:endParaRPr lang="es-CL"/>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Implementadas</c:v>
                </c:pt>
                <c:pt idx="1">
                  <c:v>Muy avanzadas</c:v>
                </c:pt>
                <c:pt idx="2">
                  <c:v>Simuladas</c:v>
                </c:pt>
                <c:pt idx="3">
                  <c:v>Parcial</c:v>
                </c:pt>
                <c:pt idx="4">
                  <c:v>Pendientes</c:v>
                </c:pt>
              </c:strCache>
            </c:strRef>
          </c:cat>
          <c:val>
            <c:numRef>
              <c:f>Sheet1!$B$2:$B$6</c:f>
              <c:numCache>
                <c:formatCode>General</c:formatCode>
                <c:ptCount val="5"/>
                <c:pt idx="0">
                  <c:v>13</c:v>
                </c:pt>
                <c:pt idx="1">
                  <c:v>2</c:v>
                </c:pt>
                <c:pt idx="2">
                  <c:v>2</c:v>
                </c:pt>
                <c:pt idx="3">
                  <c:v>1</c:v>
                </c:pt>
                <c:pt idx="4">
                  <c:v>2</c:v>
                </c:pt>
              </c:numCache>
            </c:numRef>
          </c:val>
          <c:extLst>
            <c:ext xmlns:c16="http://schemas.microsoft.com/office/drawing/2014/chart" uri="{C3380CC4-5D6E-409C-BE32-E72D297353CC}">
              <c16:uniqueId val="{0000000A-E7ED-4770-BA25-3E218AE4639F}"/>
            </c:ext>
          </c:extLst>
        </c:ser>
        <c:dLbls>
          <c:showLegendKey val="0"/>
          <c:showVal val="0"/>
          <c:showCatName val="0"/>
          <c:showSerName val="0"/>
          <c:showPercent val="0"/>
          <c:showBubbleSize val="0"/>
          <c:showLeaderLines val="0"/>
        </c:dLbls>
        <c:firstSliceAng val="0"/>
        <c:holeSize val="58"/>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600" b="0" i="0" u="none" strike="noStrike">
                <a:solidFill>
                  <a:srgbClr val="F4F4F5"/>
                </a:solidFill>
                <a:latin typeface="+mn-lt"/>
              </a:defRPr>
            </a:pPr>
            <a:r>
              <a:rPr lang="es-CL" sz="1600" b="0" i="0" u="none" strike="noStrike">
                <a:solidFill>
                  <a:srgbClr val="F4F4F5"/>
                </a:solidFill>
                <a:latin typeface="+mn-lt"/>
              </a:rPr>
              <a:t>581 pruebas automáticas</a:t>
            </a:r>
          </a:p>
        </c:rich>
      </c:tx>
      <c:overlay val="0"/>
    </c:title>
    <c:autoTitleDeleted val="0"/>
    <c:plotArea>
      <c:layout/>
      <c:barChart>
        <c:barDir val="bar"/>
        <c:grouping val="clustered"/>
        <c:varyColors val="0"/>
        <c:ser>
          <c:idx val="0"/>
          <c:order val="0"/>
          <c:tx>
            <c:strRef>
              <c:f>Sheet1!$B$1</c:f>
              <c:strCache>
                <c:ptCount val="1"/>
                <c:pt idx="0">
                  <c:v>Pruebas</c:v>
                </c:pt>
              </c:strCache>
            </c:strRef>
          </c:tx>
          <c:spPr>
            <a:solidFill>
              <a:srgbClr val="E0283F"/>
            </a:solidFill>
            <a:effectLst/>
          </c:spPr>
          <c:invertIfNegative val="0"/>
          <c:dLbls>
            <c:numFmt formatCode="#,##0" sourceLinked="0"/>
            <c:spPr>
              <a:noFill/>
              <a:ln>
                <a:noFill/>
              </a:ln>
              <a:effectLst/>
            </c:spPr>
            <c:txPr>
              <a:bodyPr/>
              <a:lstStyle/>
              <a:p>
                <a:pPr>
                  <a:defRPr sz="1400" b="1" i="0" u="none" strike="noStrike">
                    <a:solidFill>
                      <a:srgbClr val="F4F4F5"/>
                    </a:solidFill>
                    <a:latin typeface="+mn-lt"/>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App de bodega</c:v>
                </c:pt>
                <c:pt idx="1">
                  <c:v>API</c:v>
                </c:pt>
                <c:pt idx="2">
                  <c:v>POS</c:v>
                </c:pt>
                <c:pt idx="3">
                  <c:v>Tienda web</c:v>
                </c:pt>
              </c:strCache>
            </c:strRef>
          </c:cat>
          <c:val>
            <c:numRef>
              <c:f>Sheet1!$B$2:$B$5</c:f>
              <c:numCache>
                <c:formatCode>General</c:formatCode>
                <c:ptCount val="4"/>
                <c:pt idx="0">
                  <c:v>251</c:v>
                </c:pt>
                <c:pt idx="1">
                  <c:v>191</c:v>
                </c:pt>
                <c:pt idx="2">
                  <c:v>87</c:v>
                </c:pt>
                <c:pt idx="3">
                  <c:v>52</c:v>
                </c:pt>
              </c:numCache>
            </c:numRef>
          </c:val>
          <c:extLst>
            <c:ext xmlns:c16="http://schemas.microsoft.com/office/drawing/2014/chart" uri="{C3380CC4-5D6E-409C-BE32-E72D297353CC}">
              <c16:uniqueId val="{00000000-EEFA-481C-9C6A-70D3310751E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4F4F5"/>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46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avance de RockStore. En la Fase 1 propusimos pasar del papel a un inventario en vivo; hoy mostramos que el sistema funciona de punta a punta: bodega, punto de venta y tienda web sobre la misma base de datos.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números: tres aplicaciones sobre una API, 13 de las 20 historias del plan completas y 2 muy avanzadas, 567 pruebas automáticas y tres funciones que no estaban en el plan. Lo más importante es el inventario único: el problema central de la Fase 1 era vender prendas que ya no existían, y eso hoy está resuelto.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Fase 1 dibujamos una arquitectura SOA con gateway y microservicios. Al construir decidimos una API única en NestJS, dividida en módulos por área, incluida la analítica. Conserva la separación, pero se despliega y se prueba mucho más fácil. Los pagos y los despachos están detrás de adaptadores: cuando lleguen las credenciales de Transbank y Starken se cambia solo esa pieza.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app de bodega es la pieza más completa: 13 pantallas. Reemplaza las carpetas de papel: todo ingreso, merma, traspaso o conteo queda registrado con su responsable. Se instala como APK en el teléfono y trabaja contra la API por la red de la tienda.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POS es una aplicación aparte, en React, sobre la misma API. La venta en tienda no lleva flete ni Webpay: la tarjeta se pasa por la máquina de cobro y el POS guarda la autorización y los últimos cuatro dígitos. Para la demo hay una máquina simulada que se aprueba desde un celular. Si en la sala no hay stock pero sí en bodega, ofrece retirarla de ahí.</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tienda web consulta el mismo inventario, así que el cliente nunca compra algo que no existe. Pago y despacho están simulados: el flujo completo funciona, pero no se cobra dinero real. Roxy saluda, recuerda lo que preguntó el cliente, busca precios, tallas y stock reales y, si el cliente inició sesión, le muestra sus pedidos.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probador no estaba en el plan de la Fase 1 y es nuestro diferenciador. Ataca la principal causa de devolución en ropa online: la talla. Los cuerpos se generaron en Blender a partir de MakeHuman, con licencia libre, y se deforman en el navegador según las medidas. Falta la prueba con 10 usuarios: la meta es acertar la talla en 8 de 10.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dashboard comprometido en la Fase 1, historias 17 y 18. El balance diario muestra lo que entró por cada canal y lo que costó: las prendas vendidas a su costo de compra, el despacho, las comisiones y las mermas. Debajo, la tienda web y la física aparecen por separado, con su ticket promedio y sus ventas. Las cifras son del entorno de demostración. Faltan los reportes PDF/Excel y las alertas de stock crítico.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función no estaba en el alcance de la Fase 1, donde la analítica quedó como trabajo futuro. La incorporamos porque ya teníamos las ventas de ambos canales en una sola base. El modelo no fija el método a mano: lo elige probando contra semanas pasadas que no usó para entrenar. Con pocas semanas de historia, el panel avisa que la confianza es baja.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20 historias del plan, 13 están completas y verificadas en el código. El dashboard y los KPI están muy avanzados. Webpay y Starken funcionan con adaptadores simulados mientras llegan las credenciales. Pendientes: reportes, alertas e integración continua. Además sumamos 7 historias nuevas.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567 pruebas automáticas. Las de la API levantan una base de datos real en memoria y prueban los contratos completos, incluida una prueba de concurrencia del stock. En seguridad, las contraseñas usan Argon2id, las sesiones JWT firmadas con RS256 y todas las rutas exigen sesión salvo que se marquen como públicas. Los datos de tarjeta nunca se guardan: solo los últimos cuatro dígitos y la autorización.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misma lista de "Sí contempla" que presentamos en la Fase 1. Cinco de ocho están cumplidos. Webpay y Starken están simulados por falta de credenciales, no de código. El dashboard ya muestra ventas, balance y KPI; faltan los reportes y las alertas.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decisiones de la Fase 1 cambiaron al construir: la arquitectura, la tecnología de la tienda web, la autenticación y la forma de conectar pagos y despachos. Ninguna actividad se eliminó. Además se sumaron el probador 3D, Roxy y la analítica predictiva por su aporte a los objetivos de experiencia y rentabilidad.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Cuentas: bodega@rockstar.cl / bodega123, gerente@rockstar.cl / gerente123, cliente@rockstar.cl / cliente123, vendedor@rockstar.cl / vendedor123. En el POS, usar los botones Ingresar y Continuar en vez de la tecla Enter (hay una falla conocida). Si algo falla, seguir con las capturas de la carpeta de evidencias.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Fase 3: activar pagos y despachos reales, completar reportes, alertas e integración continua, validar el probador con usuarios antes del piloto y mejorarlo con las medidas reales de cada prenda. Gracias.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920240"/>
            <a:ext cx="6035040" cy="36576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548640" y="2331720"/>
            <a:ext cx="6035040" cy="173736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4" name="Text 0"/>
          <p:cNvSpPr>
            <a:spLocks noGrp="1"/>
          </p:cNvSpPr>
          <p:nvPr>
            <p:ph type="body" idx="102" hasCustomPrompt="1"/>
          </p:nvPr>
        </p:nvSpPr>
        <p:spPr>
          <a:xfrm>
            <a:off x="548640" y="4160520"/>
            <a:ext cx="5669280" cy="91440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920240"/>
            <a:ext cx="6035040" cy="365760"/>
          </a:xfrm>
          <a:prstGeom prst="rect">
            <a:avLst/>
          </a:prstGeom>
          <a:noFill/>
          <a:ln/>
        </p:spPr>
        <p:txBody>
          <a:bodyPr wrap="square" lIns="0" tIns="0" rIns="0" bIns="0" rtlCol="0"/>
          <a:lstStyle/>
          <a:p>
            <a:pPr marL="0" indent="0">
              <a:buNone/>
            </a:pPr>
            <a:r>
              <a:rPr lang="en-US" sz="1300" b="1" kern="0" spc="200" dirty="0">
                <a:solidFill>
                  <a:schemeClr val="accent1"/>
                </a:solidFill>
              </a:rPr>
              <a:t>ENTREGA FASE 2 · AVANCE DEL PROYECTO</a:t>
            </a:r>
            <a:endParaRPr lang="en-US" sz="1300" dirty="0"/>
          </a:p>
        </p:txBody>
      </p:sp>
      <p:sp>
        <p:nvSpPr>
          <p:cNvPr id="3" name="Text 0"/>
          <p:cNvSpPr>
            <a:spLocks noGrp="1"/>
          </p:cNvSpPr>
          <p:nvPr>
            <p:ph type="title" idx="101" hasCustomPrompt="1"/>
          </p:nvPr>
        </p:nvSpPr>
        <p:spPr>
          <a:xfrm>
            <a:off x="548640" y="2331720"/>
            <a:ext cx="6035040" cy="1737360"/>
          </a:xfrm>
          <a:prstGeom prst="rect">
            <a:avLst/>
          </a:prstGeom>
          <a:noFill/>
          <a:ln/>
        </p:spPr>
        <p:txBody>
          <a:bodyPr wrap="square" lIns="0" tIns="0" rIns="0" bIns="0" rtlCol="0" anchor="t"/>
          <a:lstStyle/>
          <a:p>
            <a:pPr marL="0" indent="0" algn="l">
              <a:buNone/>
            </a:pPr>
            <a:r>
              <a:rPr lang="en-US" sz="4600" b="1" dirty="0">
                <a:solidFill>
                  <a:schemeClr val="bg1"/>
                </a:solidFill>
              </a:rPr>
              <a:t>El stock en vivo ya funciona</a:t>
            </a:r>
            <a:endParaRPr lang="en-US" sz="4600" dirty="0"/>
          </a:p>
        </p:txBody>
      </p:sp>
      <p:sp>
        <p:nvSpPr>
          <p:cNvPr id="4" name="Text 0"/>
          <p:cNvSpPr>
            <a:spLocks noGrp="1"/>
          </p:cNvSpPr>
          <p:nvPr>
            <p:ph type="body" idx="102" hasCustomPrompt="1"/>
          </p:nvPr>
        </p:nvSpPr>
        <p:spPr>
          <a:xfrm>
            <a:off x="548640" y="4160520"/>
            <a:ext cx="5669280" cy="914400"/>
          </a:xfrm>
          <a:prstGeom prst="rect">
            <a:avLst/>
          </a:prstGeom>
          <a:noFill/>
          <a:ln/>
        </p:spPr>
        <p:txBody>
          <a:bodyPr wrap="square" lIns="0" tIns="0" rIns="0" bIns="0" rtlCol="0" anchor="t"/>
          <a:lstStyle/>
          <a:p>
            <a:pPr marL="0" indent="0">
              <a:buNone/>
            </a:pPr>
            <a:r>
              <a:rPr lang="en-US" sz="1800" dirty="0">
                <a:solidFill>
                  <a:schemeClr val="bg2"/>
                </a:solidFill>
              </a:rPr>
              <a:t>RockStore: bodega, punto de venta y tienda web sobre un solo inventario, con probador virtual 3D y analítica para decidir compras.</a:t>
            </a:r>
            <a:endParaRPr lang="en-US" sz="1800" dirty="0"/>
          </a:p>
        </p:txBody>
      </p:sp>
      <p:sp>
        <p:nvSpPr>
          <p:cNvPr id="5" name="Text 3"/>
          <p:cNvSpPr txBox="1"/>
          <p:nvPr/>
        </p:nvSpPr>
        <p:spPr>
          <a:xfrm>
            <a:off x="548640" y="5715000"/>
            <a:ext cx="5852160" cy="320040"/>
          </a:xfrm>
          <a:prstGeom prst="rect">
            <a:avLst/>
          </a:prstGeom>
          <a:noFill/>
          <a:ln/>
        </p:spPr>
        <p:txBody>
          <a:bodyPr wrap="square" lIns="0" tIns="0" rIns="0" bIns="0" rtlCol="0" anchor="ctr"/>
          <a:lstStyle/>
          <a:p>
            <a:pPr marL="0" indent="0">
              <a:buNone/>
            </a:pPr>
            <a:r>
              <a:rPr lang="en-US" sz="1400" dirty="0">
                <a:solidFill>
                  <a:schemeClr val="bg2"/>
                </a:solidFill>
              </a:rPr>
              <a:t>Exequiel Tapia · Elías Figueroa · Jorge Piña</a:t>
            </a:r>
            <a:endParaRPr lang="en-US" sz="1400" dirty="0"/>
          </a:p>
        </p:txBody>
      </p:sp>
      <p:sp>
        <p:nvSpPr>
          <p:cNvPr id="6" name="círculo decorativo"/>
          <p:cNvSpPr/>
          <p:nvPr/>
        </p:nvSpPr>
        <p:spPr>
          <a:xfrm>
            <a:off x="8778240" y="-1463040"/>
            <a:ext cx="4754880" cy="4754880"/>
          </a:xfrm>
          <a:prstGeom prst="ellipse">
            <a:avLst/>
          </a:prstGeom>
          <a:solidFill>
            <a:schemeClr val="accent1">
              <a:alpha val="20000"/>
            </a:schemeClr>
          </a:solidFill>
          <a:ln w="12700">
            <a:solidFill>
              <a:schemeClr val="accent1">
                <a:alpha val="0"/>
              </a:schemeClr>
            </a:solidFill>
            <a:prstDash val="solid"/>
          </a:ln>
        </p:spPr>
        <p:txBody>
          <a:bodyPr/>
          <a:lstStyle/>
          <a:p>
            <a:endParaRPr lang="es-CL"/>
          </a:p>
        </p:txBody>
      </p:sp>
      <p:sp>
        <p:nvSpPr>
          <p:cNvPr id="7" name="marco Probador virtual 3D en la tienda web"/>
          <p:cNvSpPr/>
          <p:nvPr/>
        </p:nvSpPr>
        <p:spPr>
          <a:xfrm>
            <a:off x="6867144" y="1837944"/>
            <a:ext cx="4782312" cy="3017520"/>
          </a:xfrm>
          <a:prstGeom prst="roundRect">
            <a:avLst>
              <a:gd name="adj" fmla="val 1818"/>
            </a:avLst>
          </a:prstGeom>
          <a:solidFill>
            <a:schemeClr val="accent6"/>
          </a:solidFill>
          <a:ln w="6350">
            <a:solidFill>
              <a:schemeClr val="accent6"/>
            </a:solidFill>
            <a:prstDash val="solid"/>
          </a:ln>
        </p:spPr>
        <p:txBody>
          <a:bodyPr/>
          <a:lstStyle/>
          <a:p>
            <a:endParaRPr lang="es-CL"/>
          </a:p>
        </p:txBody>
      </p:sp>
      <p:pic>
        <p:nvPicPr>
          <p:cNvPr id="8" name="Probador virtual 3D en la tienda web" descr="Probador virtual 3D en la tienda web"/>
          <p:cNvPicPr>
            <a:picLocks noChangeAspect="1"/>
          </p:cNvPicPr>
          <p:nvPr/>
        </p:nvPicPr>
        <p:blipFill>
          <a:blip r:embed="rId3"/>
          <a:stretch>
            <a:fillRect/>
          </a:stretch>
        </p:blipFill>
        <p:spPr>
          <a:xfrm>
            <a:off x="6934200" y="1874520"/>
            <a:ext cx="4709160" cy="2944368"/>
          </a:xfrm>
          <a:prstGeom prst="rect">
            <a:avLst/>
          </a:prstGeom>
        </p:spPr>
      </p:pic>
      <p:sp>
        <p:nvSpPr>
          <p:cNvPr id="9" name="Text 6"/>
          <p:cNvSpPr txBox="1"/>
          <p:nvPr/>
        </p:nvSpPr>
        <p:spPr>
          <a:xfrm>
            <a:off x="6903720" y="4919472"/>
            <a:ext cx="4709160" cy="274320"/>
          </a:xfrm>
          <a:prstGeom prst="rect">
            <a:avLst/>
          </a:prstGeom>
          <a:noFill/>
          <a:ln/>
        </p:spPr>
        <p:txBody>
          <a:bodyPr wrap="square" lIns="0" tIns="0" rIns="0" bIns="0" rtlCol="0" anchor="ctr"/>
          <a:lstStyle/>
          <a:p>
            <a:pPr marL="0" indent="0">
              <a:buNone/>
            </a:pPr>
            <a:r>
              <a:rPr lang="en-US" sz="1100" dirty="0">
                <a:solidFill>
                  <a:schemeClr val="bg2"/>
                </a:solidFill>
              </a:rPr>
              <a:t>Probador virtual 3D de la tienda web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Resumen y abstract">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RESUMEN · ABSTRACT</a:t>
            </a:r>
            <a:endParaRPr lang="en-US" sz="1200" dirty="0"/>
          </a:p>
        </p:txBody>
      </p:sp>
      <p:sp>
        <p:nvSpPr>
          <p:cNvPr id="4" name="Text 0"/>
          <p:cNvSpPr>
            <a:spLocks noGrp="1"/>
          </p:cNvSpPr>
          <p:nvPr>
            <p:ph type="body" idx="102" hasCustomPrompt="1"/>
          </p:nvPr>
        </p:nvSpPr>
        <p:spPr>
          <a:xfrm>
            <a:off x="548640" y="1325880"/>
            <a:ext cx="5923181" cy="365760"/>
          </a:xfrm>
          <a:prstGeom prst="rect">
            <a:avLst/>
          </a:prstGeom>
          <a:noFill/>
          <a:ln/>
        </p:spPr>
        <p:txBody>
          <a:bodyPr wrap="square" lIns="0" tIns="0" rIns="0" bIns="0" rtlCol="0"/>
          <a:lstStyle/>
          <a:p>
            <a:pPr marL="0" indent="0">
              <a:buNone/>
            </a:pPr>
            <a:r>
              <a:rPr lang="en-US" sz="1600" dirty="0">
                <a:solidFill>
                  <a:schemeClr val="bg2"/>
                </a:solidFill>
              </a:rPr>
              <a:t>.</a:t>
            </a:r>
            <a:endParaRPr lang="en-US" sz="1600" dirty="0"/>
          </a:p>
        </p:txBody>
      </p:sp>
      <p:sp>
        <p:nvSpPr>
          <p:cNvPr id="43" name="tarjeta Abstract"/>
          <p:cNvSpPr/>
          <p:nvPr/>
        </p:nvSpPr>
        <p:spPr>
          <a:xfrm>
            <a:off x="3383280" y="1325880"/>
            <a:ext cx="5394960" cy="4526280"/>
          </a:xfrm>
          <a:prstGeom prst="roundRect">
            <a:avLst>
              <a:gd name="adj" fmla="val 3137"/>
            </a:avLst>
          </a:prstGeom>
          <a:solidFill>
            <a:schemeClr val="tx2"/>
          </a:solidFill>
          <a:ln w="9525">
            <a:solidFill>
              <a:schemeClr val="accent6"/>
            </a:solidFill>
            <a:prstDash val="solid"/>
          </a:ln>
        </p:spPr>
        <p:txBody>
          <a:bodyPr/>
          <a:lstStyle/>
          <a:p>
            <a:endParaRPr lang="es-CL" dirty="0"/>
          </a:p>
        </p:txBody>
      </p:sp>
      <p:sp>
        <p:nvSpPr>
          <p:cNvPr id="44" name="encabezado Abstract"/>
          <p:cNvSpPr txBox="1"/>
          <p:nvPr/>
        </p:nvSpPr>
        <p:spPr>
          <a:xfrm>
            <a:off x="3657600" y="1536192"/>
            <a:ext cx="4846320" cy="365760"/>
          </a:xfrm>
          <a:prstGeom prst="rect">
            <a:avLst/>
          </a:prstGeom>
          <a:noFill/>
          <a:ln/>
        </p:spPr>
        <p:txBody>
          <a:bodyPr wrap="square" lIns="0" tIns="0" rIns="0" bIns="0" rtlCol="0" anchor="ctr"/>
          <a:lstStyle/>
          <a:p>
            <a:pPr marL="0" indent="0">
              <a:spcAft>
                <a:spcPts val="0"/>
              </a:spcAft>
              <a:buNone/>
            </a:pPr>
            <a:r>
              <a:rPr lang="en-US" sz="2000" b="1" dirty="0">
                <a:solidFill>
                  <a:schemeClr val="bg1"/>
                </a:solidFill>
              </a:rPr>
              <a:t>Abstract  </a:t>
            </a:r>
            <a:r>
              <a:rPr lang="en-US" sz="1100" b="1" dirty="0">
                <a:solidFill>
                  <a:srgbClr val="E0283F"/>
                </a:solidFill>
              </a:rPr>
              <a:t>ENGLISH</a:t>
            </a:r>
          </a:p>
        </p:txBody>
      </p:sp>
      <p:sp>
        <p:nvSpPr>
          <p:cNvPr id="45" name="texto Abstract"/>
          <p:cNvSpPr txBox="1"/>
          <p:nvPr/>
        </p:nvSpPr>
        <p:spPr>
          <a:xfrm>
            <a:off x="3657600" y="2071116"/>
            <a:ext cx="4846320" cy="3611880"/>
          </a:xfrm>
          <a:prstGeom prst="rect">
            <a:avLst/>
          </a:prstGeom>
          <a:noFill/>
          <a:ln/>
        </p:spPr>
        <p:txBody>
          <a:bodyPr wrap="square" lIns="0" tIns="0" rIns="0" bIns="0" rtlCol="0" anchor="t"/>
          <a:lstStyle/>
          <a:p>
            <a:pPr marL="0" indent="0">
              <a:spcAft>
                <a:spcPts val="600"/>
              </a:spcAft>
              <a:buNone/>
            </a:pPr>
            <a:r>
              <a:rPr lang="en-US" sz="1200" dirty="0">
                <a:solidFill>
                  <a:schemeClr val="bg2"/>
                </a:solidFill>
              </a:rPr>
              <a:t>RockStore is an omnichannel inventory and sales platform for a rock-style clothing store. It addresses stock that falls out of sync between the warehouse, the physical store and the online store, and purchasing decisions made without reliable data. In Phase 2 the team moved from design to a working solution: a NestJS REST API with 44 endpoints, a warehouse mobile app with QR codes, a web store with a manager dashboard and a point-of-sale application, all sharing a single PostgreSQL database and deployed with Docker Compose.</a:t>
            </a:r>
          </a:p>
          <a:p>
            <a:pPr marL="0" indent="0">
              <a:spcAft>
                <a:spcPts val="600"/>
              </a:spcAft>
              <a:buNone/>
            </a:pPr>
            <a:r>
              <a:rPr lang="en-US" sz="1200" dirty="0">
                <a:solidFill>
                  <a:schemeClr val="bg2"/>
                </a:solidFill>
              </a:rPr>
              <a:t>The work followed Scrum, spec-driven development (OpenSpec), feature branches merged into the main branch once their tests pass, and 581 automated tests. Thirteen of the 20 user stories have been implemented, and the team added a 3D virtual fitting room, the Roxy support assistant, a daily balance for each sales channel and a predictive investment model. Real Webpay and Starken integrations, reports, alerts and user testing remain for Phase 3.</a:t>
            </a:r>
          </a:p>
          <a:p>
            <a:pPr marL="0" indent="0">
              <a:spcAft>
                <a:spcPts val="0"/>
              </a:spcAft>
              <a:buNone/>
            </a:pPr>
            <a:r>
              <a:rPr lang="en-US" sz="1200" b="1" dirty="0">
                <a:solidFill>
                  <a:schemeClr val="bg1"/>
                </a:solidFill>
              </a:rPr>
              <a:t>Keywords: </a:t>
            </a:r>
            <a:r>
              <a:rPr lang="en-US" sz="1200" dirty="0">
                <a:solidFill>
                  <a:schemeClr val="bg2"/>
                </a:solidFill>
              </a:rPr>
              <a:t>omnichannel inventory, stock synchronization, point of sale, 3D virtual fitting room, predictive analytics.</a:t>
            </a:r>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RESUMEN</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Lo que prometimos, funcionando</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El sistema está construido y corre completo en Docker, con un solo comando.</a:t>
            </a:r>
            <a:endParaRPr lang="en-US" sz="1600" dirty="0"/>
          </a:p>
        </p:txBody>
      </p:sp>
      <p:sp>
        <p:nvSpPr>
          <p:cNvPr id="5" name="tarjeta aplicaciones conectadas"/>
          <p:cNvSpPr/>
          <p:nvPr/>
        </p:nvSpPr>
        <p:spPr>
          <a:xfrm>
            <a:off x="548640" y="2011680"/>
            <a:ext cx="2606040" cy="2331720"/>
          </a:xfrm>
          <a:prstGeom prst="roundRect">
            <a:avLst>
              <a:gd name="adj" fmla="val 3137"/>
            </a:avLst>
          </a:prstGeom>
          <a:solidFill>
            <a:schemeClr val="tx2"/>
          </a:solidFill>
          <a:ln w="9525">
            <a:solidFill>
              <a:schemeClr val="accent6"/>
            </a:solidFill>
            <a:prstDash val="solid"/>
          </a:ln>
        </p:spPr>
        <p:txBody>
          <a:bodyPr/>
          <a:lstStyle/>
          <a:p>
            <a:endParaRPr lang="es-CL"/>
          </a:p>
        </p:txBody>
      </p:sp>
      <p:sp>
        <p:nvSpPr>
          <p:cNvPr id="6" name="Text 4"/>
          <p:cNvSpPr txBox="1"/>
          <p:nvPr/>
        </p:nvSpPr>
        <p:spPr>
          <a:xfrm>
            <a:off x="822960" y="2240280"/>
            <a:ext cx="2057400" cy="685800"/>
          </a:xfrm>
          <a:prstGeom prst="rect">
            <a:avLst/>
          </a:prstGeom>
          <a:noFill/>
          <a:ln/>
        </p:spPr>
        <p:txBody>
          <a:bodyPr wrap="square" lIns="0" tIns="0" rIns="0" bIns="0" rtlCol="0" anchor="ctr"/>
          <a:lstStyle/>
          <a:p>
            <a:pPr marL="0" indent="0">
              <a:buNone/>
            </a:pPr>
            <a:r>
              <a:rPr lang="en-US" sz="3600" b="1" dirty="0">
                <a:solidFill>
                  <a:schemeClr val="accent1"/>
                </a:solidFill>
                <a:latin typeface="Bookman Old Style" pitchFamily="34" charset="0"/>
                <a:ea typeface="Bookman Old Style" pitchFamily="34" charset="-122"/>
                <a:cs typeface="Bookman Old Style" pitchFamily="34" charset="-120"/>
              </a:rPr>
              <a:t>3 + 1</a:t>
            </a:r>
            <a:endParaRPr lang="en-US" sz="3600" dirty="0"/>
          </a:p>
        </p:txBody>
      </p:sp>
      <p:sp>
        <p:nvSpPr>
          <p:cNvPr id="7" name="Text 5"/>
          <p:cNvSpPr txBox="1"/>
          <p:nvPr/>
        </p:nvSpPr>
        <p:spPr>
          <a:xfrm>
            <a:off x="822960" y="2971800"/>
            <a:ext cx="2057400" cy="320040"/>
          </a:xfrm>
          <a:prstGeom prst="rect">
            <a:avLst/>
          </a:prstGeom>
          <a:noFill/>
          <a:ln/>
        </p:spPr>
        <p:txBody>
          <a:bodyPr wrap="square" lIns="0" tIns="0" rIns="0" bIns="0" rtlCol="0" anchor="ctr"/>
          <a:lstStyle/>
          <a:p>
            <a:pPr marL="0" indent="0">
              <a:buNone/>
            </a:pPr>
            <a:r>
              <a:rPr lang="en-US" sz="1600" b="1" dirty="0">
                <a:solidFill>
                  <a:schemeClr val="bg1"/>
                </a:solidFill>
              </a:rPr>
              <a:t>aplicaciones conectadas</a:t>
            </a:r>
            <a:endParaRPr lang="en-US" sz="1600" dirty="0"/>
          </a:p>
        </p:txBody>
      </p:sp>
      <p:sp>
        <p:nvSpPr>
          <p:cNvPr id="8" name="Text 6"/>
          <p:cNvSpPr txBox="1"/>
          <p:nvPr/>
        </p:nvSpPr>
        <p:spPr>
          <a:xfrm>
            <a:off x="822960" y="3291840"/>
            <a:ext cx="2057400" cy="548640"/>
          </a:xfrm>
          <a:prstGeom prst="rect">
            <a:avLst/>
          </a:prstGeom>
          <a:noFill/>
          <a:ln/>
        </p:spPr>
        <p:txBody>
          <a:bodyPr wrap="square" lIns="0" tIns="0" rIns="0" bIns="0" rtlCol="0" anchor="t"/>
          <a:lstStyle/>
          <a:p>
            <a:pPr marL="0" indent="0">
              <a:buNone/>
            </a:pPr>
            <a:r>
              <a:rPr lang="en-US" sz="1300" dirty="0">
                <a:solidFill>
                  <a:schemeClr val="bg2"/>
                </a:solidFill>
              </a:rPr>
              <a:t>App de bodega, POS y tienda web, sobre una sola API</a:t>
            </a:r>
            <a:endParaRPr lang="en-US" sz="1300" dirty="0"/>
          </a:p>
        </p:txBody>
      </p:sp>
      <p:sp>
        <p:nvSpPr>
          <p:cNvPr id="9" name="tarjeta historias completas"/>
          <p:cNvSpPr/>
          <p:nvPr/>
        </p:nvSpPr>
        <p:spPr>
          <a:xfrm>
            <a:off x="3367735" y="2011680"/>
            <a:ext cx="2606040" cy="2331720"/>
          </a:xfrm>
          <a:prstGeom prst="roundRect">
            <a:avLst>
              <a:gd name="adj" fmla="val 3137"/>
            </a:avLst>
          </a:prstGeom>
          <a:solidFill>
            <a:schemeClr val="tx2"/>
          </a:solidFill>
          <a:ln w="9525">
            <a:solidFill>
              <a:schemeClr val="accent6"/>
            </a:solidFill>
            <a:prstDash val="solid"/>
          </a:ln>
        </p:spPr>
        <p:txBody>
          <a:bodyPr/>
          <a:lstStyle/>
          <a:p>
            <a:endParaRPr lang="es-CL"/>
          </a:p>
        </p:txBody>
      </p:sp>
      <p:sp>
        <p:nvSpPr>
          <p:cNvPr id="10" name="Text 8"/>
          <p:cNvSpPr txBox="1"/>
          <p:nvPr/>
        </p:nvSpPr>
        <p:spPr>
          <a:xfrm>
            <a:off x="3642055" y="2240280"/>
            <a:ext cx="2057400" cy="685800"/>
          </a:xfrm>
          <a:prstGeom prst="rect">
            <a:avLst/>
          </a:prstGeom>
          <a:noFill/>
          <a:ln/>
        </p:spPr>
        <p:txBody>
          <a:bodyPr wrap="square" lIns="0" tIns="0" rIns="0" bIns="0" rtlCol="0" anchor="ctr"/>
          <a:lstStyle/>
          <a:p>
            <a:pPr marL="0" indent="0">
              <a:buNone/>
            </a:pPr>
            <a:r>
              <a:rPr lang="en-US" sz="3600" b="1" dirty="0">
                <a:solidFill>
                  <a:schemeClr val="accent1"/>
                </a:solidFill>
                <a:latin typeface="Bookman Old Style" pitchFamily="34" charset="0"/>
                <a:ea typeface="Bookman Old Style" pitchFamily="34" charset="-122"/>
                <a:cs typeface="Bookman Old Style" pitchFamily="34" charset="-120"/>
              </a:rPr>
              <a:t>13/20</a:t>
            </a:r>
            <a:endParaRPr lang="en-US" sz="3600" dirty="0"/>
          </a:p>
        </p:txBody>
      </p:sp>
      <p:sp>
        <p:nvSpPr>
          <p:cNvPr id="11" name="Text 9"/>
          <p:cNvSpPr txBox="1"/>
          <p:nvPr/>
        </p:nvSpPr>
        <p:spPr>
          <a:xfrm>
            <a:off x="3642055" y="2971800"/>
            <a:ext cx="2057400" cy="320040"/>
          </a:xfrm>
          <a:prstGeom prst="rect">
            <a:avLst/>
          </a:prstGeom>
          <a:noFill/>
          <a:ln/>
        </p:spPr>
        <p:txBody>
          <a:bodyPr wrap="square" lIns="0" tIns="0" rIns="0" bIns="0" rtlCol="0" anchor="ctr"/>
          <a:lstStyle/>
          <a:p>
            <a:pPr marL="0" indent="0">
              <a:buNone/>
            </a:pPr>
            <a:r>
              <a:rPr lang="en-US" sz="1600" b="1" dirty="0">
                <a:solidFill>
                  <a:schemeClr val="bg1"/>
                </a:solidFill>
              </a:rPr>
              <a:t>historias completas</a:t>
            </a:r>
            <a:endParaRPr lang="en-US" sz="1600" dirty="0"/>
          </a:p>
        </p:txBody>
      </p:sp>
      <p:sp>
        <p:nvSpPr>
          <p:cNvPr id="12" name="Text 10"/>
          <p:cNvSpPr txBox="1"/>
          <p:nvPr/>
        </p:nvSpPr>
        <p:spPr>
          <a:xfrm>
            <a:off x="3642055" y="3291840"/>
            <a:ext cx="2057400" cy="548640"/>
          </a:xfrm>
          <a:prstGeom prst="rect">
            <a:avLst/>
          </a:prstGeom>
          <a:noFill/>
          <a:ln/>
        </p:spPr>
        <p:txBody>
          <a:bodyPr wrap="square" lIns="0" tIns="0" rIns="0" bIns="0" rtlCol="0" anchor="t"/>
          <a:lstStyle/>
          <a:p>
            <a:pPr marL="0" indent="0">
              <a:buNone/>
            </a:pPr>
            <a:r>
              <a:rPr lang="en-US" sz="1300" dirty="0">
                <a:solidFill>
                  <a:schemeClr val="bg2"/>
                </a:solidFill>
              </a:rPr>
              <a:t>Y 2 más muy avanzadas: dashboard y KPI</a:t>
            </a:r>
            <a:endParaRPr lang="en-US" sz="1300" dirty="0"/>
          </a:p>
        </p:txBody>
      </p:sp>
      <p:sp>
        <p:nvSpPr>
          <p:cNvPr id="13" name="tarjeta pruebas automáticas"/>
          <p:cNvSpPr/>
          <p:nvPr/>
        </p:nvSpPr>
        <p:spPr>
          <a:xfrm>
            <a:off x="6186830" y="2011680"/>
            <a:ext cx="2606040" cy="2331720"/>
          </a:xfrm>
          <a:prstGeom prst="roundRect">
            <a:avLst>
              <a:gd name="adj" fmla="val 3137"/>
            </a:avLst>
          </a:prstGeom>
          <a:solidFill>
            <a:schemeClr val="tx2"/>
          </a:solidFill>
          <a:ln w="9525">
            <a:solidFill>
              <a:schemeClr val="accent6"/>
            </a:solidFill>
            <a:prstDash val="solid"/>
          </a:ln>
        </p:spPr>
        <p:txBody>
          <a:bodyPr/>
          <a:lstStyle/>
          <a:p>
            <a:endParaRPr lang="es-CL"/>
          </a:p>
        </p:txBody>
      </p:sp>
      <p:sp>
        <p:nvSpPr>
          <p:cNvPr id="14" name="Text 12"/>
          <p:cNvSpPr txBox="1"/>
          <p:nvPr/>
        </p:nvSpPr>
        <p:spPr>
          <a:xfrm>
            <a:off x="6461150" y="2240280"/>
            <a:ext cx="2057400" cy="685800"/>
          </a:xfrm>
          <a:prstGeom prst="rect">
            <a:avLst/>
          </a:prstGeom>
          <a:noFill/>
          <a:ln/>
        </p:spPr>
        <p:txBody>
          <a:bodyPr wrap="square" lIns="0" tIns="0" rIns="0" bIns="0" rtlCol="0" anchor="ctr"/>
          <a:lstStyle/>
          <a:p>
            <a:pPr marL="0" indent="0">
              <a:buNone/>
            </a:pPr>
            <a:r>
              <a:rPr lang="en-US" sz="3600" b="1" dirty="0">
                <a:solidFill>
                  <a:schemeClr val="accent1"/>
                </a:solidFill>
                <a:latin typeface="Bookman Old Style" pitchFamily="34" charset="0"/>
                <a:ea typeface="Bookman Old Style" pitchFamily="34" charset="-122"/>
                <a:cs typeface="Bookman Old Style" pitchFamily="34" charset="-120"/>
              </a:rPr>
              <a:t>581</a:t>
            </a:r>
            <a:endParaRPr lang="en-US" sz="3600" dirty="0"/>
          </a:p>
        </p:txBody>
      </p:sp>
      <p:sp>
        <p:nvSpPr>
          <p:cNvPr id="15" name="Text 13"/>
          <p:cNvSpPr txBox="1"/>
          <p:nvPr/>
        </p:nvSpPr>
        <p:spPr>
          <a:xfrm>
            <a:off x="6461150" y="2971800"/>
            <a:ext cx="2057400" cy="320040"/>
          </a:xfrm>
          <a:prstGeom prst="rect">
            <a:avLst/>
          </a:prstGeom>
          <a:noFill/>
          <a:ln/>
        </p:spPr>
        <p:txBody>
          <a:bodyPr wrap="square" lIns="0" tIns="0" rIns="0" bIns="0" rtlCol="0" anchor="ctr"/>
          <a:lstStyle/>
          <a:p>
            <a:pPr marL="0" indent="0">
              <a:buNone/>
            </a:pPr>
            <a:r>
              <a:rPr lang="en-US" sz="1600" b="1" dirty="0">
                <a:solidFill>
                  <a:schemeClr val="bg1"/>
                </a:solidFill>
              </a:rPr>
              <a:t>pruebas automáticas</a:t>
            </a:r>
            <a:endParaRPr lang="en-US" sz="1600" dirty="0"/>
          </a:p>
        </p:txBody>
      </p:sp>
      <p:sp>
        <p:nvSpPr>
          <p:cNvPr id="16" name="Text 14"/>
          <p:cNvSpPr txBox="1"/>
          <p:nvPr/>
        </p:nvSpPr>
        <p:spPr>
          <a:xfrm>
            <a:off x="6461150" y="3291840"/>
            <a:ext cx="2057400" cy="548640"/>
          </a:xfrm>
          <a:prstGeom prst="rect">
            <a:avLst/>
          </a:prstGeom>
          <a:noFill/>
          <a:ln/>
        </p:spPr>
        <p:txBody>
          <a:bodyPr wrap="square" lIns="0" tIns="0" rIns="0" bIns="0" rtlCol="0" anchor="t"/>
          <a:lstStyle/>
          <a:p>
            <a:pPr marL="0" indent="0">
              <a:buNone/>
            </a:pPr>
            <a:r>
              <a:rPr lang="en-US" sz="1300" dirty="0">
                <a:solidFill>
                  <a:schemeClr val="bg2"/>
                </a:solidFill>
              </a:rPr>
              <a:t>API, app de bodega, POS y tienda web</a:t>
            </a:r>
            <a:endParaRPr lang="en-US" sz="1300" dirty="0"/>
          </a:p>
        </p:txBody>
      </p:sp>
      <p:sp>
        <p:nvSpPr>
          <p:cNvPr id="17" name="tarjeta extras fuera del plan"/>
          <p:cNvSpPr/>
          <p:nvPr/>
        </p:nvSpPr>
        <p:spPr>
          <a:xfrm>
            <a:off x="9005926" y="2011680"/>
            <a:ext cx="2606040" cy="2331720"/>
          </a:xfrm>
          <a:prstGeom prst="roundRect">
            <a:avLst>
              <a:gd name="adj" fmla="val 3137"/>
            </a:avLst>
          </a:prstGeom>
          <a:solidFill>
            <a:schemeClr val="tx2"/>
          </a:solidFill>
          <a:ln w="9525">
            <a:solidFill>
              <a:schemeClr val="accent6"/>
            </a:solidFill>
            <a:prstDash val="solid"/>
          </a:ln>
        </p:spPr>
        <p:txBody>
          <a:bodyPr/>
          <a:lstStyle/>
          <a:p>
            <a:endParaRPr lang="es-CL"/>
          </a:p>
        </p:txBody>
      </p:sp>
      <p:sp>
        <p:nvSpPr>
          <p:cNvPr id="18" name="Text 16"/>
          <p:cNvSpPr txBox="1"/>
          <p:nvPr/>
        </p:nvSpPr>
        <p:spPr>
          <a:xfrm>
            <a:off x="9280246" y="2240280"/>
            <a:ext cx="2057400" cy="685800"/>
          </a:xfrm>
          <a:prstGeom prst="rect">
            <a:avLst/>
          </a:prstGeom>
          <a:noFill/>
          <a:ln/>
        </p:spPr>
        <p:txBody>
          <a:bodyPr wrap="square" lIns="0" tIns="0" rIns="0" bIns="0" rtlCol="0" anchor="ctr"/>
          <a:lstStyle/>
          <a:p>
            <a:pPr marL="0" indent="0">
              <a:buNone/>
            </a:pPr>
            <a:r>
              <a:rPr lang="en-US" sz="3600" b="1" dirty="0">
                <a:solidFill>
                  <a:schemeClr val="accent2"/>
                </a:solidFill>
                <a:latin typeface="Bookman Old Style" pitchFamily="34" charset="0"/>
                <a:ea typeface="Bookman Old Style" pitchFamily="34" charset="-122"/>
                <a:cs typeface="Bookman Old Style" pitchFamily="34" charset="-120"/>
              </a:rPr>
              <a:t>+3</a:t>
            </a:r>
            <a:endParaRPr lang="en-US" sz="3600" dirty="0"/>
          </a:p>
        </p:txBody>
      </p:sp>
      <p:sp>
        <p:nvSpPr>
          <p:cNvPr id="19" name="Text 17"/>
          <p:cNvSpPr txBox="1"/>
          <p:nvPr/>
        </p:nvSpPr>
        <p:spPr>
          <a:xfrm>
            <a:off x="9280246" y="2971800"/>
            <a:ext cx="2057400" cy="320040"/>
          </a:xfrm>
          <a:prstGeom prst="rect">
            <a:avLst/>
          </a:prstGeom>
          <a:noFill/>
          <a:ln/>
        </p:spPr>
        <p:txBody>
          <a:bodyPr wrap="square" lIns="0" tIns="0" rIns="0" bIns="0" rtlCol="0" anchor="ctr"/>
          <a:lstStyle/>
          <a:p>
            <a:pPr marL="0" indent="0">
              <a:buNone/>
            </a:pPr>
            <a:r>
              <a:rPr lang="en-US" sz="1600" b="1" dirty="0">
                <a:solidFill>
                  <a:schemeClr val="bg1"/>
                </a:solidFill>
              </a:rPr>
              <a:t>extras fuera del plan</a:t>
            </a:r>
            <a:endParaRPr lang="en-US" sz="1600" dirty="0"/>
          </a:p>
        </p:txBody>
      </p:sp>
      <p:sp>
        <p:nvSpPr>
          <p:cNvPr id="20" name="Text 18"/>
          <p:cNvSpPr txBox="1"/>
          <p:nvPr/>
        </p:nvSpPr>
        <p:spPr>
          <a:xfrm>
            <a:off x="9280246" y="3291840"/>
            <a:ext cx="2057400" cy="548640"/>
          </a:xfrm>
          <a:prstGeom prst="rect">
            <a:avLst/>
          </a:prstGeom>
          <a:noFill/>
          <a:ln/>
        </p:spPr>
        <p:txBody>
          <a:bodyPr wrap="square" lIns="0" tIns="0" rIns="0" bIns="0" rtlCol="0" anchor="t"/>
          <a:lstStyle/>
          <a:p>
            <a:pPr marL="0" indent="0">
              <a:buNone/>
            </a:pPr>
            <a:r>
              <a:rPr lang="en-US" sz="1300" dirty="0">
                <a:solidFill>
                  <a:schemeClr val="bg2"/>
                </a:solidFill>
              </a:rPr>
              <a:t>Probador 3D, asistente Roxy y analítica predictiva</a:t>
            </a:r>
            <a:endParaRPr lang="en-US" sz="1300" dirty="0"/>
          </a:p>
        </p:txBody>
      </p:sp>
      <p:sp>
        <p:nvSpPr>
          <p:cNvPr id="21" name="inventario único"/>
          <p:cNvSpPr/>
          <p:nvPr/>
        </p:nvSpPr>
        <p:spPr>
          <a:xfrm>
            <a:off x="548640" y="4709160"/>
            <a:ext cx="11091672" cy="1143000"/>
          </a:xfrm>
          <a:prstGeom prst="roundRect">
            <a:avLst>
              <a:gd name="adj" fmla="val 6400"/>
            </a:avLst>
          </a:prstGeom>
          <a:solidFill>
            <a:schemeClr val="tx2"/>
          </a:solidFill>
          <a:ln w="9525">
            <a:solidFill>
              <a:schemeClr val="accent6"/>
            </a:solidFill>
            <a:prstDash val="solid"/>
          </a:ln>
        </p:spPr>
        <p:txBody>
          <a:bodyPr/>
          <a:lstStyle/>
          <a:p>
            <a:endParaRPr lang="es-CL"/>
          </a:p>
        </p:txBody>
      </p:sp>
      <p:sp>
        <p:nvSpPr>
          <p:cNvPr id="22" name="insignia ⇄"/>
          <p:cNvSpPr/>
          <p:nvPr/>
        </p:nvSpPr>
        <p:spPr>
          <a:xfrm>
            <a:off x="868680" y="5029200"/>
            <a:ext cx="502920" cy="50292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23" name="Text 21"/>
          <p:cNvSpPr txBox="1"/>
          <p:nvPr/>
        </p:nvSpPr>
        <p:spPr>
          <a:xfrm>
            <a:off x="868680" y="5029200"/>
            <a:ext cx="502920" cy="502920"/>
          </a:xfrm>
          <a:prstGeom prst="rect">
            <a:avLst/>
          </a:prstGeom>
          <a:noFill/>
          <a:ln/>
        </p:spPr>
        <p:txBody>
          <a:bodyPr wrap="square" lIns="0" tIns="0" rIns="0" bIns="0" rtlCol="0" anchor="ctr"/>
          <a:lstStyle/>
          <a:p>
            <a:pPr marL="0" indent="0" algn="ctr">
              <a:buNone/>
            </a:pPr>
            <a:r>
              <a:rPr lang="en-US" sz="1500" b="1" dirty="0">
                <a:solidFill>
                  <a:srgbClr val="E0283F"/>
                </a:solidFill>
              </a:rPr>
              <a:t>⇄</a:t>
            </a:r>
            <a:endParaRPr lang="en-US" sz="1500" dirty="0"/>
          </a:p>
        </p:txBody>
      </p:sp>
      <p:sp>
        <p:nvSpPr>
          <p:cNvPr id="24" name="Text 22"/>
          <p:cNvSpPr txBox="1"/>
          <p:nvPr/>
        </p:nvSpPr>
        <p:spPr>
          <a:xfrm>
            <a:off x="1600200" y="4846320"/>
            <a:ext cx="9784080" cy="868680"/>
          </a:xfrm>
          <a:prstGeom prst="rect">
            <a:avLst/>
          </a:prstGeom>
          <a:noFill/>
          <a:ln/>
        </p:spPr>
        <p:txBody>
          <a:bodyPr wrap="square" lIns="0" tIns="0" rIns="0" bIns="0" rtlCol="0" anchor="ctr"/>
          <a:lstStyle/>
          <a:p>
            <a:pPr marL="0" indent="0">
              <a:buNone/>
            </a:pPr>
            <a:r>
              <a:rPr lang="en-US" sz="1600" b="1" dirty="0">
                <a:solidFill>
                  <a:schemeClr val="bg1"/>
                </a:solidFill>
              </a:rPr>
              <a:t>Un solo inventario para todos los canales. </a:t>
            </a:r>
            <a:r>
              <a:rPr lang="en-US" sz="1600" dirty="0">
                <a:solidFill>
                  <a:schemeClr val="bg2"/>
                </a:solidFill>
              </a:rPr>
              <a:t>Lo que se vende en la tienda física o en la web descuenta del mismo stock, con bloqueo para que ninguna prenda se venda dos veces.</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ARQUITECTURA</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Cómo está construido</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Tres clientes sobre una API modular y PostgreSQL. Cada pieza corre en su propio contenedor Docker.</a:t>
            </a:r>
            <a:endParaRPr lang="en-US" sz="1600" dirty="0"/>
          </a:p>
        </p:txBody>
      </p:sp>
      <p:sp>
        <p:nvSpPr>
          <p:cNvPr id="5" name="cliente App de bodega"/>
          <p:cNvSpPr/>
          <p:nvPr/>
        </p:nvSpPr>
        <p:spPr>
          <a:xfrm>
            <a:off x="548640" y="1965960"/>
            <a:ext cx="3520440" cy="868680"/>
          </a:xfrm>
          <a:prstGeom prst="roundRect">
            <a:avLst>
              <a:gd name="adj" fmla="val 8421"/>
            </a:avLst>
          </a:prstGeom>
          <a:solidFill>
            <a:schemeClr val="tx2"/>
          </a:solidFill>
          <a:ln w="9525">
            <a:solidFill>
              <a:schemeClr val="accent6"/>
            </a:solidFill>
            <a:prstDash val="solid"/>
          </a:ln>
        </p:spPr>
        <p:txBody>
          <a:bodyPr/>
          <a:lstStyle/>
          <a:p>
            <a:endParaRPr lang="es-CL"/>
          </a:p>
        </p:txBody>
      </p:sp>
      <p:sp>
        <p:nvSpPr>
          <p:cNvPr id="6" name="Text 4"/>
          <p:cNvSpPr txBox="1"/>
          <p:nvPr/>
        </p:nvSpPr>
        <p:spPr>
          <a:xfrm>
            <a:off x="777240" y="2011680"/>
            <a:ext cx="3063240" cy="777240"/>
          </a:xfrm>
          <a:prstGeom prst="rect">
            <a:avLst/>
          </a:prstGeom>
          <a:noFill/>
          <a:ln/>
        </p:spPr>
        <p:txBody>
          <a:bodyPr wrap="square" lIns="0" tIns="0" rIns="0" bIns="0" rtlCol="0" anchor="ctr"/>
          <a:lstStyle/>
          <a:p>
            <a:pPr marL="0" indent="0">
              <a:buNone/>
            </a:pPr>
            <a:r>
              <a:rPr lang="en-US" sz="1600" b="1" dirty="0">
                <a:solidFill>
                  <a:schemeClr val="bg1"/>
                </a:solidFill>
              </a:rPr>
              <a:t>App de bodega</a:t>
            </a:r>
            <a:endParaRPr lang="en-US" sz="1600" dirty="0"/>
          </a:p>
          <a:p>
            <a:pPr marL="0" indent="0">
              <a:buNone/>
            </a:pPr>
            <a:r>
              <a:rPr lang="en-US" sz="1300" dirty="0">
                <a:solidFill>
                  <a:schemeClr val="bg2"/>
                </a:solidFill>
              </a:rPr>
              <a:t>Ionic Angular + Capacitor · APK Android</a:t>
            </a:r>
            <a:endParaRPr lang="en-US" sz="1600" dirty="0"/>
          </a:p>
        </p:txBody>
      </p:sp>
      <p:sp>
        <p:nvSpPr>
          <p:cNvPr id="7" name="flecha App de bodega"/>
          <p:cNvSpPr/>
          <p:nvPr/>
        </p:nvSpPr>
        <p:spPr>
          <a:xfrm>
            <a:off x="2308860" y="2852928"/>
            <a:ext cx="0" cy="301752"/>
          </a:xfrm>
          <a:prstGeom prst="line">
            <a:avLst/>
          </a:prstGeom>
          <a:noFill/>
          <a:ln w="15875">
            <a:solidFill>
              <a:schemeClr val="bg2"/>
            </a:solidFill>
            <a:prstDash val="solid"/>
            <a:tailEnd type="triangle"/>
          </a:ln>
        </p:spPr>
        <p:txBody>
          <a:bodyPr/>
          <a:lstStyle/>
          <a:p>
            <a:endParaRPr lang="es-CL"/>
          </a:p>
        </p:txBody>
      </p:sp>
      <p:sp>
        <p:nvSpPr>
          <p:cNvPr id="8" name="cliente Tienda web y panel del gerente"/>
          <p:cNvSpPr/>
          <p:nvPr/>
        </p:nvSpPr>
        <p:spPr>
          <a:xfrm>
            <a:off x="4334256" y="1965960"/>
            <a:ext cx="3520440" cy="868680"/>
          </a:xfrm>
          <a:prstGeom prst="roundRect">
            <a:avLst>
              <a:gd name="adj" fmla="val 8421"/>
            </a:avLst>
          </a:prstGeom>
          <a:solidFill>
            <a:schemeClr val="tx2"/>
          </a:solidFill>
          <a:ln w="9525">
            <a:solidFill>
              <a:schemeClr val="accent6"/>
            </a:solidFill>
            <a:prstDash val="solid"/>
          </a:ln>
        </p:spPr>
        <p:txBody>
          <a:bodyPr/>
          <a:lstStyle/>
          <a:p>
            <a:endParaRPr lang="es-CL"/>
          </a:p>
        </p:txBody>
      </p:sp>
      <p:sp>
        <p:nvSpPr>
          <p:cNvPr id="9" name="Text 7"/>
          <p:cNvSpPr txBox="1"/>
          <p:nvPr/>
        </p:nvSpPr>
        <p:spPr>
          <a:xfrm>
            <a:off x="4562856" y="2011680"/>
            <a:ext cx="3063240" cy="777240"/>
          </a:xfrm>
          <a:prstGeom prst="rect">
            <a:avLst/>
          </a:prstGeom>
          <a:noFill/>
          <a:ln/>
        </p:spPr>
        <p:txBody>
          <a:bodyPr wrap="square" lIns="0" tIns="0" rIns="0" bIns="0" rtlCol="0" anchor="ctr"/>
          <a:lstStyle/>
          <a:p>
            <a:pPr marL="0" indent="0">
              <a:buNone/>
            </a:pPr>
            <a:r>
              <a:rPr lang="en-US" sz="1600" b="1" dirty="0">
                <a:solidFill>
                  <a:schemeClr val="bg1"/>
                </a:solidFill>
              </a:rPr>
              <a:t>Tienda web y panel del gerente</a:t>
            </a:r>
            <a:endParaRPr lang="en-US" sz="1600" dirty="0"/>
          </a:p>
          <a:p>
            <a:pPr marL="0" indent="0">
              <a:buNone/>
            </a:pPr>
            <a:r>
              <a:rPr lang="en-US" sz="1300" dirty="0">
                <a:solidFill>
                  <a:schemeClr val="bg2"/>
                </a:solidFill>
              </a:rPr>
              <a:t>Ionic Angular</a:t>
            </a:r>
            <a:endParaRPr lang="en-US" sz="1600" dirty="0"/>
          </a:p>
        </p:txBody>
      </p:sp>
      <p:sp>
        <p:nvSpPr>
          <p:cNvPr id="10" name="flecha Tienda web y panel del gerente"/>
          <p:cNvSpPr/>
          <p:nvPr/>
        </p:nvSpPr>
        <p:spPr>
          <a:xfrm>
            <a:off x="6094476" y="2852928"/>
            <a:ext cx="0" cy="301752"/>
          </a:xfrm>
          <a:prstGeom prst="line">
            <a:avLst/>
          </a:prstGeom>
          <a:noFill/>
          <a:ln w="15875">
            <a:solidFill>
              <a:schemeClr val="bg2"/>
            </a:solidFill>
            <a:prstDash val="solid"/>
            <a:tailEnd type="triangle"/>
          </a:ln>
        </p:spPr>
        <p:txBody>
          <a:bodyPr/>
          <a:lstStyle/>
          <a:p>
            <a:endParaRPr lang="es-CL"/>
          </a:p>
        </p:txBody>
      </p:sp>
      <p:sp>
        <p:nvSpPr>
          <p:cNvPr id="11" name="cliente Punto de venta (POS)"/>
          <p:cNvSpPr/>
          <p:nvPr/>
        </p:nvSpPr>
        <p:spPr>
          <a:xfrm>
            <a:off x="8119872" y="1965960"/>
            <a:ext cx="3520440" cy="868680"/>
          </a:xfrm>
          <a:prstGeom prst="roundRect">
            <a:avLst>
              <a:gd name="adj" fmla="val 8421"/>
            </a:avLst>
          </a:prstGeom>
          <a:solidFill>
            <a:schemeClr val="tx2"/>
          </a:solidFill>
          <a:ln w="9525">
            <a:solidFill>
              <a:schemeClr val="accent6"/>
            </a:solidFill>
            <a:prstDash val="solid"/>
          </a:ln>
        </p:spPr>
        <p:txBody>
          <a:bodyPr/>
          <a:lstStyle/>
          <a:p>
            <a:endParaRPr lang="es-CL"/>
          </a:p>
        </p:txBody>
      </p:sp>
      <p:sp>
        <p:nvSpPr>
          <p:cNvPr id="12" name="Text 10"/>
          <p:cNvSpPr txBox="1"/>
          <p:nvPr/>
        </p:nvSpPr>
        <p:spPr>
          <a:xfrm>
            <a:off x="8348472" y="2011680"/>
            <a:ext cx="3063240" cy="777240"/>
          </a:xfrm>
          <a:prstGeom prst="rect">
            <a:avLst/>
          </a:prstGeom>
          <a:noFill/>
          <a:ln/>
        </p:spPr>
        <p:txBody>
          <a:bodyPr wrap="square" lIns="0" tIns="0" rIns="0" bIns="0" rtlCol="0" anchor="ctr"/>
          <a:lstStyle/>
          <a:p>
            <a:pPr marL="0" indent="0">
              <a:buNone/>
            </a:pPr>
            <a:r>
              <a:rPr lang="en-US" sz="1600" b="1" dirty="0">
                <a:solidFill>
                  <a:schemeClr val="bg1"/>
                </a:solidFill>
              </a:rPr>
              <a:t>Punto de venta (POS)</a:t>
            </a:r>
            <a:endParaRPr lang="en-US" sz="1600" dirty="0"/>
          </a:p>
          <a:p>
            <a:pPr marL="0" indent="0">
              <a:buNone/>
            </a:pPr>
            <a:r>
              <a:rPr lang="en-US" sz="1300" dirty="0">
                <a:solidFill>
                  <a:schemeClr val="bg2"/>
                </a:solidFill>
              </a:rPr>
              <a:t>Ionic React + Vite</a:t>
            </a:r>
            <a:endParaRPr lang="en-US" sz="1600" dirty="0"/>
          </a:p>
        </p:txBody>
      </p:sp>
      <p:sp>
        <p:nvSpPr>
          <p:cNvPr id="13" name="flecha Punto de venta (POS)"/>
          <p:cNvSpPr/>
          <p:nvPr/>
        </p:nvSpPr>
        <p:spPr>
          <a:xfrm>
            <a:off x="9880092" y="2852928"/>
            <a:ext cx="0" cy="301752"/>
          </a:xfrm>
          <a:prstGeom prst="line">
            <a:avLst/>
          </a:prstGeom>
          <a:noFill/>
          <a:ln w="15875">
            <a:solidFill>
              <a:schemeClr val="bg2"/>
            </a:solidFill>
            <a:prstDash val="solid"/>
            <a:tailEnd type="triangle"/>
          </a:ln>
        </p:spPr>
        <p:txBody>
          <a:bodyPr/>
          <a:lstStyle/>
          <a:p>
            <a:endParaRPr lang="es-CL"/>
          </a:p>
        </p:txBody>
      </p:sp>
      <p:sp>
        <p:nvSpPr>
          <p:cNvPr id="14" name="API NestJS"/>
          <p:cNvSpPr/>
          <p:nvPr/>
        </p:nvSpPr>
        <p:spPr>
          <a:xfrm>
            <a:off x="548640" y="3200400"/>
            <a:ext cx="11091672" cy="1463040"/>
          </a:xfrm>
          <a:prstGeom prst="roundRect">
            <a:avLst>
              <a:gd name="adj" fmla="val 5000"/>
            </a:avLst>
          </a:prstGeom>
          <a:solidFill>
            <a:schemeClr val="tx2"/>
          </a:solidFill>
          <a:ln w="9525">
            <a:solidFill>
              <a:schemeClr val="accent6"/>
            </a:solidFill>
            <a:prstDash val="solid"/>
          </a:ln>
        </p:spPr>
        <p:txBody>
          <a:bodyPr/>
          <a:lstStyle/>
          <a:p>
            <a:endParaRPr lang="es-CL"/>
          </a:p>
        </p:txBody>
      </p:sp>
      <p:sp>
        <p:nvSpPr>
          <p:cNvPr id="15" name="Text 13"/>
          <p:cNvSpPr txBox="1"/>
          <p:nvPr/>
        </p:nvSpPr>
        <p:spPr>
          <a:xfrm>
            <a:off x="777240" y="3273552"/>
            <a:ext cx="7315200" cy="640080"/>
          </a:xfrm>
          <a:prstGeom prst="rect">
            <a:avLst/>
          </a:prstGeom>
          <a:noFill/>
          <a:ln/>
        </p:spPr>
        <p:txBody>
          <a:bodyPr wrap="square" lIns="0" tIns="0" rIns="0" bIns="0" rtlCol="0" anchor="ctr"/>
          <a:lstStyle/>
          <a:p>
            <a:pPr marL="0" indent="0">
              <a:buNone/>
            </a:pPr>
            <a:r>
              <a:rPr lang="en-US" sz="1800" b="1" dirty="0">
                <a:solidFill>
                  <a:schemeClr val="accent1"/>
                </a:solidFill>
              </a:rPr>
              <a:t>API NestJS</a:t>
            </a:r>
            <a:endParaRPr lang="en-US" sz="1800" dirty="0"/>
          </a:p>
          <a:p>
            <a:pPr marL="0" indent="0">
              <a:buNone/>
            </a:pPr>
            <a:r>
              <a:rPr lang="en-US" sz="1300" dirty="0">
                <a:solidFill>
                  <a:schemeClr val="bg2"/>
                </a:solidFill>
              </a:rPr>
              <a:t>Un módulo por área, con contratos de tipos compartidos</a:t>
            </a:r>
            <a:endParaRPr lang="en-US" sz="1800" dirty="0"/>
          </a:p>
        </p:txBody>
      </p:sp>
      <p:sp>
        <p:nvSpPr>
          <p:cNvPr id="16" name="módulo Usuarios y roles"/>
          <p:cNvSpPr/>
          <p:nvPr/>
        </p:nvSpPr>
        <p:spPr>
          <a:xfrm>
            <a:off x="777240" y="4005072"/>
            <a:ext cx="1658112" cy="475488"/>
          </a:xfrm>
          <a:prstGeom prst="roundRect">
            <a:avLst>
              <a:gd name="adj" fmla="val 15385"/>
            </a:avLst>
          </a:prstGeom>
          <a:solidFill>
            <a:schemeClr val="accent1">
              <a:alpha val="15000"/>
            </a:schemeClr>
          </a:solidFill>
          <a:ln w="9525">
            <a:solidFill>
              <a:schemeClr val="accent1"/>
            </a:solidFill>
            <a:prstDash val="solid"/>
          </a:ln>
        </p:spPr>
        <p:txBody>
          <a:bodyPr/>
          <a:lstStyle/>
          <a:p>
            <a:endParaRPr lang="es-CL"/>
          </a:p>
        </p:txBody>
      </p:sp>
      <p:sp>
        <p:nvSpPr>
          <p:cNvPr id="17" name="Text 15"/>
          <p:cNvSpPr txBox="1"/>
          <p:nvPr/>
        </p:nvSpPr>
        <p:spPr>
          <a:xfrm>
            <a:off x="777240" y="4005072"/>
            <a:ext cx="1658112" cy="475488"/>
          </a:xfrm>
          <a:prstGeom prst="rect">
            <a:avLst/>
          </a:prstGeom>
          <a:noFill/>
          <a:ln/>
        </p:spPr>
        <p:txBody>
          <a:bodyPr wrap="square" lIns="0" tIns="0" rIns="0" bIns="0" rtlCol="0" anchor="ctr"/>
          <a:lstStyle/>
          <a:p>
            <a:pPr marL="0" indent="0" algn="ctr">
              <a:buNone/>
            </a:pPr>
            <a:r>
              <a:rPr lang="en-US" sz="1300" b="1" dirty="0">
                <a:solidFill>
                  <a:schemeClr val="bg1"/>
                </a:solidFill>
              </a:rPr>
              <a:t>Usuarios y roles</a:t>
            </a:r>
            <a:endParaRPr lang="en-US" sz="1300" dirty="0"/>
          </a:p>
        </p:txBody>
      </p:sp>
      <p:sp>
        <p:nvSpPr>
          <p:cNvPr id="18" name="módulo Inventario"/>
          <p:cNvSpPr/>
          <p:nvPr/>
        </p:nvSpPr>
        <p:spPr>
          <a:xfrm>
            <a:off x="2572512" y="4005072"/>
            <a:ext cx="1658112" cy="475488"/>
          </a:xfrm>
          <a:prstGeom prst="roundRect">
            <a:avLst>
              <a:gd name="adj" fmla="val 15385"/>
            </a:avLst>
          </a:prstGeom>
          <a:solidFill>
            <a:schemeClr val="accent1">
              <a:alpha val="15000"/>
            </a:schemeClr>
          </a:solidFill>
          <a:ln w="9525">
            <a:solidFill>
              <a:schemeClr val="accent1"/>
            </a:solidFill>
            <a:prstDash val="solid"/>
          </a:ln>
        </p:spPr>
        <p:txBody>
          <a:bodyPr/>
          <a:lstStyle/>
          <a:p>
            <a:endParaRPr lang="es-CL"/>
          </a:p>
        </p:txBody>
      </p:sp>
      <p:sp>
        <p:nvSpPr>
          <p:cNvPr id="19" name="Text 17"/>
          <p:cNvSpPr txBox="1"/>
          <p:nvPr/>
        </p:nvSpPr>
        <p:spPr>
          <a:xfrm>
            <a:off x="2572512" y="4005072"/>
            <a:ext cx="1658112" cy="475488"/>
          </a:xfrm>
          <a:prstGeom prst="rect">
            <a:avLst/>
          </a:prstGeom>
          <a:noFill/>
          <a:ln/>
        </p:spPr>
        <p:txBody>
          <a:bodyPr wrap="square" lIns="0" tIns="0" rIns="0" bIns="0" rtlCol="0" anchor="ctr"/>
          <a:lstStyle/>
          <a:p>
            <a:pPr marL="0" indent="0" algn="ctr">
              <a:buNone/>
            </a:pPr>
            <a:r>
              <a:rPr lang="en-US" sz="1300" b="1" dirty="0">
                <a:solidFill>
                  <a:schemeClr val="bg1"/>
                </a:solidFill>
              </a:rPr>
              <a:t>Inventario</a:t>
            </a:r>
            <a:endParaRPr lang="en-US" sz="1300" dirty="0"/>
          </a:p>
        </p:txBody>
      </p:sp>
      <p:sp>
        <p:nvSpPr>
          <p:cNvPr id="20" name="módulo Ventas"/>
          <p:cNvSpPr/>
          <p:nvPr/>
        </p:nvSpPr>
        <p:spPr>
          <a:xfrm>
            <a:off x="4367784" y="4005072"/>
            <a:ext cx="1658112" cy="475488"/>
          </a:xfrm>
          <a:prstGeom prst="roundRect">
            <a:avLst>
              <a:gd name="adj" fmla="val 15385"/>
            </a:avLst>
          </a:prstGeom>
          <a:solidFill>
            <a:schemeClr val="accent1">
              <a:alpha val="15000"/>
            </a:schemeClr>
          </a:solidFill>
          <a:ln w="9525">
            <a:solidFill>
              <a:schemeClr val="accent1"/>
            </a:solidFill>
            <a:prstDash val="solid"/>
          </a:ln>
        </p:spPr>
        <p:txBody>
          <a:bodyPr/>
          <a:lstStyle/>
          <a:p>
            <a:endParaRPr lang="es-CL"/>
          </a:p>
        </p:txBody>
      </p:sp>
      <p:sp>
        <p:nvSpPr>
          <p:cNvPr id="21" name="Text 19"/>
          <p:cNvSpPr txBox="1"/>
          <p:nvPr/>
        </p:nvSpPr>
        <p:spPr>
          <a:xfrm>
            <a:off x="4367784" y="4005072"/>
            <a:ext cx="1658112" cy="475488"/>
          </a:xfrm>
          <a:prstGeom prst="rect">
            <a:avLst/>
          </a:prstGeom>
          <a:noFill/>
          <a:ln/>
        </p:spPr>
        <p:txBody>
          <a:bodyPr wrap="square" lIns="0" tIns="0" rIns="0" bIns="0" rtlCol="0" anchor="ctr"/>
          <a:lstStyle/>
          <a:p>
            <a:pPr marL="0" indent="0" algn="ctr">
              <a:buNone/>
            </a:pPr>
            <a:r>
              <a:rPr lang="en-US" sz="1300" b="1" dirty="0">
                <a:solidFill>
                  <a:schemeClr val="bg1"/>
                </a:solidFill>
              </a:rPr>
              <a:t>Ventas</a:t>
            </a:r>
            <a:endParaRPr lang="en-US" sz="1300" dirty="0"/>
          </a:p>
        </p:txBody>
      </p:sp>
      <p:sp>
        <p:nvSpPr>
          <p:cNvPr id="22" name="módulo Logística"/>
          <p:cNvSpPr/>
          <p:nvPr/>
        </p:nvSpPr>
        <p:spPr>
          <a:xfrm>
            <a:off x="6163056" y="4005072"/>
            <a:ext cx="1658112" cy="475488"/>
          </a:xfrm>
          <a:prstGeom prst="roundRect">
            <a:avLst>
              <a:gd name="adj" fmla="val 15385"/>
            </a:avLst>
          </a:prstGeom>
          <a:solidFill>
            <a:schemeClr val="accent1">
              <a:alpha val="15000"/>
            </a:schemeClr>
          </a:solidFill>
          <a:ln w="9525">
            <a:solidFill>
              <a:schemeClr val="accent1"/>
            </a:solidFill>
            <a:prstDash val="solid"/>
          </a:ln>
        </p:spPr>
        <p:txBody>
          <a:bodyPr/>
          <a:lstStyle/>
          <a:p>
            <a:endParaRPr lang="es-CL"/>
          </a:p>
        </p:txBody>
      </p:sp>
      <p:sp>
        <p:nvSpPr>
          <p:cNvPr id="23" name="Text 21"/>
          <p:cNvSpPr txBox="1"/>
          <p:nvPr/>
        </p:nvSpPr>
        <p:spPr>
          <a:xfrm>
            <a:off x="6163056" y="4005072"/>
            <a:ext cx="1658112" cy="475488"/>
          </a:xfrm>
          <a:prstGeom prst="rect">
            <a:avLst/>
          </a:prstGeom>
          <a:noFill/>
          <a:ln/>
        </p:spPr>
        <p:txBody>
          <a:bodyPr wrap="square" lIns="0" tIns="0" rIns="0" bIns="0" rtlCol="0" anchor="ctr"/>
          <a:lstStyle/>
          <a:p>
            <a:pPr marL="0" indent="0" algn="ctr">
              <a:buNone/>
            </a:pPr>
            <a:r>
              <a:rPr lang="en-US" sz="1300" b="1" dirty="0">
                <a:solidFill>
                  <a:schemeClr val="bg1"/>
                </a:solidFill>
              </a:rPr>
              <a:t>Logística</a:t>
            </a:r>
            <a:endParaRPr lang="en-US" sz="1300" dirty="0"/>
          </a:p>
        </p:txBody>
      </p:sp>
      <p:sp>
        <p:nvSpPr>
          <p:cNvPr id="24" name="módulo Pagos"/>
          <p:cNvSpPr/>
          <p:nvPr/>
        </p:nvSpPr>
        <p:spPr>
          <a:xfrm>
            <a:off x="7958328" y="4005072"/>
            <a:ext cx="1658112" cy="475488"/>
          </a:xfrm>
          <a:prstGeom prst="roundRect">
            <a:avLst>
              <a:gd name="adj" fmla="val 15385"/>
            </a:avLst>
          </a:prstGeom>
          <a:solidFill>
            <a:schemeClr val="accent1">
              <a:alpha val="15000"/>
            </a:schemeClr>
          </a:solidFill>
          <a:ln w="9525">
            <a:solidFill>
              <a:schemeClr val="accent1"/>
            </a:solidFill>
            <a:prstDash val="solid"/>
          </a:ln>
        </p:spPr>
        <p:txBody>
          <a:bodyPr/>
          <a:lstStyle/>
          <a:p>
            <a:endParaRPr lang="es-CL"/>
          </a:p>
        </p:txBody>
      </p:sp>
      <p:sp>
        <p:nvSpPr>
          <p:cNvPr id="25" name="Text 23"/>
          <p:cNvSpPr txBox="1"/>
          <p:nvPr/>
        </p:nvSpPr>
        <p:spPr>
          <a:xfrm>
            <a:off x="7958328" y="4005072"/>
            <a:ext cx="1658112" cy="475488"/>
          </a:xfrm>
          <a:prstGeom prst="rect">
            <a:avLst/>
          </a:prstGeom>
          <a:noFill/>
          <a:ln/>
        </p:spPr>
        <p:txBody>
          <a:bodyPr wrap="square" lIns="0" tIns="0" rIns="0" bIns="0" rtlCol="0" anchor="ctr"/>
          <a:lstStyle/>
          <a:p>
            <a:pPr marL="0" indent="0" algn="ctr">
              <a:buNone/>
            </a:pPr>
            <a:r>
              <a:rPr lang="en-US" sz="1300" b="1" dirty="0">
                <a:solidFill>
                  <a:schemeClr val="bg1"/>
                </a:solidFill>
              </a:rPr>
              <a:t>Pagos</a:t>
            </a:r>
            <a:endParaRPr lang="en-US" sz="1300" dirty="0"/>
          </a:p>
        </p:txBody>
      </p:sp>
      <p:sp>
        <p:nvSpPr>
          <p:cNvPr id="26" name="módulo Analítica"/>
          <p:cNvSpPr/>
          <p:nvPr/>
        </p:nvSpPr>
        <p:spPr>
          <a:xfrm>
            <a:off x="9753600" y="4005072"/>
            <a:ext cx="1658112" cy="475488"/>
          </a:xfrm>
          <a:prstGeom prst="roundRect">
            <a:avLst>
              <a:gd name="adj" fmla="val 15385"/>
            </a:avLst>
          </a:prstGeom>
          <a:solidFill>
            <a:schemeClr val="accent1">
              <a:alpha val="15000"/>
            </a:schemeClr>
          </a:solidFill>
          <a:ln w="9525">
            <a:solidFill>
              <a:schemeClr val="accent1"/>
            </a:solidFill>
            <a:prstDash val="solid"/>
          </a:ln>
        </p:spPr>
        <p:txBody>
          <a:bodyPr/>
          <a:lstStyle/>
          <a:p>
            <a:endParaRPr lang="es-CL"/>
          </a:p>
        </p:txBody>
      </p:sp>
      <p:sp>
        <p:nvSpPr>
          <p:cNvPr id="27" name="Text 25"/>
          <p:cNvSpPr txBox="1"/>
          <p:nvPr/>
        </p:nvSpPr>
        <p:spPr>
          <a:xfrm>
            <a:off x="9753600" y="4005072"/>
            <a:ext cx="1658112" cy="475488"/>
          </a:xfrm>
          <a:prstGeom prst="rect">
            <a:avLst/>
          </a:prstGeom>
          <a:noFill/>
          <a:ln/>
        </p:spPr>
        <p:txBody>
          <a:bodyPr wrap="square" lIns="0" tIns="0" rIns="0" bIns="0" rtlCol="0" anchor="ctr"/>
          <a:lstStyle/>
          <a:p>
            <a:pPr marL="0" indent="0" algn="ctr">
              <a:buNone/>
            </a:pPr>
            <a:r>
              <a:rPr lang="en-US" sz="1300" b="1" dirty="0">
                <a:solidFill>
                  <a:schemeClr val="bg1"/>
                </a:solidFill>
              </a:rPr>
              <a:t>Analítica</a:t>
            </a:r>
            <a:endParaRPr lang="en-US" sz="1300" dirty="0"/>
          </a:p>
        </p:txBody>
      </p:sp>
      <p:sp>
        <p:nvSpPr>
          <p:cNvPr id="28" name="flecha base de datos"/>
          <p:cNvSpPr/>
          <p:nvPr/>
        </p:nvSpPr>
        <p:spPr>
          <a:xfrm>
            <a:off x="4480560" y="4681728"/>
            <a:ext cx="0" cy="301752"/>
          </a:xfrm>
          <a:prstGeom prst="line">
            <a:avLst/>
          </a:prstGeom>
          <a:noFill/>
          <a:ln w="15875">
            <a:solidFill>
              <a:schemeClr val="bg2"/>
            </a:solidFill>
            <a:prstDash val="solid"/>
            <a:tailEnd type="triangle"/>
          </a:ln>
        </p:spPr>
        <p:txBody>
          <a:bodyPr/>
          <a:lstStyle/>
          <a:p>
            <a:endParaRPr lang="es-CL"/>
          </a:p>
        </p:txBody>
      </p:sp>
      <p:sp>
        <p:nvSpPr>
          <p:cNvPr id="29" name="flecha adaptadores"/>
          <p:cNvSpPr/>
          <p:nvPr/>
        </p:nvSpPr>
        <p:spPr>
          <a:xfrm>
            <a:off x="10186416" y="4681728"/>
            <a:ext cx="0" cy="301752"/>
          </a:xfrm>
          <a:prstGeom prst="line">
            <a:avLst/>
          </a:prstGeom>
          <a:noFill/>
          <a:ln w="15875">
            <a:solidFill>
              <a:schemeClr val="bg2"/>
            </a:solidFill>
            <a:prstDash val="solid"/>
            <a:tailEnd type="triangle"/>
          </a:ln>
        </p:spPr>
        <p:txBody>
          <a:bodyPr/>
          <a:lstStyle/>
          <a:p>
            <a:endParaRPr lang="es-CL"/>
          </a:p>
        </p:txBody>
      </p:sp>
      <p:sp>
        <p:nvSpPr>
          <p:cNvPr id="30" name="PostgreSQL"/>
          <p:cNvSpPr/>
          <p:nvPr/>
        </p:nvSpPr>
        <p:spPr>
          <a:xfrm>
            <a:off x="548640" y="5029200"/>
            <a:ext cx="7863840" cy="914400"/>
          </a:xfrm>
          <a:prstGeom prst="roundRect">
            <a:avLst>
              <a:gd name="adj" fmla="val 8000"/>
            </a:avLst>
          </a:prstGeom>
          <a:solidFill>
            <a:schemeClr val="tx2"/>
          </a:solidFill>
          <a:ln w="9525">
            <a:solidFill>
              <a:schemeClr val="accent6"/>
            </a:solidFill>
            <a:prstDash val="solid"/>
          </a:ln>
        </p:spPr>
        <p:txBody>
          <a:bodyPr/>
          <a:lstStyle/>
          <a:p>
            <a:endParaRPr lang="es-CL"/>
          </a:p>
        </p:txBody>
      </p:sp>
      <p:sp>
        <p:nvSpPr>
          <p:cNvPr id="31" name="Text 29"/>
          <p:cNvSpPr txBox="1"/>
          <p:nvPr/>
        </p:nvSpPr>
        <p:spPr>
          <a:xfrm>
            <a:off x="777240" y="5029200"/>
            <a:ext cx="7406640" cy="914400"/>
          </a:xfrm>
          <a:prstGeom prst="rect">
            <a:avLst/>
          </a:prstGeom>
          <a:noFill/>
          <a:ln/>
        </p:spPr>
        <p:txBody>
          <a:bodyPr wrap="square" lIns="0" tIns="0" rIns="0" bIns="0" rtlCol="0" anchor="ctr"/>
          <a:lstStyle/>
          <a:p>
            <a:pPr marL="0" indent="0">
              <a:buNone/>
            </a:pPr>
            <a:r>
              <a:rPr lang="en-US" sz="1600" b="1" dirty="0">
                <a:solidFill>
                  <a:schemeClr val="accent4"/>
                </a:solidFill>
              </a:rPr>
              <a:t>PostgreSQL 17  </a:t>
            </a:r>
            <a:r>
              <a:rPr lang="en-US" sz="1400" dirty="0">
                <a:solidFill>
                  <a:schemeClr val="bg2"/>
                </a:solidFill>
              </a:rPr>
              <a:t>5 esquemas · 36 tablas · 11 migraciones · fuente única del stock</a:t>
            </a:r>
            <a:endParaRPr lang="en-US" sz="1600" dirty="0"/>
          </a:p>
        </p:txBody>
      </p:sp>
      <p:sp>
        <p:nvSpPr>
          <p:cNvPr id="32" name="adaptadores"/>
          <p:cNvSpPr/>
          <p:nvPr/>
        </p:nvSpPr>
        <p:spPr>
          <a:xfrm>
            <a:off x="8732520" y="5029200"/>
            <a:ext cx="2907792" cy="914400"/>
          </a:xfrm>
          <a:prstGeom prst="roundRect">
            <a:avLst>
              <a:gd name="adj" fmla="val 8000"/>
            </a:avLst>
          </a:prstGeom>
          <a:solidFill>
            <a:schemeClr val="tx2"/>
          </a:solidFill>
          <a:ln w="9525">
            <a:solidFill>
              <a:schemeClr val="accent6"/>
            </a:solidFill>
            <a:prstDash val="solid"/>
          </a:ln>
        </p:spPr>
        <p:txBody>
          <a:bodyPr/>
          <a:lstStyle/>
          <a:p>
            <a:endParaRPr lang="es-CL"/>
          </a:p>
        </p:txBody>
      </p:sp>
      <p:sp>
        <p:nvSpPr>
          <p:cNvPr id="33" name="Text 31"/>
          <p:cNvSpPr txBox="1"/>
          <p:nvPr/>
        </p:nvSpPr>
        <p:spPr>
          <a:xfrm>
            <a:off x="8942832" y="5029200"/>
            <a:ext cx="2560320" cy="914400"/>
          </a:xfrm>
          <a:prstGeom prst="rect">
            <a:avLst/>
          </a:prstGeom>
          <a:noFill/>
          <a:ln/>
        </p:spPr>
        <p:txBody>
          <a:bodyPr wrap="square" lIns="0" tIns="0" rIns="0" bIns="0" rtlCol="0" anchor="ctr"/>
          <a:lstStyle/>
          <a:p>
            <a:pPr marL="0" indent="0">
              <a:buNone/>
            </a:pPr>
            <a:r>
              <a:rPr lang="en-US" sz="1500" b="1" dirty="0">
                <a:solidFill>
                  <a:schemeClr val="accent2"/>
                </a:solidFill>
              </a:rPr>
              <a:t>Webpay · Starken</a:t>
            </a:r>
            <a:endParaRPr lang="en-US" sz="1500" dirty="0"/>
          </a:p>
          <a:p>
            <a:pPr marL="0" indent="0">
              <a:buNone/>
            </a:pPr>
            <a:r>
              <a:rPr lang="en-US" sz="1300" dirty="0">
                <a:solidFill>
                  <a:schemeClr val="bg2"/>
                </a:solidFill>
              </a:rPr>
              <a:t>Adaptadores, hoy simulados</a:t>
            </a:r>
            <a:endParaRPr lang="en-US" sz="1500" dirty="0"/>
          </a:p>
        </p:txBody>
      </p:sp>
      <p:sp>
        <p:nvSpPr>
          <p:cNvPr id="34" name="Text 32"/>
          <p:cNvSpPr txBox="1"/>
          <p:nvPr/>
        </p:nvSpPr>
        <p:spPr>
          <a:xfrm>
            <a:off x="548640" y="6080760"/>
            <a:ext cx="11091672" cy="320040"/>
          </a:xfrm>
          <a:prstGeom prst="rect">
            <a:avLst/>
          </a:prstGeom>
          <a:noFill/>
          <a:ln/>
        </p:spPr>
        <p:txBody>
          <a:bodyPr wrap="square" lIns="0" tIns="0" rIns="0" bIns="0" rtlCol="0" anchor="ctr"/>
          <a:lstStyle/>
          <a:p>
            <a:pPr marL="0" indent="0">
              <a:buNone/>
            </a:pPr>
            <a:r>
              <a:rPr lang="en-US" sz="1200" i="1" dirty="0">
                <a:solidFill>
                  <a:schemeClr val="bg2"/>
                </a:solidFill>
              </a:rPr>
              <a:t>Ajuste respecto a la Fase 1: en vez de un gateway con cinco microservicios, una sola API dividida en módulos, con mucha menos infraestructura para un equipo de tres.</a:t>
            </a:r>
            <a:endParaRPr lang="en-US" sz="1200" dirty="0"/>
          </a:p>
        </p:txBody>
      </p:sp>
      <p:sp>
        <p:nvSpPr>
          <p:cNvPr id="3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APP DE BODEGA</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La bodega deja el papel</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App móvil instalable en Android: cada prenda y cada espacio de bodega tienen su código QR.</a:t>
            </a:r>
            <a:endParaRPr lang="en-US" sz="1600" dirty="0"/>
          </a:p>
        </p:txBody>
      </p:sp>
      <p:sp>
        <p:nvSpPr>
          <p:cNvPr id="5" name="marco Inicio de la app de bodega"/>
          <p:cNvSpPr/>
          <p:nvPr/>
        </p:nvSpPr>
        <p:spPr>
          <a:xfrm>
            <a:off x="512064" y="1883664"/>
            <a:ext cx="2080173" cy="4416552"/>
          </a:xfrm>
          <a:prstGeom prst="roundRect">
            <a:avLst>
              <a:gd name="adj" fmla="val 2637"/>
            </a:avLst>
          </a:prstGeom>
          <a:solidFill>
            <a:schemeClr val="accent6"/>
          </a:solidFill>
          <a:ln w="6350">
            <a:solidFill>
              <a:schemeClr val="accent6"/>
            </a:solidFill>
            <a:prstDash val="solid"/>
          </a:ln>
        </p:spPr>
        <p:txBody>
          <a:bodyPr/>
          <a:lstStyle/>
          <a:p>
            <a:endParaRPr lang="es-CL"/>
          </a:p>
        </p:txBody>
      </p:sp>
      <p:pic>
        <p:nvPicPr>
          <p:cNvPr id="6" name="Inicio de la app de bodega" descr="Inicio de la app de bodega"/>
          <p:cNvPicPr>
            <a:picLocks noChangeAspect="1"/>
          </p:cNvPicPr>
          <p:nvPr/>
        </p:nvPicPr>
        <p:blipFill>
          <a:blip r:embed="rId3"/>
          <a:stretch>
            <a:fillRect/>
          </a:stretch>
        </p:blipFill>
        <p:spPr>
          <a:xfrm>
            <a:off x="548640" y="1920240"/>
            <a:ext cx="2007021" cy="4343400"/>
          </a:xfrm>
          <a:prstGeom prst="rect">
            <a:avLst/>
          </a:prstGeom>
        </p:spPr>
      </p:pic>
      <p:sp>
        <p:nvSpPr>
          <p:cNvPr id="7" name="marco Ingreso de mercadería"/>
          <p:cNvSpPr/>
          <p:nvPr/>
        </p:nvSpPr>
        <p:spPr>
          <a:xfrm>
            <a:off x="2793405" y="1883664"/>
            <a:ext cx="2080173" cy="4416552"/>
          </a:xfrm>
          <a:prstGeom prst="roundRect">
            <a:avLst>
              <a:gd name="adj" fmla="val 2637"/>
            </a:avLst>
          </a:prstGeom>
          <a:solidFill>
            <a:schemeClr val="accent6"/>
          </a:solidFill>
          <a:ln w="6350">
            <a:solidFill>
              <a:schemeClr val="accent6"/>
            </a:solidFill>
            <a:prstDash val="solid"/>
          </a:ln>
        </p:spPr>
        <p:txBody>
          <a:bodyPr/>
          <a:lstStyle/>
          <a:p>
            <a:endParaRPr lang="es-CL"/>
          </a:p>
        </p:txBody>
      </p:sp>
      <p:pic>
        <p:nvPicPr>
          <p:cNvPr id="8" name="Ingreso de mercadería" descr="Ingreso de mercadería"/>
          <p:cNvPicPr>
            <a:picLocks noChangeAspect="1"/>
          </p:cNvPicPr>
          <p:nvPr/>
        </p:nvPicPr>
        <p:blipFill>
          <a:blip r:embed="rId4"/>
          <a:stretch>
            <a:fillRect/>
          </a:stretch>
        </p:blipFill>
        <p:spPr>
          <a:xfrm>
            <a:off x="2829981" y="1920240"/>
            <a:ext cx="2007021" cy="4343400"/>
          </a:xfrm>
          <a:prstGeom prst="rect">
            <a:avLst/>
          </a:prstGeom>
        </p:spPr>
      </p:pic>
      <p:sp>
        <p:nvSpPr>
          <p:cNvPr id="9" name="marco Etiquetas QR"/>
          <p:cNvSpPr/>
          <p:nvPr/>
        </p:nvSpPr>
        <p:spPr>
          <a:xfrm>
            <a:off x="5074747" y="1883664"/>
            <a:ext cx="2080173" cy="4416552"/>
          </a:xfrm>
          <a:prstGeom prst="roundRect">
            <a:avLst>
              <a:gd name="adj" fmla="val 2637"/>
            </a:avLst>
          </a:prstGeom>
          <a:solidFill>
            <a:schemeClr val="accent6"/>
          </a:solidFill>
          <a:ln w="6350">
            <a:solidFill>
              <a:schemeClr val="accent6"/>
            </a:solidFill>
            <a:prstDash val="solid"/>
          </a:ln>
        </p:spPr>
        <p:txBody>
          <a:bodyPr/>
          <a:lstStyle/>
          <a:p>
            <a:endParaRPr lang="es-CL"/>
          </a:p>
        </p:txBody>
      </p:sp>
      <p:pic>
        <p:nvPicPr>
          <p:cNvPr id="10" name="Etiquetas QR" descr="Etiquetas QR"/>
          <p:cNvPicPr>
            <a:picLocks noChangeAspect="1"/>
          </p:cNvPicPr>
          <p:nvPr/>
        </p:nvPicPr>
        <p:blipFill>
          <a:blip r:embed="rId5"/>
          <a:stretch>
            <a:fillRect/>
          </a:stretch>
        </p:blipFill>
        <p:spPr>
          <a:xfrm>
            <a:off x="5111323" y="1920240"/>
            <a:ext cx="2007021" cy="4343400"/>
          </a:xfrm>
          <a:prstGeom prst="rect">
            <a:avLst/>
          </a:prstGeom>
        </p:spPr>
      </p:pic>
      <p:sp>
        <p:nvSpPr>
          <p:cNvPr id="11" name="insignia +"/>
          <p:cNvSpPr/>
          <p:nvPr/>
        </p:nvSpPr>
        <p:spPr>
          <a:xfrm>
            <a:off x="7635240" y="2011680"/>
            <a:ext cx="457200" cy="457200"/>
          </a:xfrm>
          <a:prstGeom prst="ellipse">
            <a:avLst/>
          </a:prstGeom>
          <a:solidFill>
            <a:srgbClr val="F0A93B">
              <a:alpha val="22000"/>
            </a:srgbClr>
          </a:solidFill>
          <a:ln w="15875">
            <a:solidFill>
              <a:srgbClr val="F0A93B"/>
            </a:solidFill>
            <a:prstDash val="solid"/>
          </a:ln>
        </p:spPr>
        <p:txBody>
          <a:bodyPr/>
          <a:lstStyle/>
          <a:p>
            <a:endParaRPr lang="es-CL"/>
          </a:p>
        </p:txBody>
      </p:sp>
      <p:sp>
        <p:nvSpPr>
          <p:cNvPr id="12" name="Text 7"/>
          <p:cNvSpPr txBox="1"/>
          <p:nvPr/>
        </p:nvSpPr>
        <p:spPr>
          <a:xfrm>
            <a:off x="7635240" y="2011680"/>
            <a:ext cx="457200" cy="457200"/>
          </a:xfrm>
          <a:prstGeom prst="rect">
            <a:avLst/>
          </a:prstGeom>
          <a:noFill/>
          <a:ln/>
        </p:spPr>
        <p:txBody>
          <a:bodyPr wrap="square" lIns="0" tIns="0" rIns="0" bIns="0" rtlCol="0" anchor="ctr"/>
          <a:lstStyle/>
          <a:p>
            <a:pPr marL="0" indent="0" algn="ctr">
              <a:buNone/>
            </a:pPr>
            <a:r>
              <a:rPr lang="en-US" sz="1500" b="1" dirty="0">
                <a:solidFill>
                  <a:srgbClr val="F0A93B"/>
                </a:solidFill>
              </a:rPr>
              <a:t>+</a:t>
            </a:r>
            <a:endParaRPr lang="en-US" sz="1500" dirty="0"/>
          </a:p>
        </p:txBody>
      </p:sp>
      <p:sp>
        <p:nvSpPr>
          <p:cNvPr id="13" name="Text 8"/>
          <p:cNvSpPr txBox="1"/>
          <p:nvPr/>
        </p:nvSpPr>
        <p:spPr>
          <a:xfrm>
            <a:off x="8275320" y="1947672"/>
            <a:ext cx="336499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Ingreso de mercadería</a:t>
            </a:r>
            <a:endParaRPr lang="en-US" sz="1600" dirty="0"/>
          </a:p>
          <a:p>
            <a:pPr marL="0" indent="0">
              <a:spcAft>
                <a:spcPts val="200"/>
              </a:spcAft>
              <a:buNone/>
            </a:pPr>
            <a:r>
              <a:rPr lang="en-US" sz="1400" dirty="0">
                <a:solidFill>
                  <a:schemeClr val="bg2"/>
                </a:solidFill>
              </a:rPr>
              <a:t>Prendas nuevas con foto, talla y color; el SKU se asigna solo.</a:t>
            </a:r>
            <a:endParaRPr lang="en-US" sz="1600" dirty="0"/>
          </a:p>
        </p:txBody>
      </p:sp>
      <p:sp>
        <p:nvSpPr>
          <p:cNvPr id="14" name="insignia QR"/>
          <p:cNvSpPr/>
          <p:nvPr/>
        </p:nvSpPr>
        <p:spPr>
          <a:xfrm>
            <a:off x="7635240" y="3063240"/>
            <a:ext cx="457200" cy="457200"/>
          </a:xfrm>
          <a:prstGeom prst="ellipse">
            <a:avLst/>
          </a:prstGeom>
          <a:solidFill>
            <a:srgbClr val="F0A93B">
              <a:alpha val="22000"/>
            </a:srgbClr>
          </a:solidFill>
          <a:ln w="15875">
            <a:solidFill>
              <a:srgbClr val="F0A93B"/>
            </a:solidFill>
            <a:prstDash val="solid"/>
          </a:ln>
        </p:spPr>
        <p:txBody>
          <a:bodyPr/>
          <a:lstStyle/>
          <a:p>
            <a:endParaRPr lang="es-CL"/>
          </a:p>
        </p:txBody>
      </p:sp>
      <p:sp>
        <p:nvSpPr>
          <p:cNvPr id="15" name="Text 10"/>
          <p:cNvSpPr txBox="1"/>
          <p:nvPr/>
        </p:nvSpPr>
        <p:spPr>
          <a:xfrm>
            <a:off x="7635240" y="3063240"/>
            <a:ext cx="457200" cy="457200"/>
          </a:xfrm>
          <a:prstGeom prst="rect">
            <a:avLst/>
          </a:prstGeom>
          <a:noFill/>
          <a:ln/>
        </p:spPr>
        <p:txBody>
          <a:bodyPr wrap="square" lIns="0" tIns="0" rIns="0" bIns="0" rtlCol="0" anchor="ctr"/>
          <a:lstStyle/>
          <a:p>
            <a:pPr marL="0" indent="0" algn="ctr">
              <a:buNone/>
            </a:pPr>
            <a:r>
              <a:rPr lang="en-US" sz="1500" b="1" dirty="0">
                <a:solidFill>
                  <a:srgbClr val="F0A93B"/>
                </a:solidFill>
              </a:rPr>
              <a:t>QR</a:t>
            </a:r>
            <a:endParaRPr lang="en-US" sz="1500" dirty="0"/>
          </a:p>
        </p:txBody>
      </p:sp>
      <p:sp>
        <p:nvSpPr>
          <p:cNvPr id="16" name="Text 11"/>
          <p:cNvSpPr txBox="1"/>
          <p:nvPr/>
        </p:nvSpPr>
        <p:spPr>
          <a:xfrm>
            <a:off x="8275320" y="2999232"/>
            <a:ext cx="336499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Etiquetas y escaneo</a:t>
            </a:r>
            <a:endParaRPr lang="en-US" sz="1600" dirty="0"/>
          </a:p>
          <a:p>
            <a:pPr marL="0" indent="0">
              <a:spcAft>
                <a:spcPts val="200"/>
              </a:spcAft>
              <a:buNone/>
            </a:pPr>
            <a:r>
              <a:rPr lang="en-US" sz="1400" dirty="0">
                <a:solidFill>
                  <a:schemeClr val="bg2"/>
                </a:solidFill>
              </a:rPr>
              <a:t>QR por prenda y por espacio; al escanear se ve el stock y dónde está.</a:t>
            </a:r>
            <a:endParaRPr lang="en-US" sz="1600" dirty="0"/>
          </a:p>
        </p:txBody>
      </p:sp>
      <p:sp>
        <p:nvSpPr>
          <p:cNvPr id="17" name="insignia !"/>
          <p:cNvSpPr/>
          <p:nvPr/>
        </p:nvSpPr>
        <p:spPr>
          <a:xfrm>
            <a:off x="7635240" y="4114800"/>
            <a:ext cx="457200" cy="457200"/>
          </a:xfrm>
          <a:prstGeom prst="ellipse">
            <a:avLst/>
          </a:prstGeom>
          <a:solidFill>
            <a:srgbClr val="F0A93B">
              <a:alpha val="22000"/>
            </a:srgbClr>
          </a:solidFill>
          <a:ln w="15875">
            <a:solidFill>
              <a:srgbClr val="F0A93B"/>
            </a:solidFill>
            <a:prstDash val="solid"/>
          </a:ln>
        </p:spPr>
        <p:txBody>
          <a:bodyPr/>
          <a:lstStyle/>
          <a:p>
            <a:endParaRPr lang="es-CL"/>
          </a:p>
        </p:txBody>
      </p:sp>
      <p:sp>
        <p:nvSpPr>
          <p:cNvPr id="18" name="Text 13"/>
          <p:cNvSpPr txBox="1"/>
          <p:nvPr/>
        </p:nvSpPr>
        <p:spPr>
          <a:xfrm>
            <a:off x="7635240" y="4114800"/>
            <a:ext cx="457200" cy="457200"/>
          </a:xfrm>
          <a:prstGeom prst="rect">
            <a:avLst/>
          </a:prstGeom>
          <a:noFill/>
          <a:ln/>
        </p:spPr>
        <p:txBody>
          <a:bodyPr wrap="square" lIns="0" tIns="0" rIns="0" bIns="0" rtlCol="0" anchor="ctr"/>
          <a:lstStyle/>
          <a:p>
            <a:pPr marL="0" indent="0" algn="ctr">
              <a:buNone/>
            </a:pPr>
            <a:r>
              <a:rPr lang="en-US" sz="1500" b="1" dirty="0">
                <a:solidFill>
                  <a:srgbClr val="F0A93B"/>
                </a:solidFill>
              </a:rPr>
              <a:t>!</a:t>
            </a:r>
            <a:endParaRPr lang="en-US" sz="1500" dirty="0"/>
          </a:p>
        </p:txBody>
      </p:sp>
      <p:sp>
        <p:nvSpPr>
          <p:cNvPr id="19" name="Text 14"/>
          <p:cNvSpPr txBox="1"/>
          <p:nvPr/>
        </p:nvSpPr>
        <p:spPr>
          <a:xfrm>
            <a:off x="8275320" y="4050792"/>
            <a:ext cx="336499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Mermas, traspasos y conteos</a:t>
            </a:r>
            <a:endParaRPr lang="en-US" sz="1600" dirty="0"/>
          </a:p>
          <a:p>
            <a:pPr marL="0" indent="0">
              <a:spcAft>
                <a:spcPts val="200"/>
              </a:spcAft>
              <a:buNone/>
            </a:pPr>
            <a:r>
              <a:rPr lang="en-US" sz="1400" dirty="0">
                <a:solidFill>
                  <a:schemeClr val="bg2"/>
                </a:solidFill>
              </a:rPr>
              <a:t>Cada movimiento descuenta stock y deja registro con su responsable.</a:t>
            </a:r>
            <a:endParaRPr lang="en-US" sz="1600" dirty="0"/>
          </a:p>
        </p:txBody>
      </p:sp>
      <p:sp>
        <p:nvSpPr>
          <p:cNvPr id="20" name="insignia →"/>
          <p:cNvSpPr/>
          <p:nvPr/>
        </p:nvSpPr>
        <p:spPr>
          <a:xfrm>
            <a:off x="7635240" y="5166360"/>
            <a:ext cx="457200" cy="457200"/>
          </a:xfrm>
          <a:prstGeom prst="ellipse">
            <a:avLst/>
          </a:prstGeom>
          <a:solidFill>
            <a:srgbClr val="F0A93B">
              <a:alpha val="22000"/>
            </a:srgbClr>
          </a:solidFill>
          <a:ln w="15875">
            <a:solidFill>
              <a:srgbClr val="F0A93B"/>
            </a:solidFill>
            <a:prstDash val="solid"/>
          </a:ln>
        </p:spPr>
        <p:txBody>
          <a:bodyPr/>
          <a:lstStyle/>
          <a:p>
            <a:endParaRPr lang="es-CL"/>
          </a:p>
        </p:txBody>
      </p:sp>
      <p:sp>
        <p:nvSpPr>
          <p:cNvPr id="21" name="Text 16"/>
          <p:cNvSpPr txBox="1"/>
          <p:nvPr/>
        </p:nvSpPr>
        <p:spPr>
          <a:xfrm>
            <a:off x="7635240" y="5166360"/>
            <a:ext cx="457200" cy="457200"/>
          </a:xfrm>
          <a:prstGeom prst="rect">
            <a:avLst/>
          </a:prstGeom>
          <a:noFill/>
          <a:ln/>
        </p:spPr>
        <p:txBody>
          <a:bodyPr wrap="square" lIns="0" tIns="0" rIns="0" bIns="0" rtlCol="0" anchor="ctr"/>
          <a:lstStyle/>
          <a:p>
            <a:pPr marL="0" indent="0" algn="ctr">
              <a:buNone/>
            </a:pPr>
            <a:r>
              <a:rPr lang="en-US" sz="1500" b="1" dirty="0">
                <a:solidFill>
                  <a:srgbClr val="F0A93B"/>
                </a:solidFill>
              </a:rPr>
              <a:t>→</a:t>
            </a:r>
            <a:endParaRPr lang="en-US" sz="1500" dirty="0"/>
          </a:p>
        </p:txBody>
      </p:sp>
      <p:sp>
        <p:nvSpPr>
          <p:cNvPr id="22" name="Text 17"/>
          <p:cNvSpPr txBox="1"/>
          <p:nvPr/>
        </p:nvSpPr>
        <p:spPr>
          <a:xfrm>
            <a:off x="8275320" y="5102352"/>
            <a:ext cx="336499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Envíos</a:t>
            </a:r>
            <a:endParaRPr lang="en-US" sz="1600" dirty="0"/>
          </a:p>
          <a:p>
            <a:pPr marL="0" indent="0">
              <a:spcAft>
                <a:spcPts val="200"/>
              </a:spcAft>
              <a:buNone/>
            </a:pPr>
            <a:r>
              <a:rPr lang="en-US" sz="1400" dirty="0">
                <a:solidFill>
                  <a:schemeClr val="bg2"/>
                </a:solidFill>
              </a:rPr>
              <a:t>Pedidos web listos para preparar y despachar.</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PUNTO DE VENTA</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Vender en la tienda física</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El POS descuenta del mismo inventario que la web, en el momento de la venta.</a:t>
            </a:r>
            <a:endParaRPr lang="en-US" sz="1600" dirty="0"/>
          </a:p>
        </p:txBody>
      </p:sp>
      <p:sp>
        <p:nvSpPr>
          <p:cNvPr id="5" name="marco POS con buscador, escáner y carrito"/>
          <p:cNvSpPr/>
          <p:nvPr/>
        </p:nvSpPr>
        <p:spPr>
          <a:xfrm>
            <a:off x="512064" y="1883664"/>
            <a:ext cx="6839712" cy="4302252"/>
          </a:xfrm>
          <a:prstGeom prst="roundRect">
            <a:avLst>
              <a:gd name="adj" fmla="val 1275"/>
            </a:avLst>
          </a:prstGeom>
          <a:solidFill>
            <a:schemeClr val="accent6"/>
          </a:solidFill>
          <a:ln w="6350">
            <a:solidFill>
              <a:schemeClr val="accent6"/>
            </a:solidFill>
            <a:prstDash val="solid"/>
          </a:ln>
        </p:spPr>
        <p:txBody>
          <a:bodyPr/>
          <a:lstStyle/>
          <a:p>
            <a:endParaRPr lang="es-CL"/>
          </a:p>
        </p:txBody>
      </p:sp>
      <p:pic>
        <p:nvPicPr>
          <p:cNvPr id="6" name="POS con buscador, escáner y carrito" descr="POS con buscador, escáner y carrito"/>
          <p:cNvPicPr>
            <a:picLocks noChangeAspect="1"/>
          </p:cNvPicPr>
          <p:nvPr/>
        </p:nvPicPr>
        <p:blipFill>
          <a:blip r:embed="rId3"/>
          <a:stretch>
            <a:fillRect/>
          </a:stretch>
        </p:blipFill>
        <p:spPr>
          <a:xfrm>
            <a:off x="548640" y="1920240"/>
            <a:ext cx="6766560" cy="4229100"/>
          </a:xfrm>
          <a:prstGeom prst="rect">
            <a:avLst/>
          </a:prstGeom>
        </p:spPr>
      </p:pic>
      <p:sp>
        <p:nvSpPr>
          <p:cNvPr id="7" name="insignia 1"/>
          <p:cNvSpPr/>
          <p:nvPr/>
        </p:nvSpPr>
        <p:spPr>
          <a:xfrm>
            <a:off x="7680960" y="2011680"/>
            <a:ext cx="457200" cy="45720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8" name="Text 5"/>
          <p:cNvSpPr txBox="1"/>
          <p:nvPr/>
        </p:nvSpPr>
        <p:spPr>
          <a:xfrm>
            <a:off x="7680960" y="2011680"/>
            <a:ext cx="457200" cy="457200"/>
          </a:xfrm>
          <a:prstGeom prst="rect">
            <a:avLst/>
          </a:prstGeom>
          <a:noFill/>
          <a:ln/>
        </p:spPr>
        <p:txBody>
          <a:bodyPr wrap="square" lIns="0" tIns="0" rIns="0" bIns="0" rtlCol="0" anchor="ctr"/>
          <a:lstStyle/>
          <a:p>
            <a:pPr marL="0" indent="0" algn="ctr">
              <a:buNone/>
            </a:pPr>
            <a:r>
              <a:rPr lang="en-US" sz="1500" b="1" dirty="0">
                <a:solidFill>
                  <a:srgbClr val="E0283F"/>
                </a:solidFill>
              </a:rPr>
              <a:t>1</a:t>
            </a:r>
            <a:endParaRPr lang="en-US" sz="1500" dirty="0"/>
          </a:p>
        </p:txBody>
      </p:sp>
      <p:sp>
        <p:nvSpPr>
          <p:cNvPr id="9" name="Text 6"/>
          <p:cNvSpPr txBox="1"/>
          <p:nvPr/>
        </p:nvSpPr>
        <p:spPr>
          <a:xfrm>
            <a:off x="8321040" y="1947672"/>
            <a:ext cx="331927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Escanea o busca</a:t>
            </a:r>
            <a:endParaRPr lang="en-US" sz="1600" dirty="0"/>
          </a:p>
          <a:p>
            <a:pPr marL="0" indent="0">
              <a:spcAft>
                <a:spcPts val="200"/>
              </a:spcAft>
              <a:buNone/>
            </a:pPr>
            <a:r>
              <a:rPr lang="en-US" sz="1400" dirty="0">
                <a:solidFill>
                  <a:schemeClr val="bg2"/>
                </a:solidFill>
              </a:rPr>
              <a:t>Cámara, pistola USB o búsqueda por nombre, banda o SKU.</a:t>
            </a:r>
            <a:endParaRPr lang="en-US" sz="1600" dirty="0"/>
          </a:p>
        </p:txBody>
      </p:sp>
      <p:sp>
        <p:nvSpPr>
          <p:cNvPr id="10" name="insignia 2"/>
          <p:cNvSpPr/>
          <p:nvPr/>
        </p:nvSpPr>
        <p:spPr>
          <a:xfrm>
            <a:off x="7680960" y="3063240"/>
            <a:ext cx="457200" cy="45720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11" name="Text 8"/>
          <p:cNvSpPr txBox="1"/>
          <p:nvPr/>
        </p:nvSpPr>
        <p:spPr>
          <a:xfrm>
            <a:off x="7680960" y="3063240"/>
            <a:ext cx="457200" cy="457200"/>
          </a:xfrm>
          <a:prstGeom prst="rect">
            <a:avLst/>
          </a:prstGeom>
          <a:noFill/>
          <a:ln/>
        </p:spPr>
        <p:txBody>
          <a:bodyPr wrap="square" lIns="0" tIns="0" rIns="0" bIns="0" rtlCol="0" anchor="ctr"/>
          <a:lstStyle/>
          <a:p>
            <a:pPr marL="0" indent="0" algn="ctr">
              <a:buNone/>
            </a:pPr>
            <a:r>
              <a:rPr lang="en-US" sz="1500" b="1" dirty="0">
                <a:solidFill>
                  <a:srgbClr val="E0283F"/>
                </a:solidFill>
              </a:rPr>
              <a:t>2</a:t>
            </a:r>
            <a:endParaRPr lang="en-US" sz="1500" dirty="0"/>
          </a:p>
        </p:txBody>
      </p:sp>
      <p:sp>
        <p:nvSpPr>
          <p:cNvPr id="12" name="Text 9"/>
          <p:cNvSpPr txBox="1"/>
          <p:nvPr/>
        </p:nvSpPr>
        <p:spPr>
          <a:xfrm>
            <a:off x="8321040" y="2999232"/>
            <a:ext cx="331927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Cobra</a:t>
            </a:r>
            <a:endParaRPr lang="en-US" sz="1600" dirty="0"/>
          </a:p>
          <a:p>
            <a:pPr marL="0" indent="0">
              <a:spcAft>
                <a:spcPts val="200"/>
              </a:spcAft>
              <a:buNone/>
            </a:pPr>
            <a:r>
              <a:rPr lang="en-US" sz="1400" dirty="0">
                <a:solidFill>
                  <a:schemeClr val="bg2"/>
                </a:solidFill>
              </a:rPr>
              <a:t>Efectivo, o tarjeta en la máquina de cobro; queda su autorización.</a:t>
            </a:r>
            <a:endParaRPr lang="en-US" sz="1600" dirty="0"/>
          </a:p>
        </p:txBody>
      </p:sp>
      <p:sp>
        <p:nvSpPr>
          <p:cNvPr id="13" name="insignia 3"/>
          <p:cNvSpPr/>
          <p:nvPr/>
        </p:nvSpPr>
        <p:spPr>
          <a:xfrm>
            <a:off x="7680960" y="4114800"/>
            <a:ext cx="457200" cy="45720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14" name="Text 11"/>
          <p:cNvSpPr txBox="1"/>
          <p:nvPr/>
        </p:nvSpPr>
        <p:spPr>
          <a:xfrm>
            <a:off x="7680960" y="4114800"/>
            <a:ext cx="457200" cy="457200"/>
          </a:xfrm>
          <a:prstGeom prst="rect">
            <a:avLst/>
          </a:prstGeom>
          <a:noFill/>
          <a:ln/>
        </p:spPr>
        <p:txBody>
          <a:bodyPr wrap="square" lIns="0" tIns="0" rIns="0" bIns="0" rtlCol="0" anchor="ctr"/>
          <a:lstStyle/>
          <a:p>
            <a:pPr marL="0" indent="0" algn="ctr">
              <a:buNone/>
            </a:pPr>
            <a:r>
              <a:rPr lang="en-US" sz="1500" b="1" dirty="0">
                <a:solidFill>
                  <a:srgbClr val="E0283F"/>
                </a:solidFill>
              </a:rPr>
              <a:t>3</a:t>
            </a:r>
            <a:endParaRPr lang="en-US" sz="1500" dirty="0"/>
          </a:p>
        </p:txBody>
      </p:sp>
      <p:sp>
        <p:nvSpPr>
          <p:cNvPr id="15" name="Text 12"/>
          <p:cNvSpPr txBox="1"/>
          <p:nvPr/>
        </p:nvSpPr>
        <p:spPr>
          <a:xfrm>
            <a:off x="8321040" y="4050792"/>
            <a:ext cx="331927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Emite la boleta</a:t>
            </a:r>
            <a:endParaRPr lang="en-US" sz="1600" dirty="0"/>
          </a:p>
          <a:p>
            <a:pPr marL="0" indent="0">
              <a:spcAft>
                <a:spcPts val="200"/>
              </a:spcAft>
              <a:buNone/>
            </a:pPr>
            <a:r>
              <a:rPr lang="en-US" sz="1400" dirty="0">
                <a:solidFill>
                  <a:schemeClr val="bg2"/>
                </a:solidFill>
              </a:rPr>
              <a:t>Comprobante interno y stock descontado al instante.</a:t>
            </a:r>
            <a:endParaRPr lang="en-US" sz="1600" dirty="0"/>
          </a:p>
        </p:txBody>
      </p:sp>
      <p:sp>
        <p:nvSpPr>
          <p:cNvPr id="16" name="insignia B"/>
          <p:cNvSpPr/>
          <p:nvPr/>
        </p:nvSpPr>
        <p:spPr>
          <a:xfrm>
            <a:off x="7680960" y="5166360"/>
            <a:ext cx="457200" cy="457200"/>
          </a:xfrm>
          <a:prstGeom prst="ellipse">
            <a:avLst/>
          </a:prstGeom>
          <a:solidFill>
            <a:srgbClr val="F0A93B">
              <a:alpha val="22000"/>
            </a:srgbClr>
          </a:solidFill>
          <a:ln w="15875">
            <a:solidFill>
              <a:srgbClr val="F0A93B"/>
            </a:solidFill>
            <a:prstDash val="solid"/>
          </a:ln>
        </p:spPr>
        <p:txBody>
          <a:bodyPr/>
          <a:lstStyle/>
          <a:p>
            <a:endParaRPr lang="es-CL"/>
          </a:p>
        </p:txBody>
      </p:sp>
      <p:sp>
        <p:nvSpPr>
          <p:cNvPr id="17" name="Text 14"/>
          <p:cNvSpPr txBox="1"/>
          <p:nvPr/>
        </p:nvSpPr>
        <p:spPr>
          <a:xfrm>
            <a:off x="7680960" y="5166360"/>
            <a:ext cx="457200" cy="457200"/>
          </a:xfrm>
          <a:prstGeom prst="rect">
            <a:avLst/>
          </a:prstGeom>
          <a:noFill/>
          <a:ln/>
        </p:spPr>
        <p:txBody>
          <a:bodyPr wrap="square" lIns="0" tIns="0" rIns="0" bIns="0" rtlCol="0" anchor="ctr"/>
          <a:lstStyle/>
          <a:p>
            <a:pPr marL="0" indent="0" algn="ctr">
              <a:buNone/>
            </a:pPr>
            <a:r>
              <a:rPr lang="en-US" sz="1500" b="1" dirty="0">
                <a:solidFill>
                  <a:srgbClr val="F0A93B"/>
                </a:solidFill>
              </a:rPr>
              <a:t>B</a:t>
            </a:r>
            <a:endParaRPr lang="en-US" sz="1500" dirty="0"/>
          </a:p>
        </p:txBody>
      </p:sp>
      <p:sp>
        <p:nvSpPr>
          <p:cNvPr id="18" name="Text 15"/>
          <p:cNvSpPr txBox="1"/>
          <p:nvPr/>
        </p:nvSpPr>
        <p:spPr>
          <a:xfrm>
            <a:off x="8321040" y="5102352"/>
            <a:ext cx="331927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Retiro desde bodega</a:t>
            </a:r>
            <a:endParaRPr lang="en-US" sz="1600" dirty="0"/>
          </a:p>
          <a:p>
            <a:pPr marL="0" indent="0">
              <a:spcAft>
                <a:spcPts val="200"/>
              </a:spcAft>
              <a:buNone/>
            </a:pPr>
            <a:r>
              <a:rPr lang="en-US" sz="1400" dirty="0">
                <a:solidFill>
                  <a:schemeClr val="bg2"/>
                </a:solidFill>
              </a:rPr>
              <a:t>Si la sala no alcanza, ofrece sacar la prenda de bodega.</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TIENDA WEB</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Comprar online con stock real</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El cliente solo ve lo que existe, paga, sigue su pedido y tiene ayuda en el chat.</a:t>
            </a:r>
            <a:endParaRPr lang="en-US" sz="1600" dirty="0"/>
          </a:p>
        </p:txBody>
      </p:sp>
      <p:sp>
        <p:nvSpPr>
          <p:cNvPr id="5" name="marco Catálogo de la tienda web"/>
          <p:cNvSpPr/>
          <p:nvPr/>
        </p:nvSpPr>
        <p:spPr>
          <a:xfrm>
            <a:off x="512064" y="1929384"/>
            <a:ext cx="5468112" cy="3445002"/>
          </a:xfrm>
          <a:prstGeom prst="roundRect">
            <a:avLst>
              <a:gd name="adj" fmla="val 1593"/>
            </a:avLst>
          </a:prstGeom>
          <a:solidFill>
            <a:schemeClr val="accent6"/>
          </a:solidFill>
          <a:ln w="6350">
            <a:solidFill>
              <a:schemeClr val="accent6"/>
            </a:solidFill>
            <a:prstDash val="solid"/>
          </a:ln>
        </p:spPr>
        <p:txBody>
          <a:bodyPr/>
          <a:lstStyle/>
          <a:p>
            <a:endParaRPr lang="es-CL"/>
          </a:p>
        </p:txBody>
      </p:sp>
      <p:pic>
        <p:nvPicPr>
          <p:cNvPr id="6" name="Catálogo de la tienda web" descr="Catálogo de la tienda web"/>
          <p:cNvPicPr>
            <a:picLocks noChangeAspect="1"/>
          </p:cNvPicPr>
          <p:nvPr/>
        </p:nvPicPr>
        <p:blipFill>
          <a:blip r:embed="rId3"/>
          <a:stretch>
            <a:fillRect/>
          </a:stretch>
        </p:blipFill>
        <p:spPr>
          <a:xfrm>
            <a:off x="548640" y="1965960"/>
            <a:ext cx="5394960" cy="3371850"/>
          </a:xfrm>
          <a:prstGeom prst="rect">
            <a:avLst/>
          </a:prstGeom>
        </p:spPr>
      </p:pic>
      <p:sp>
        <p:nvSpPr>
          <p:cNvPr id="7" name="marco Roxy, asistente de soporte"/>
          <p:cNvSpPr/>
          <p:nvPr/>
        </p:nvSpPr>
        <p:spPr>
          <a:xfrm>
            <a:off x="6208776" y="1929384"/>
            <a:ext cx="5468112" cy="3445002"/>
          </a:xfrm>
          <a:prstGeom prst="roundRect">
            <a:avLst>
              <a:gd name="adj" fmla="val 1593"/>
            </a:avLst>
          </a:prstGeom>
          <a:solidFill>
            <a:schemeClr val="accent6"/>
          </a:solidFill>
          <a:ln w="6350">
            <a:solidFill>
              <a:schemeClr val="accent6"/>
            </a:solidFill>
            <a:prstDash val="solid"/>
          </a:ln>
        </p:spPr>
        <p:txBody>
          <a:bodyPr/>
          <a:lstStyle/>
          <a:p>
            <a:endParaRPr lang="es-CL"/>
          </a:p>
        </p:txBody>
      </p:sp>
      <p:pic>
        <p:nvPicPr>
          <p:cNvPr id="8" name="Roxy, asistente de soporte" descr="Roxy, asistente de soporte"/>
          <p:cNvPicPr>
            <a:picLocks noChangeAspect="1"/>
          </p:cNvPicPr>
          <p:nvPr/>
        </p:nvPicPr>
        <p:blipFill>
          <a:blip r:embed="rId4"/>
          <a:stretch>
            <a:fillRect/>
          </a:stretch>
        </p:blipFill>
        <p:spPr>
          <a:xfrm>
            <a:off x="6245352" y="1965960"/>
            <a:ext cx="5394960" cy="3371850"/>
          </a:xfrm>
          <a:prstGeom prst="rect">
            <a:avLst/>
          </a:prstGeom>
        </p:spPr>
      </p:pic>
      <p:sp>
        <p:nvSpPr>
          <p:cNvPr id="9" name="Text 5"/>
          <p:cNvSpPr txBox="1"/>
          <p:nvPr/>
        </p:nvSpPr>
        <p:spPr>
          <a:xfrm>
            <a:off x="548640" y="5520690"/>
            <a:ext cx="5394960" cy="685800"/>
          </a:xfrm>
          <a:prstGeom prst="rect">
            <a:avLst/>
          </a:prstGeom>
          <a:noFill/>
          <a:ln/>
        </p:spPr>
        <p:txBody>
          <a:bodyPr wrap="square" lIns="0" tIns="0" rIns="0" bIns="0" rtlCol="0" anchor="t"/>
          <a:lstStyle/>
          <a:p>
            <a:pPr marL="0" indent="0">
              <a:buNone/>
            </a:pPr>
            <a:r>
              <a:rPr lang="en-US" sz="1400" b="1" dirty="0">
                <a:solidFill>
                  <a:schemeClr val="bg1"/>
                </a:solidFill>
              </a:rPr>
              <a:t>Catálogo, carrito y pago. </a:t>
            </a:r>
            <a:r>
              <a:rPr lang="en-US" sz="1400" dirty="0">
                <a:solidFill>
                  <a:schemeClr val="bg2"/>
                </a:solidFill>
              </a:rPr>
              <a:t>Stock en tiempo real, checkout con Webpay y despacho Starken (simulados), y seguimiento en Mis pedidos.</a:t>
            </a:r>
            <a:endParaRPr lang="en-US" sz="1400" dirty="0"/>
          </a:p>
        </p:txBody>
      </p:sp>
      <p:sp>
        <p:nvSpPr>
          <p:cNvPr id="10" name="Text 6"/>
          <p:cNvSpPr txBox="1"/>
          <p:nvPr/>
        </p:nvSpPr>
        <p:spPr>
          <a:xfrm>
            <a:off x="6245352" y="5520690"/>
            <a:ext cx="5394960" cy="685800"/>
          </a:xfrm>
          <a:prstGeom prst="rect">
            <a:avLst/>
          </a:prstGeom>
          <a:noFill/>
          <a:ln/>
        </p:spPr>
        <p:txBody>
          <a:bodyPr wrap="square" lIns="0" tIns="0" rIns="0" bIns="0" rtlCol="0" anchor="t"/>
          <a:lstStyle/>
          <a:p>
            <a:pPr marL="0" indent="0">
              <a:buNone/>
            </a:pPr>
            <a:r>
              <a:rPr lang="en-US" sz="1400" b="1" dirty="0">
                <a:solidFill>
                  <a:schemeClr val="bg1"/>
                </a:solidFill>
              </a:rPr>
              <a:t>Roxy, asistente de soporte. </a:t>
            </a:r>
            <a:r>
              <a:rPr lang="en-US" sz="1400" dirty="0">
                <a:solidFill>
                  <a:schemeClr val="bg2"/>
                </a:solidFill>
              </a:rPr>
              <a:t>Responde según la conversación, con precios, tallas y pedidos reales. Funciona con reglas, sin costo por mensaje.</a:t>
            </a:r>
            <a:endParaRPr lang="en-US" sz="14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DIFERENCIADOR</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Probador virtual 3D</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El cliente se prueba la prenda en un cuerpo con sus medidas antes de comprar.</a:t>
            </a:r>
            <a:endParaRPr lang="en-US" sz="1600" dirty="0"/>
          </a:p>
        </p:txBody>
      </p:sp>
      <p:sp>
        <p:nvSpPr>
          <p:cNvPr id="5" name="marco Probador virtual 3D con recomendación de talla"/>
          <p:cNvSpPr/>
          <p:nvPr/>
        </p:nvSpPr>
        <p:spPr>
          <a:xfrm>
            <a:off x="512064" y="1883664"/>
            <a:ext cx="6839712" cy="4302252"/>
          </a:xfrm>
          <a:prstGeom prst="roundRect">
            <a:avLst>
              <a:gd name="adj" fmla="val 1275"/>
            </a:avLst>
          </a:prstGeom>
          <a:solidFill>
            <a:schemeClr val="accent6"/>
          </a:solidFill>
          <a:ln w="6350">
            <a:solidFill>
              <a:schemeClr val="accent6"/>
            </a:solidFill>
            <a:prstDash val="solid"/>
          </a:ln>
        </p:spPr>
        <p:txBody>
          <a:bodyPr/>
          <a:lstStyle/>
          <a:p>
            <a:endParaRPr lang="es-CL"/>
          </a:p>
        </p:txBody>
      </p:sp>
      <p:pic>
        <p:nvPicPr>
          <p:cNvPr id="6" name="Probador virtual 3D con recomendación de talla" descr="Probador virtual 3D con recomendación de talla"/>
          <p:cNvPicPr>
            <a:picLocks noChangeAspect="1"/>
          </p:cNvPicPr>
          <p:nvPr/>
        </p:nvPicPr>
        <p:blipFill>
          <a:blip r:embed="rId3"/>
          <a:stretch>
            <a:fillRect/>
          </a:stretch>
        </p:blipFill>
        <p:spPr>
          <a:xfrm>
            <a:off x="548640" y="1965960"/>
            <a:ext cx="6766560" cy="4229100"/>
          </a:xfrm>
          <a:prstGeom prst="rect">
            <a:avLst/>
          </a:prstGeom>
        </p:spPr>
      </p:pic>
      <p:sp>
        <p:nvSpPr>
          <p:cNvPr id="7" name="insignia 1"/>
          <p:cNvSpPr/>
          <p:nvPr/>
        </p:nvSpPr>
        <p:spPr>
          <a:xfrm>
            <a:off x="7680960" y="2011680"/>
            <a:ext cx="457200" cy="45720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8" name="Text 5"/>
          <p:cNvSpPr txBox="1"/>
          <p:nvPr/>
        </p:nvSpPr>
        <p:spPr>
          <a:xfrm>
            <a:off x="7680960" y="2011680"/>
            <a:ext cx="457200" cy="457200"/>
          </a:xfrm>
          <a:prstGeom prst="rect">
            <a:avLst/>
          </a:prstGeom>
          <a:noFill/>
          <a:ln/>
        </p:spPr>
        <p:txBody>
          <a:bodyPr wrap="square" lIns="0" tIns="0" rIns="0" bIns="0" rtlCol="0" anchor="ctr"/>
          <a:lstStyle/>
          <a:p>
            <a:pPr marL="0" indent="0" algn="ctr">
              <a:buNone/>
            </a:pPr>
            <a:r>
              <a:rPr lang="en-US" sz="1500" b="1" dirty="0">
                <a:solidFill>
                  <a:srgbClr val="E0283F"/>
                </a:solidFill>
              </a:rPr>
              <a:t>1</a:t>
            </a:r>
            <a:endParaRPr lang="en-US" sz="1500" dirty="0"/>
          </a:p>
        </p:txBody>
      </p:sp>
      <p:sp>
        <p:nvSpPr>
          <p:cNvPr id="9" name="Text 6"/>
          <p:cNvSpPr txBox="1"/>
          <p:nvPr/>
        </p:nvSpPr>
        <p:spPr>
          <a:xfrm>
            <a:off x="8321040" y="1947672"/>
            <a:ext cx="331927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Ingresa sus medidas</a:t>
            </a:r>
            <a:endParaRPr lang="en-US" sz="1600" dirty="0"/>
          </a:p>
          <a:p>
            <a:pPr marL="0" indent="0">
              <a:spcAft>
                <a:spcPts val="200"/>
              </a:spcAft>
              <a:buNone/>
            </a:pPr>
            <a:r>
              <a:rPr lang="en-US" sz="1400" dirty="0">
                <a:solidFill>
                  <a:schemeClr val="bg2"/>
                </a:solidFill>
              </a:rPr>
              <a:t>Altura y peso, masculino o femenino.</a:t>
            </a:r>
            <a:endParaRPr lang="en-US" sz="1600" dirty="0"/>
          </a:p>
        </p:txBody>
      </p:sp>
      <p:sp>
        <p:nvSpPr>
          <p:cNvPr id="10" name="insignia 2"/>
          <p:cNvSpPr/>
          <p:nvPr/>
        </p:nvSpPr>
        <p:spPr>
          <a:xfrm>
            <a:off x="7680960" y="3154680"/>
            <a:ext cx="457200" cy="45720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11" name="Text 8"/>
          <p:cNvSpPr txBox="1"/>
          <p:nvPr/>
        </p:nvSpPr>
        <p:spPr>
          <a:xfrm>
            <a:off x="7680960" y="3154680"/>
            <a:ext cx="457200" cy="457200"/>
          </a:xfrm>
          <a:prstGeom prst="rect">
            <a:avLst/>
          </a:prstGeom>
          <a:noFill/>
          <a:ln/>
        </p:spPr>
        <p:txBody>
          <a:bodyPr wrap="square" lIns="0" tIns="0" rIns="0" bIns="0" rtlCol="0" anchor="ctr"/>
          <a:lstStyle/>
          <a:p>
            <a:pPr marL="0" indent="0" algn="ctr">
              <a:buNone/>
            </a:pPr>
            <a:r>
              <a:rPr lang="en-US" sz="1500" b="1" dirty="0">
                <a:solidFill>
                  <a:srgbClr val="E0283F"/>
                </a:solidFill>
              </a:rPr>
              <a:t>2</a:t>
            </a:r>
            <a:endParaRPr lang="en-US" sz="1500" dirty="0"/>
          </a:p>
        </p:txBody>
      </p:sp>
      <p:sp>
        <p:nvSpPr>
          <p:cNvPr id="12" name="Text 9"/>
          <p:cNvSpPr txBox="1"/>
          <p:nvPr/>
        </p:nvSpPr>
        <p:spPr>
          <a:xfrm>
            <a:off x="8321040" y="3090672"/>
            <a:ext cx="331927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Ve la prenda puesta</a:t>
            </a:r>
            <a:endParaRPr lang="en-US" sz="1600" dirty="0"/>
          </a:p>
          <a:p>
            <a:pPr marL="0" indent="0">
              <a:spcAft>
                <a:spcPts val="200"/>
              </a:spcAft>
              <a:buNone/>
            </a:pPr>
            <a:r>
              <a:rPr lang="en-US" sz="1400" dirty="0">
                <a:solidFill>
                  <a:schemeClr val="bg2"/>
                </a:solidFill>
              </a:rPr>
              <a:t>Polera, pantalón, polerón, chaqueta o cinturón, con el color del producto.</a:t>
            </a:r>
            <a:endParaRPr lang="en-US" sz="1600" dirty="0"/>
          </a:p>
        </p:txBody>
      </p:sp>
      <p:sp>
        <p:nvSpPr>
          <p:cNvPr id="13" name="insignia 3"/>
          <p:cNvSpPr/>
          <p:nvPr/>
        </p:nvSpPr>
        <p:spPr>
          <a:xfrm>
            <a:off x="7680960" y="4297680"/>
            <a:ext cx="457200" cy="45720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14" name="Text 11"/>
          <p:cNvSpPr txBox="1"/>
          <p:nvPr/>
        </p:nvSpPr>
        <p:spPr>
          <a:xfrm>
            <a:off x="7680960" y="4297680"/>
            <a:ext cx="457200" cy="457200"/>
          </a:xfrm>
          <a:prstGeom prst="rect">
            <a:avLst/>
          </a:prstGeom>
          <a:noFill/>
          <a:ln/>
        </p:spPr>
        <p:txBody>
          <a:bodyPr wrap="square" lIns="0" tIns="0" rIns="0" bIns="0" rtlCol="0" anchor="ctr"/>
          <a:lstStyle/>
          <a:p>
            <a:pPr marL="0" indent="0" algn="ctr">
              <a:buNone/>
            </a:pPr>
            <a:r>
              <a:rPr lang="en-US" sz="1500" b="1" dirty="0">
                <a:solidFill>
                  <a:srgbClr val="E0283F"/>
                </a:solidFill>
              </a:rPr>
              <a:t>3</a:t>
            </a:r>
            <a:endParaRPr lang="en-US" sz="1500" dirty="0"/>
          </a:p>
        </p:txBody>
      </p:sp>
      <p:sp>
        <p:nvSpPr>
          <p:cNvPr id="15" name="Text 12"/>
          <p:cNvSpPr txBox="1"/>
          <p:nvPr/>
        </p:nvSpPr>
        <p:spPr>
          <a:xfrm>
            <a:off x="8321040" y="4233672"/>
            <a:ext cx="331927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Recibe su talla</a:t>
            </a:r>
            <a:endParaRPr lang="en-US" sz="1600" dirty="0"/>
          </a:p>
          <a:p>
            <a:pPr marL="0" indent="0">
              <a:spcAft>
                <a:spcPts val="200"/>
              </a:spcAft>
              <a:buNone/>
            </a:pPr>
            <a:r>
              <a:rPr lang="en-US" sz="1400" dirty="0">
                <a:solidFill>
                  <a:schemeClr val="bg2"/>
                </a:solidFill>
              </a:rPr>
              <a:t>Recomendación y aviso si queda apretada, holgada, corta o larga.</a:t>
            </a:r>
            <a:endParaRPr lang="en-US" sz="1600" dirty="0"/>
          </a:p>
        </p:txBody>
      </p:sp>
      <p:sp>
        <p:nvSpPr>
          <p:cNvPr id="16" name="Text 13"/>
          <p:cNvSpPr txBox="1"/>
          <p:nvPr/>
        </p:nvSpPr>
        <p:spPr>
          <a:xfrm>
            <a:off x="7680960" y="5394960"/>
            <a:ext cx="3959352" cy="822960"/>
          </a:xfrm>
          <a:prstGeom prst="rect">
            <a:avLst/>
          </a:prstGeom>
          <a:noFill/>
          <a:ln/>
        </p:spPr>
        <p:txBody>
          <a:bodyPr wrap="square" lIns="0" tIns="0" rIns="0" bIns="0" rtlCol="0" anchor="t"/>
          <a:lstStyle/>
          <a:p>
            <a:pPr marL="0" indent="0">
              <a:buNone/>
            </a:pPr>
            <a:r>
              <a:rPr lang="en-US" sz="1600" b="1" dirty="0">
                <a:solidFill>
                  <a:schemeClr val="accent2"/>
                </a:solidFill>
              </a:rPr>
              <a:t>$0 en licencias</a:t>
            </a:r>
            <a:endParaRPr lang="en-US" sz="1600" dirty="0"/>
          </a:p>
          <a:p>
            <a:pPr marL="0" indent="0">
              <a:buNone/>
            </a:pPr>
            <a:r>
              <a:rPr lang="en-US" sz="1300" dirty="0">
                <a:solidFill>
                  <a:schemeClr val="bg2"/>
                </a:solidFill>
              </a:rPr>
              <a:t>Cuerpos y prendas CC0 (MakeHuman), Blender y three.js. Una prenda nueva de una categoría conocida aparece sola.</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PANEL DEL GERENTE</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Ingresos, gastos y ganancia, día a día</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Finanzas separa la tienda web de la física y descuenta prendas, despacho, comisiones y mermas.</a:t>
            </a:r>
            <a:endParaRPr lang="en-US" sz="1600" dirty="0"/>
          </a:p>
        </p:txBody>
      </p:sp>
      <p:sp>
        <p:nvSpPr>
          <p:cNvPr id="5" name="marco Balance diario en el panel de Finanzas"/>
          <p:cNvSpPr/>
          <p:nvPr/>
        </p:nvSpPr>
        <p:spPr>
          <a:xfrm>
            <a:off x="512064" y="1883664"/>
            <a:ext cx="6839712" cy="4302252"/>
          </a:xfrm>
          <a:prstGeom prst="roundRect">
            <a:avLst>
              <a:gd name="adj" fmla="val 1275"/>
            </a:avLst>
          </a:prstGeom>
          <a:solidFill>
            <a:schemeClr val="accent6"/>
          </a:solidFill>
          <a:ln w="6350">
            <a:solidFill>
              <a:schemeClr val="accent6"/>
            </a:solidFill>
            <a:prstDash val="solid"/>
          </a:ln>
        </p:spPr>
        <p:txBody>
          <a:bodyPr/>
          <a:lstStyle/>
          <a:p>
            <a:endParaRPr lang="es-CL"/>
          </a:p>
        </p:txBody>
      </p:sp>
      <p:pic>
        <p:nvPicPr>
          <p:cNvPr id="6" name="Balance diario en el panel de Finanzas" descr="Balance diario en el panel de Finanzas"/>
          <p:cNvPicPr>
            <a:picLocks noChangeAspect="1"/>
          </p:cNvPicPr>
          <p:nvPr/>
        </p:nvPicPr>
        <p:blipFill>
          <a:blip r:embed="rId3"/>
          <a:stretch>
            <a:fillRect/>
          </a:stretch>
        </p:blipFill>
        <p:spPr>
          <a:xfrm>
            <a:off x="548640" y="1920240"/>
            <a:ext cx="6766560" cy="4229100"/>
          </a:xfrm>
          <a:prstGeom prst="rect">
            <a:avLst/>
          </a:prstGeom>
        </p:spPr>
      </p:pic>
      <p:sp>
        <p:nvSpPr>
          <p:cNvPr id="7" name="cifra Ingresos"/>
          <p:cNvSpPr/>
          <p:nvPr/>
        </p:nvSpPr>
        <p:spPr>
          <a:xfrm>
            <a:off x="7680960" y="1920240"/>
            <a:ext cx="3959352" cy="1234440"/>
          </a:xfrm>
          <a:prstGeom prst="roundRect">
            <a:avLst>
              <a:gd name="adj" fmla="val 5926"/>
            </a:avLst>
          </a:prstGeom>
          <a:solidFill>
            <a:schemeClr val="tx2"/>
          </a:solidFill>
          <a:ln w="9525">
            <a:solidFill>
              <a:schemeClr val="accent6"/>
            </a:solidFill>
            <a:prstDash val="solid"/>
          </a:ln>
        </p:spPr>
        <p:txBody>
          <a:bodyPr/>
          <a:lstStyle/>
          <a:p>
            <a:endParaRPr lang="es-CL"/>
          </a:p>
        </p:txBody>
      </p:sp>
      <p:sp>
        <p:nvSpPr>
          <p:cNvPr id="8" name="Text 5"/>
          <p:cNvSpPr txBox="1"/>
          <p:nvPr/>
        </p:nvSpPr>
        <p:spPr>
          <a:xfrm>
            <a:off x="7909560" y="2029968"/>
            <a:ext cx="3502152" cy="548640"/>
          </a:xfrm>
          <a:prstGeom prst="rect">
            <a:avLst/>
          </a:prstGeom>
          <a:noFill/>
          <a:ln/>
        </p:spPr>
        <p:txBody>
          <a:bodyPr wrap="square" lIns="0" tIns="0" rIns="0" bIns="0" rtlCol="0" anchor="ctr"/>
          <a:lstStyle/>
          <a:p>
            <a:pPr marL="0" indent="0">
              <a:buNone/>
            </a:pPr>
            <a:r>
              <a:rPr lang="en-US" sz="2800" b="1" dirty="0">
                <a:solidFill>
                  <a:schemeClr val="accent4"/>
                </a:solidFill>
                <a:latin typeface="Bookman Old Style" pitchFamily="34" charset="0"/>
                <a:ea typeface="Bookman Old Style" pitchFamily="34" charset="-122"/>
                <a:cs typeface="Bookman Old Style" pitchFamily="34" charset="-120"/>
              </a:rPr>
              <a:t>$610.730</a:t>
            </a:r>
            <a:endParaRPr lang="en-US" sz="2800" dirty="0"/>
          </a:p>
        </p:txBody>
      </p:sp>
      <p:sp>
        <p:nvSpPr>
          <p:cNvPr id="9" name="Text 6"/>
          <p:cNvSpPr txBox="1"/>
          <p:nvPr/>
        </p:nvSpPr>
        <p:spPr>
          <a:xfrm>
            <a:off x="7909560" y="2633472"/>
            <a:ext cx="3502152" cy="411480"/>
          </a:xfrm>
          <a:prstGeom prst="rect">
            <a:avLst/>
          </a:prstGeom>
          <a:noFill/>
          <a:ln/>
        </p:spPr>
        <p:txBody>
          <a:bodyPr wrap="square" lIns="0" tIns="0" rIns="0" bIns="0" rtlCol="0" anchor="ctr"/>
          <a:lstStyle/>
          <a:p>
            <a:pPr marL="0" indent="0">
              <a:buNone/>
            </a:pPr>
            <a:r>
              <a:rPr lang="en-US" sz="1300" b="1" dirty="0">
                <a:solidFill>
                  <a:schemeClr val="bg1"/>
                </a:solidFill>
              </a:rPr>
              <a:t>Ingresos  </a:t>
            </a:r>
            <a:r>
              <a:rPr lang="en-US" sz="1300" dirty="0">
                <a:solidFill>
                  <a:schemeClr val="bg2"/>
                </a:solidFill>
              </a:rPr>
              <a:t>Web $398.810 · Tienda física $211.920</a:t>
            </a:r>
            <a:endParaRPr lang="en-US" sz="1300" dirty="0"/>
          </a:p>
        </p:txBody>
      </p:sp>
      <p:sp>
        <p:nvSpPr>
          <p:cNvPr id="10" name="cifra Gastos"/>
          <p:cNvSpPr/>
          <p:nvPr/>
        </p:nvSpPr>
        <p:spPr>
          <a:xfrm>
            <a:off x="7680960" y="3291840"/>
            <a:ext cx="3959352" cy="1234440"/>
          </a:xfrm>
          <a:prstGeom prst="roundRect">
            <a:avLst>
              <a:gd name="adj" fmla="val 5926"/>
            </a:avLst>
          </a:prstGeom>
          <a:solidFill>
            <a:schemeClr val="tx2"/>
          </a:solidFill>
          <a:ln w="9525">
            <a:solidFill>
              <a:schemeClr val="accent6"/>
            </a:solidFill>
            <a:prstDash val="solid"/>
          </a:ln>
        </p:spPr>
        <p:txBody>
          <a:bodyPr/>
          <a:lstStyle/>
          <a:p>
            <a:endParaRPr lang="es-CL"/>
          </a:p>
        </p:txBody>
      </p:sp>
      <p:sp>
        <p:nvSpPr>
          <p:cNvPr id="11" name="Text 8"/>
          <p:cNvSpPr txBox="1"/>
          <p:nvPr/>
        </p:nvSpPr>
        <p:spPr>
          <a:xfrm>
            <a:off x="7909560" y="3401568"/>
            <a:ext cx="3502152" cy="548640"/>
          </a:xfrm>
          <a:prstGeom prst="rect">
            <a:avLst/>
          </a:prstGeom>
          <a:noFill/>
          <a:ln/>
        </p:spPr>
        <p:txBody>
          <a:bodyPr wrap="square" lIns="0" tIns="0" rIns="0" bIns="0" rtlCol="0" anchor="ctr"/>
          <a:lstStyle/>
          <a:p>
            <a:pPr marL="0" indent="0">
              <a:buNone/>
            </a:pPr>
            <a:r>
              <a:rPr lang="en-US" sz="2800" b="1" dirty="0">
                <a:solidFill>
                  <a:schemeClr val="accent2"/>
                </a:solidFill>
                <a:latin typeface="Bookman Old Style" pitchFamily="34" charset="0"/>
                <a:ea typeface="Bookman Old Style" pitchFamily="34" charset="-122"/>
                <a:cs typeface="Bookman Old Style" pitchFamily="34" charset="-120"/>
              </a:rPr>
              <a:t>$308.460</a:t>
            </a:r>
            <a:endParaRPr lang="en-US" sz="2800" dirty="0"/>
          </a:p>
        </p:txBody>
      </p:sp>
      <p:sp>
        <p:nvSpPr>
          <p:cNvPr id="12" name="Text 9"/>
          <p:cNvSpPr txBox="1"/>
          <p:nvPr/>
        </p:nvSpPr>
        <p:spPr>
          <a:xfrm>
            <a:off x="7909560" y="4005072"/>
            <a:ext cx="3502152" cy="411480"/>
          </a:xfrm>
          <a:prstGeom prst="rect">
            <a:avLst/>
          </a:prstGeom>
          <a:noFill/>
          <a:ln/>
        </p:spPr>
        <p:txBody>
          <a:bodyPr wrap="square" lIns="0" tIns="0" rIns="0" bIns="0" rtlCol="0" anchor="ctr"/>
          <a:lstStyle/>
          <a:p>
            <a:pPr marL="0" indent="0">
              <a:buNone/>
            </a:pPr>
            <a:r>
              <a:rPr lang="en-US" sz="1300" b="1" dirty="0">
                <a:solidFill>
                  <a:schemeClr val="bg1"/>
                </a:solidFill>
              </a:rPr>
              <a:t>Gastos  </a:t>
            </a:r>
            <a:r>
              <a:rPr lang="en-US" sz="1300" dirty="0">
                <a:solidFill>
                  <a:schemeClr val="bg2"/>
                </a:solidFill>
              </a:rPr>
              <a:t>Prendas al costo, despacho y mermas</a:t>
            </a:r>
            <a:endParaRPr lang="en-US" sz="1300" dirty="0"/>
          </a:p>
        </p:txBody>
      </p:sp>
      <p:sp>
        <p:nvSpPr>
          <p:cNvPr id="13" name="cifra Ganancia"/>
          <p:cNvSpPr/>
          <p:nvPr/>
        </p:nvSpPr>
        <p:spPr>
          <a:xfrm>
            <a:off x="7680960" y="4663440"/>
            <a:ext cx="3959352" cy="1234440"/>
          </a:xfrm>
          <a:prstGeom prst="roundRect">
            <a:avLst>
              <a:gd name="adj" fmla="val 5926"/>
            </a:avLst>
          </a:prstGeom>
          <a:solidFill>
            <a:schemeClr val="tx2"/>
          </a:solidFill>
          <a:ln w="9525">
            <a:solidFill>
              <a:schemeClr val="accent6"/>
            </a:solidFill>
            <a:prstDash val="solid"/>
          </a:ln>
        </p:spPr>
        <p:txBody>
          <a:bodyPr/>
          <a:lstStyle/>
          <a:p>
            <a:endParaRPr lang="es-CL"/>
          </a:p>
        </p:txBody>
      </p:sp>
      <p:sp>
        <p:nvSpPr>
          <p:cNvPr id="14" name="Text 11"/>
          <p:cNvSpPr txBox="1"/>
          <p:nvPr/>
        </p:nvSpPr>
        <p:spPr>
          <a:xfrm>
            <a:off x="7909560" y="4773168"/>
            <a:ext cx="3502152" cy="548640"/>
          </a:xfrm>
          <a:prstGeom prst="rect">
            <a:avLst/>
          </a:prstGeom>
          <a:noFill/>
          <a:ln/>
        </p:spPr>
        <p:txBody>
          <a:bodyPr wrap="square" lIns="0" tIns="0" rIns="0" bIns="0" rtlCol="0" anchor="ctr"/>
          <a:lstStyle/>
          <a:p>
            <a:pPr marL="0" indent="0">
              <a:buNone/>
            </a:pPr>
            <a:r>
              <a:rPr lang="en-US" sz="2800" b="1" dirty="0">
                <a:solidFill>
                  <a:schemeClr val="accent3"/>
                </a:solidFill>
                <a:latin typeface="Bookman Old Style" pitchFamily="34" charset="0"/>
                <a:ea typeface="Bookman Old Style" pitchFamily="34" charset="-122"/>
                <a:cs typeface="Bookman Old Style" pitchFamily="34" charset="-120"/>
              </a:rPr>
              <a:t>$302.270</a:t>
            </a:r>
            <a:endParaRPr lang="en-US" sz="2800" dirty="0"/>
          </a:p>
        </p:txBody>
      </p:sp>
      <p:sp>
        <p:nvSpPr>
          <p:cNvPr id="15" name="Text 12"/>
          <p:cNvSpPr txBox="1"/>
          <p:nvPr/>
        </p:nvSpPr>
        <p:spPr>
          <a:xfrm>
            <a:off x="7909560" y="5376672"/>
            <a:ext cx="3502152" cy="411480"/>
          </a:xfrm>
          <a:prstGeom prst="rect">
            <a:avLst/>
          </a:prstGeom>
          <a:noFill/>
          <a:ln/>
        </p:spPr>
        <p:txBody>
          <a:bodyPr wrap="square" lIns="0" tIns="0" rIns="0" bIns="0" rtlCol="0" anchor="ctr"/>
          <a:lstStyle/>
          <a:p>
            <a:pPr marL="0" indent="0">
              <a:buNone/>
            </a:pPr>
            <a:r>
              <a:rPr lang="en-US" sz="1300" b="1" dirty="0">
                <a:solidFill>
                  <a:schemeClr val="bg1"/>
                </a:solidFill>
              </a:rPr>
              <a:t>Ganancia  </a:t>
            </a:r>
            <a:r>
              <a:rPr lang="en-US" sz="1300" dirty="0">
                <a:solidFill>
                  <a:schemeClr val="bg2"/>
                </a:solidFill>
              </a:rPr>
              <a:t>Margen de 49 %</a:t>
            </a:r>
            <a:endParaRPr lang="en-US" sz="1300" dirty="0"/>
          </a:p>
        </p:txBody>
      </p:sp>
      <p:sp>
        <p:nvSpPr>
          <p:cNvPr id="16" name="Text 13"/>
          <p:cNvSpPr txBox="1"/>
          <p:nvPr/>
        </p:nvSpPr>
        <p:spPr>
          <a:xfrm>
            <a:off x="7680960" y="5989320"/>
            <a:ext cx="3959352" cy="274320"/>
          </a:xfrm>
          <a:prstGeom prst="rect">
            <a:avLst/>
          </a:prstGeom>
          <a:noFill/>
          <a:ln/>
        </p:spPr>
        <p:txBody>
          <a:bodyPr wrap="square" lIns="0" tIns="0" rIns="0" bIns="0" rtlCol="0" anchor="ctr"/>
          <a:lstStyle/>
          <a:p>
            <a:pPr marL="0" indent="0">
              <a:buNone/>
            </a:pPr>
            <a:r>
              <a:rPr lang="en-US" sz="1100" dirty="0">
                <a:solidFill>
                  <a:schemeClr val="bg2"/>
                </a:solidFill>
              </a:rPr>
              <a:t>Datos de demostración, últimos 30 días.</a:t>
            </a:r>
            <a:endParaRPr lang="en-US" sz="11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ANALÍTICA PREDICTIVA</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Qué comprar, con datos</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El gerente recibe recomendaciones de inversión calculadas con las ventas de ambos canales.</a:t>
            </a:r>
            <a:endParaRPr lang="en-US" sz="1600" dirty="0"/>
          </a:p>
        </p:txBody>
      </p:sp>
      <p:sp>
        <p:nvSpPr>
          <p:cNvPr id="5" name="insignia 1"/>
          <p:cNvSpPr/>
          <p:nvPr/>
        </p:nvSpPr>
        <p:spPr>
          <a:xfrm>
            <a:off x="548640" y="2011680"/>
            <a:ext cx="457200" cy="457200"/>
          </a:xfrm>
          <a:prstGeom prst="ellipse">
            <a:avLst/>
          </a:prstGeom>
          <a:solidFill>
            <a:srgbClr val="A78BFA">
              <a:alpha val="22000"/>
            </a:srgbClr>
          </a:solidFill>
          <a:ln w="15875">
            <a:solidFill>
              <a:srgbClr val="A78BFA"/>
            </a:solidFill>
            <a:prstDash val="solid"/>
          </a:ln>
        </p:spPr>
        <p:txBody>
          <a:bodyPr/>
          <a:lstStyle/>
          <a:p>
            <a:endParaRPr lang="es-CL"/>
          </a:p>
        </p:txBody>
      </p:sp>
      <p:sp>
        <p:nvSpPr>
          <p:cNvPr id="6" name="Text 4"/>
          <p:cNvSpPr txBox="1"/>
          <p:nvPr/>
        </p:nvSpPr>
        <p:spPr>
          <a:xfrm>
            <a:off x="548640" y="2011680"/>
            <a:ext cx="457200" cy="457200"/>
          </a:xfrm>
          <a:prstGeom prst="rect">
            <a:avLst/>
          </a:prstGeom>
          <a:noFill/>
          <a:ln/>
        </p:spPr>
        <p:txBody>
          <a:bodyPr wrap="square" lIns="0" tIns="0" rIns="0" bIns="0" rtlCol="0" anchor="ctr"/>
          <a:lstStyle/>
          <a:p>
            <a:pPr marL="0" indent="0" algn="ctr">
              <a:buNone/>
            </a:pPr>
            <a:r>
              <a:rPr lang="en-US" sz="1500" b="1" dirty="0">
                <a:solidFill>
                  <a:srgbClr val="A78BFA"/>
                </a:solidFill>
              </a:rPr>
              <a:t>1</a:t>
            </a:r>
            <a:endParaRPr lang="en-US" sz="1500" dirty="0"/>
          </a:p>
        </p:txBody>
      </p:sp>
      <p:sp>
        <p:nvSpPr>
          <p:cNvPr id="7" name="Text 5"/>
          <p:cNvSpPr txBox="1"/>
          <p:nvPr/>
        </p:nvSpPr>
        <p:spPr>
          <a:xfrm>
            <a:off x="1188720" y="1947672"/>
            <a:ext cx="3566160"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Pronostica la demanda</a:t>
            </a:r>
            <a:endParaRPr lang="en-US" sz="1600" dirty="0"/>
          </a:p>
          <a:p>
            <a:pPr marL="0" indent="0">
              <a:spcAft>
                <a:spcPts val="200"/>
              </a:spcAft>
              <a:buNone/>
            </a:pPr>
            <a:r>
              <a:rPr lang="en-US" sz="1400" dirty="0">
                <a:solidFill>
                  <a:schemeClr val="bg2"/>
                </a:solidFill>
              </a:rPr>
              <a:t>Unidades por semana de cada prenda, con su rango probable.</a:t>
            </a:r>
            <a:endParaRPr lang="en-US" sz="1600" dirty="0"/>
          </a:p>
        </p:txBody>
      </p:sp>
      <p:sp>
        <p:nvSpPr>
          <p:cNvPr id="8" name="insignia 2"/>
          <p:cNvSpPr/>
          <p:nvPr/>
        </p:nvSpPr>
        <p:spPr>
          <a:xfrm>
            <a:off x="548640" y="3154680"/>
            <a:ext cx="457200" cy="457200"/>
          </a:xfrm>
          <a:prstGeom prst="ellipse">
            <a:avLst/>
          </a:prstGeom>
          <a:solidFill>
            <a:srgbClr val="A78BFA">
              <a:alpha val="22000"/>
            </a:srgbClr>
          </a:solidFill>
          <a:ln w="15875">
            <a:solidFill>
              <a:srgbClr val="A78BFA"/>
            </a:solidFill>
            <a:prstDash val="solid"/>
          </a:ln>
        </p:spPr>
        <p:txBody>
          <a:bodyPr/>
          <a:lstStyle/>
          <a:p>
            <a:endParaRPr lang="es-CL"/>
          </a:p>
        </p:txBody>
      </p:sp>
      <p:sp>
        <p:nvSpPr>
          <p:cNvPr id="9" name="Text 7"/>
          <p:cNvSpPr txBox="1"/>
          <p:nvPr/>
        </p:nvSpPr>
        <p:spPr>
          <a:xfrm>
            <a:off x="548640" y="3154680"/>
            <a:ext cx="457200" cy="457200"/>
          </a:xfrm>
          <a:prstGeom prst="rect">
            <a:avLst/>
          </a:prstGeom>
          <a:noFill/>
          <a:ln/>
        </p:spPr>
        <p:txBody>
          <a:bodyPr wrap="square" lIns="0" tIns="0" rIns="0" bIns="0" rtlCol="0" anchor="ctr"/>
          <a:lstStyle/>
          <a:p>
            <a:pPr marL="0" indent="0" algn="ctr">
              <a:buNone/>
            </a:pPr>
            <a:r>
              <a:rPr lang="en-US" sz="1500" b="1" dirty="0">
                <a:solidFill>
                  <a:srgbClr val="A78BFA"/>
                </a:solidFill>
              </a:rPr>
              <a:t>2</a:t>
            </a:r>
            <a:endParaRPr lang="en-US" sz="1500" dirty="0"/>
          </a:p>
        </p:txBody>
      </p:sp>
      <p:sp>
        <p:nvSpPr>
          <p:cNvPr id="10" name="Text 8"/>
          <p:cNvSpPr txBox="1"/>
          <p:nvPr/>
        </p:nvSpPr>
        <p:spPr>
          <a:xfrm>
            <a:off x="1188720" y="3090672"/>
            <a:ext cx="3566160"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Elige el mejor método</a:t>
            </a:r>
            <a:endParaRPr lang="en-US" sz="1600" dirty="0"/>
          </a:p>
          <a:p>
            <a:pPr marL="0" indent="0">
              <a:spcAft>
                <a:spcPts val="200"/>
              </a:spcAft>
              <a:buNone/>
            </a:pPr>
            <a:r>
              <a:rPr lang="en-US" sz="1400" dirty="0">
                <a:solidFill>
                  <a:schemeClr val="bg2"/>
                </a:solidFill>
              </a:rPr>
              <a:t>Prueba suavizado exponencial, Syntetos-Boylan, Holt y media móvil, y se queda con el que menos erró.</a:t>
            </a:r>
            <a:endParaRPr lang="en-US" sz="1600" dirty="0"/>
          </a:p>
        </p:txBody>
      </p:sp>
      <p:sp>
        <p:nvSpPr>
          <p:cNvPr id="11" name="insignia 3"/>
          <p:cNvSpPr/>
          <p:nvPr/>
        </p:nvSpPr>
        <p:spPr>
          <a:xfrm>
            <a:off x="548640" y="4297680"/>
            <a:ext cx="457200" cy="457200"/>
          </a:xfrm>
          <a:prstGeom prst="ellipse">
            <a:avLst/>
          </a:prstGeom>
          <a:solidFill>
            <a:srgbClr val="A78BFA">
              <a:alpha val="22000"/>
            </a:srgbClr>
          </a:solidFill>
          <a:ln w="15875">
            <a:solidFill>
              <a:srgbClr val="A78BFA"/>
            </a:solidFill>
            <a:prstDash val="solid"/>
          </a:ln>
        </p:spPr>
        <p:txBody>
          <a:bodyPr/>
          <a:lstStyle/>
          <a:p>
            <a:endParaRPr lang="es-CL"/>
          </a:p>
        </p:txBody>
      </p:sp>
      <p:sp>
        <p:nvSpPr>
          <p:cNvPr id="12" name="Text 10"/>
          <p:cNvSpPr txBox="1"/>
          <p:nvPr/>
        </p:nvSpPr>
        <p:spPr>
          <a:xfrm>
            <a:off x="548640" y="4297680"/>
            <a:ext cx="457200" cy="457200"/>
          </a:xfrm>
          <a:prstGeom prst="rect">
            <a:avLst/>
          </a:prstGeom>
          <a:noFill/>
          <a:ln/>
        </p:spPr>
        <p:txBody>
          <a:bodyPr wrap="square" lIns="0" tIns="0" rIns="0" bIns="0" rtlCol="0" anchor="ctr"/>
          <a:lstStyle/>
          <a:p>
            <a:pPr marL="0" indent="0" algn="ctr">
              <a:buNone/>
            </a:pPr>
            <a:r>
              <a:rPr lang="en-US" sz="1500" b="1" dirty="0">
                <a:solidFill>
                  <a:srgbClr val="A78BFA"/>
                </a:solidFill>
              </a:rPr>
              <a:t>3</a:t>
            </a:r>
            <a:endParaRPr lang="en-US" sz="1500" dirty="0"/>
          </a:p>
        </p:txBody>
      </p:sp>
      <p:sp>
        <p:nvSpPr>
          <p:cNvPr id="13" name="Text 11"/>
          <p:cNvSpPr txBox="1"/>
          <p:nvPr/>
        </p:nvSpPr>
        <p:spPr>
          <a:xfrm>
            <a:off x="1188720" y="4233672"/>
            <a:ext cx="3566160"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Recomienda la compra</a:t>
            </a:r>
            <a:endParaRPr lang="en-US" sz="1600" dirty="0"/>
          </a:p>
          <a:p>
            <a:pPr marL="0" indent="0">
              <a:spcAft>
                <a:spcPts val="200"/>
              </a:spcAft>
              <a:buNone/>
            </a:pPr>
            <a:r>
              <a:rPr lang="en-US" sz="1400" dirty="0">
                <a:solidFill>
                  <a:schemeClr val="bg2"/>
                </a:solidFill>
              </a:rPr>
              <a:t>Unidades a comprar dentro del presupuesto, ROI esperado y capital inmovilizado.</a:t>
            </a:r>
            <a:endParaRPr lang="en-US" sz="1600" dirty="0"/>
          </a:p>
        </p:txBody>
      </p:sp>
      <p:sp>
        <p:nvSpPr>
          <p:cNvPr id="14" name="Text 12"/>
          <p:cNvSpPr txBox="1"/>
          <p:nvPr/>
        </p:nvSpPr>
        <p:spPr>
          <a:xfrm>
            <a:off x="548640" y="5440680"/>
            <a:ext cx="4206240" cy="685800"/>
          </a:xfrm>
          <a:prstGeom prst="rect">
            <a:avLst/>
          </a:prstGeom>
          <a:noFill/>
          <a:ln/>
        </p:spPr>
        <p:txBody>
          <a:bodyPr wrap="square" lIns="0" tIns="0" rIns="0" bIns="0" rtlCol="0" anchor="t"/>
          <a:lstStyle/>
          <a:p>
            <a:pPr marL="0" indent="0">
              <a:buNone/>
            </a:pPr>
            <a:r>
              <a:rPr lang="en-US" sz="1300" i="1" dirty="0">
                <a:solidFill>
                  <a:schemeClr val="bg2"/>
                </a:solidFill>
              </a:rPr>
              <a:t>Responde al problema de la Fase 1: el 35 % de las decisiones de margen se tomaban sin datos confiables.</a:t>
            </a:r>
            <a:endParaRPr lang="en-US" sz="1300" dirty="0"/>
          </a:p>
        </p:txBody>
      </p:sp>
      <p:sp>
        <p:nvSpPr>
          <p:cNvPr id="15" name="marco Recomendaciones de inversión"/>
          <p:cNvSpPr/>
          <p:nvPr/>
        </p:nvSpPr>
        <p:spPr>
          <a:xfrm>
            <a:off x="5038344" y="1883664"/>
            <a:ext cx="6638544" cy="4178808"/>
          </a:xfrm>
          <a:prstGeom prst="roundRect">
            <a:avLst>
              <a:gd name="adj" fmla="val 1313"/>
            </a:avLst>
          </a:prstGeom>
          <a:solidFill>
            <a:schemeClr val="accent6"/>
          </a:solidFill>
          <a:ln w="6350">
            <a:solidFill>
              <a:schemeClr val="accent6"/>
            </a:solidFill>
            <a:prstDash val="solid"/>
          </a:ln>
        </p:spPr>
        <p:txBody>
          <a:bodyPr/>
          <a:lstStyle/>
          <a:p>
            <a:endParaRPr lang="es-CL"/>
          </a:p>
        </p:txBody>
      </p:sp>
      <p:pic>
        <p:nvPicPr>
          <p:cNvPr id="16" name="Recomendaciones de inversión" descr="Recomendaciones de inversión"/>
          <p:cNvPicPr>
            <a:picLocks noChangeAspect="1"/>
          </p:cNvPicPr>
          <p:nvPr/>
        </p:nvPicPr>
        <p:blipFill>
          <a:blip r:embed="rId3"/>
          <a:stretch>
            <a:fillRect/>
          </a:stretch>
        </p:blipFill>
        <p:spPr>
          <a:xfrm>
            <a:off x="5074920" y="1920240"/>
            <a:ext cx="6565392" cy="4105656"/>
          </a:xfrm>
          <a:prstGeom prst="rect">
            <a:avLst/>
          </a:prstGeom>
        </p:spPr>
      </p:pic>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AVANCE</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Estado de las 20 historias del plan</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Contadas según lo que existe en el código, no según el tablero.</a:t>
            </a:r>
            <a:endParaRPr lang="en-US" sz="1600" dirty="0"/>
          </a:p>
        </p:txBody>
      </p:sp>
      <p:graphicFrame>
        <p:nvGraphicFramePr>
          <p:cNvPr id="5" name="gráfico de historias" descr="Gráfico de las 20 historias del plan por estado"/>
          <p:cNvGraphicFramePr/>
          <p:nvPr/>
        </p:nvGraphicFramePr>
        <p:xfrm>
          <a:off x="548640" y="1828800"/>
          <a:ext cx="4754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2011680" y="3429000"/>
            <a:ext cx="1828800" cy="1097280"/>
          </a:xfrm>
          <a:prstGeom prst="rect">
            <a:avLst/>
          </a:prstGeom>
          <a:noFill/>
          <a:ln/>
        </p:spPr>
        <p:txBody>
          <a:bodyPr wrap="square" lIns="0" tIns="0" rIns="0" bIns="0" rtlCol="0" anchor="ctr"/>
          <a:lstStyle/>
          <a:p>
            <a:pPr marL="0" indent="0" algn="ctr">
              <a:buNone/>
            </a:pPr>
            <a:r>
              <a:rPr lang="en-US" sz="4000" b="1" dirty="0">
                <a:solidFill>
                  <a:schemeClr val="accent3"/>
                </a:solidFill>
              </a:rPr>
              <a:t>13</a:t>
            </a:r>
            <a:endParaRPr lang="en-US" sz="4000" dirty="0"/>
          </a:p>
          <a:p>
            <a:pPr marL="0" indent="0" algn="ctr">
              <a:buNone/>
            </a:pPr>
            <a:r>
              <a:rPr lang="en-US" sz="1400" dirty="0">
                <a:solidFill>
                  <a:schemeClr val="bg2"/>
                </a:solidFill>
              </a:rPr>
              <a:t>de 20</a:t>
            </a:r>
            <a:endParaRPr lang="en-US" sz="4000" dirty="0"/>
          </a:p>
        </p:txBody>
      </p:sp>
      <p:sp>
        <p:nvSpPr>
          <p:cNvPr id="7" name="punto Implementadas · 13"/>
          <p:cNvSpPr/>
          <p:nvPr/>
        </p:nvSpPr>
        <p:spPr>
          <a:xfrm>
            <a:off x="5760720" y="1993392"/>
            <a:ext cx="201168" cy="201168"/>
          </a:xfrm>
          <a:prstGeom prst="ellipse">
            <a:avLst/>
          </a:prstGeom>
          <a:solidFill>
            <a:schemeClr val="accent3"/>
          </a:solidFill>
          <a:ln w="12700">
            <a:solidFill>
              <a:schemeClr val="accent3"/>
            </a:solidFill>
            <a:prstDash val="solid"/>
          </a:ln>
        </p:spPr>
        <p:txBody>
          <a:bodyPr/>
          <a:lstStyle/>
          <a:p>
            <a:endParaRPr lang="es-CL"/>
          </a:p>
        </p:txBody>
      </p:sp>
      <p:sp>
        <p:nvSpPr>
          <p:cNvPr id="8" name="Text 5"/>
          <p:cNvSpPr txBox="1"/>
          <p:nvPr/>
        </p:nvSpPr>
        <p:spPr>
          <a:xfrm>
            <a:off x="6126480" y="1920240"/>
            <a:ext cx="5486400" cy="731520"/>
          </a:xfrm>
          <a:prstGeom prst="rect">
            <a:avLst/>
          </a:prstGeom>
          <a:noFill/>
          <a:ln/>
        </p:spPr>
        <p:txBody>
          <a:bodyPr wrap="square" lIns="0" tIns="0" rIns="0" bIns="0" rtlCol="0" anchor="t"/>
          <a:lstStyle/>
          <a:p>
            <a:pPr marL="0" indent="0">
              <a:buNone/>
            </a:pPr>
            <a:r>
              <a:rPr lang="en-US" sz="1600" b="1" dirty="0">
                <a:solidFill>
                  <a:schemeClr val="bg1"/>
                </a:solidFill>
              </a:rPr>
              <a:t>Implementadas · 13</a:t>
            </a:r>
            <a:endParaRPr lang="en-US" sz="1600" dirty="0"/>
          </a:p>
          <a:p>
            <a:pPr marL="0" indent="0">
              <a:buNone/>
            </a:pPr>
            <a:r>
              <a:rPr lang="en-US" sz="1300" dirty="0">
                <a:solidFill>
                  <a:schemeClr val="bg2"/>
                </a:solidFill>
              </a:rPr>
              <a:t>Inventario único, bodega, POS, tienda, pedidos, trazabilidad y más.</a:t>
            </a:r>
            <a:endParaRPr lang="en-US" sz="1600" dirty="0"/>
          </a:p>
        </p:txBody>
      </p:sp>
      <p:sp>
        <p:nvSpPr>
          <p:cNvPr id="9" name="punto Muy avanzadas · 2"/>
          <p:cNvSpPr/>
          <p:nvPr/>
        </p:nvSpPr>
        <p:spPr>
          <a:xfrm>
            <a:off x="5760720" y="2779776"/>
            <a:ext cx="201168" cy="201168"/>
          </a:xfrm>
          <a:prstGeom prst="ellipse">
            <a:avLst/>
          </a:prstGeom>
          <a:solidFill>
            <a:schemeClr val="accent4"/>
          </a:solidFill>
          <a:ln w="12700">
            <a:solidFill>
              <a:schemeClr val="accent4"/>
            </a:solidFill>
            <a:prstDash val="solid"/>
          </a:ln>
        </p:spPr>
        <p:txBody>
          <a:bodyPr/>
          <a:lstStyle/>
          <a:p>
            <a:endParaRPr lang="es-CL"/>
          </a:p>
        </p:txBody>
      </p:sp>
      <p:sp>
        <p:nvSpPr>
          <p:cNvPr id="10" name="Text 7"/>
          <p:cNvSpPr txBox="1"/>
          <p:nvPr/>
        </p:nvSpPr>
        <p:spPr>
          <a:xfrm>
            <a:off x="6126480" y="2706624"/>
            <a:ext cx="5486400" cy="731520"/>
          </a:xfrm>
          <a:prstGeom prst="rect">
            <a:avLst/>
          </a:prstGeom>
          <a:noFill/>
          <a:ln/>
        </p:spPr>
        <p:txBody>
          <a:bodyPr wrap="square" lIns="0" tIns="0" rIns="0" bIns="0" rtlCol="0" anchor="t"/>
          <a:lstStyle/>
          <a:p>
            <a:pPr marL="0" indent="0">
              <a:buNone/>
            </a:pPr>
            <a:r>
              <a:rPr lang="en-US" sz="1600" b="1" dirty="0">
                <a:solidFill>
                  <a:schemeClr val="bg1"/>
                </a:solidFill>
              </a:rPr>
              <a:t>Muy avanzadas · 2</a:t>
            </a:r>
            <a:endParaRPr lang="en-US" sz="1600" dirty="0"/>
          </a:p>
          <a:p>
            <a:pPr marL="0" indent="0">
              <a:buNone/>
            </a:pPr>
            <a:r>
              <a:rPr lang="en-US" sz="1300" dirty="0">
                <a:solidFill>
                  <a:schemeClr val="bg2"/>
                </a:solidFill>
              </a:rPr>
              <a:t>US-17 Dashboard y US-18 KPI: faltan algunos KPI del plan.</a:t>
            </a:r>
            <a:endParaRPr lang="en-US" sz="1600" dirty="0"/>
          </a:p>
        </p:txBody>
      </p:sp>
      <p:sp>
        <p:nvSpPr>
          <p:cNvPr id="11" name="punto Simuladas · 2"/>
          <p:cNvSpPr/>
          <p:nvPr/>
        </p:nvSpPr>
        <p:spPr>
          <a:xfrm>
            <a:off x="5760720" y="3566160"/>
            <a:ext cx="201168" cy="201168"/>
          </a:xfrm>
          <a:prstGeom prst="ellipse">
            <a:avLst/>
          </a:prstGeom>
          <a:solidFill>
            <a:schemeClr val="accent2"/>
          </a:solidFill>
          <a:ln w="12700">
            <a:solidFill>
              <a:schemeClr val="accent2"/>
            </a:solidFill>
            <a:prstDash val="solid"/>
          </a:ln>
        </p:spPr>
        <p:txBody>
          <a:bodyPr/>
          <a:lstStyle/>
          <a:p>
            <a:endParaRPr lang="es-CL"/>
          </a:p>
        </p:txBody>
      </p:sp>
      <p:sp>
        <p:nvSpPr>
          <p:cNvPr id="12" name="Text 9"/>
          <p:cNvSpPr txBox="1"/>
          <p:nvPr/>
        </p:nvSpPr>
        <p:spPr>
          <a:xfrm>
            <a:off x="6126480" y="3493008"/>
            <a:ext cx="5486400" cy="731520"/>
          </a:xfrm>
          <a:prstGeom prst="rect">
            <a:avLst/>
          </a:prstGeom>
          <a:noFill/>
          <a:ln/>
        </p:spPr>
        <p:txBody>
          <a:bodyPr wrap="square" lIns="0" tIns="0" rIns="0" bIns="0" rtlCol="0" anchor="t"/>
          <a:lstStyle/>
          <a:p>
            <a:pPr marL="0" indent="0">
              <a:buNone/>
            </a:pPr>
            <a:r>
              <a:rPr lang="en-US" sz="1600" b="1" dirty="0">
                <a:solidFill>
                  <a:schemeClr val="bg1"/>
                </a:solidFill>
              </a:rPr>
              <a:t>Simuladas · 2</a:t>
            </a:r>
            <a:endParaRPr lang="en-US" sz="1600" dirty="0"/>
          </a:p>
          <a:p>
            <a:pPr marL="0" indent="0">
              <a:buNone/>
            </a:pPr>
            <a:r>
              <a:rPr lang="en-US" sz="1300" dirty="0">
                <a:solidFill>
                  <a:schemeClr val="bg2"/>
                </a:solidFill>
              </a:rPr>
              <a:t>US-14 Webpay y US-16 Starken: faltan las credenciales reales.</a:t>
            </a:r>
            <a:endParaRPr lang="en-US" sz="1600" dirty="0"/>
          </a:p>
        </p:txBody>
      </p:sp>
      <p:sp>
        <p:nvSpPr>
          <p:cNvPr id="13" name="punto Parcial · 1"/>
          <p:cNvSpPr/>
          <p:nvPr/>
        </p:nvSpPr>
        <p:spPr>
          <a:xfrm>
            <a:off x="5760720" y="4352544"/>
            <a:ext cx="201168" cy="201168"/>
          </a:xfrm>
          <a:prstGeom prst="ellipse">
            <a:avLst/>
          </a:prstGeom>
          <a:solidFill>
            <a:schemeClr val="accent5"/>
          </a:solidFill>
          <a:ln w="12700">
            <a:solidFill>
              <a:schemeClr val="accent5"/>
            </a:solidFill>
            <a:prstDash val="solid"/>
          </a:ln>
        </p:spPr>
        <p:txBody>
          <a:bodyPr/>
          <a:lstStyle/>
          <a:p>
            <a:endParaRPr lang="es-CL"/>
          </a:p>
        </p:txBody>
      </p:sp>
      <p:sp>
        <p:nvSpPr>
          <p:cNvPr id="14" name="Text 11"/>
          <p:cNvSpPr txBox="1"/>
          <p:nvPr/>
        </p:nvSpPr>
        <p:spPr>
          <a:xfrm>
            <a:off x="6126480" y="4279392"/>
            <a:ext cx="5486400" cy="731520"/>
          </a:xfrm>
          <a:prstGeom prst="rect">
            <a:avLst/>
          </a:prstGeom>
          <a:noFill/>
          <a:ln/>
        </p:spPr>
        <p:txBody>
          <a:bodyPr wrap="square" lIns="0" tIns="0" rIns="0" bIns="0" rtlCol="0" anchor="t"/>
          <a:lstStyle/>
          <a:p>
            <a:pPr marL="0" indent="0">
              <a:buNone/>
            </a:pPr>
            <a:r>
              <a:rPr lang="en-US" sz="1600" b="1" dirty="0">
                <a:solidFill>
                  <a:schemeClr val="bg1"/>
                </a:solidFill>
              </a:rPr>
              <a:t>Parcial · 1</a:t>
            </a:r>
            <a:endParaRPr lang="en-US" sz="1600" dirty="0"/>
          </a:p>
          <a:p>
            <a:pPr marL="0" indent="0">
              <a:buNone/>
            </a:pPr>
            <a:r>
              <a:rPr lang="en-US" sz="1300" dirty="0">
                <a:solidFill>
                  <a:schemeClr val="bg2"/>
                </a:solidFill>
              </a:rPr>
              <a:t>US-04 Repositorio y CI: falta la integración continua.</a:t>
            </a:r>
            <a:endParaRPr lang="en-US" sz="1600" dirty="0"/>
          </a:p>
        </p:txBody>
      </p:sp>
      <p:sp>
        <p:nvSpPr>
          <p:cNvPr id="15" name="punto Pendientes · 2"/>
          <p:cNvSpPr/>
          <p:nvPr/>
        </p:nvSpPr>
        <p:spPr>
          <a:xfrm>
            <a:off x="5760720" y="5138928"/>
            <a:ext cx="201168" cy="201168"/>
          </a:xfrm>
          <a:prstGeom prst="ellipse">
            <a:avLst/>
          </a:prstGeom>
          <a:solidFill>
            <a:schemeClr val="accent1"/>
          </a:solidFill>
          <a:ln w="12700">
            <a:solidFill>
              <a:schemeClr val="accent1"/>
            </a:solidFill>
            <a:prstDash val="solid"/>
          </a:ln>
        </p:spPr>
        <p:txBody>
          <a:bodyPr/>
          <a:lstStyle/>
          <a:p>
            <a:endParaRPr lang="es-CL"/>
          </a:p>
        </p:txBody>
      </p:sp>
      <p:sp>
        <p:nvSpPr>
          <p:cNvPr id="16" name="Text 13"/>
          <p:cNvSpPr txBox="1"/>
          <p:nvPr/>
        </p:nvSpPr>
        <p:spPr>
          <a:xfrm>
            <a:off x="6126480" y="5065776"/>
            <a:ext cx="5486400" cy="731520"/>
          </a:xfrm>
          <a:prstGeom prst="rect">
            <a:avLst/>
          </a:prstGeom>
          <a:noFill/>
          <a:ln/>
        </p:spPr>
        <p:txBody>
          <a:bodyPr wrap="square" lIns="0" tIns="0" rIns="0" bIns="0" rtlCol="0" anchor="t"/>
          <a:lstStyle/>
          <a:p>
            <a:pPr marL="0" indent="0">
              <a:buNone/>
            </a:pPr>
            <a:r>
              <a:rPr lang="en-US" sz="1600" b="1" dirty="0">
                <a:solidFill>
                  <a:schemeClr val="bg1"/>
                </a:solidFill>
              </a:rPr>
              <a:t>Pendientes · 2</a:t>
            </a:r>
            <a:endParaRPr lang="en-US" sz="1600" dirty="0"/>
          </a:p>
          <a:p>
            <a:pPr marL="0" indent="0">
              <a:buNone/>
            </a:pPr>
            <a:r>
              <a:rPr lang="en-US" sz="1300" dirty="0">
                <a:solidFill>
                  <a:schemeClr val="bg2"/>
                </a:solidFill>
              </a:rPr>
              <a:t>US-19 Reportes PDF/Excel y US-20 Alertas de stock crítico.</a:t>
            </a:r>
            <a:endParaRPr lang="en-US" sz="1600" dirty="0"/>
          </a:p>
        </p:txBody>
      </p:sp>
      <p:sp>
        <p:nvSpPr>
          <p:cNvPr id="17" name="Text 14"/>
          <p:cNvSpPr txBox="1"/>
          <p:nvPr/>
        </p:nvSpPr>
        <p:spPr>
          <a:xfrm>
            <a:off x="5760720" y="5852160"/>
            <a:ext cx="5879592" cy="502920"/>
          </a:xfrm>
          <a:prstGeom prst="rect">
            <a:avLst/>
          </a:prstGeom>
          <a:noFill/>
          <a:ln/>
        </p:spPr>
        <p:txBody>
          <a:bodyPr wrap="square" lIns="0" tIns="0" rIns="0" bIns="0" rtlCol="0" anchor="t"/>
          <a:lstStyle/>
          <a:p>
            <a:pPr marL="0" indent="0">
              <a:buNone/>
            </a:pPr>
            <a:r>
              <a:rPr lang="en-US" sz="1300" b="1" dirty="0">
                <a:solidFill>
                  <a:schemeClr val="accent2"/>
                </a:solidFill>
              </a:rPr>
              <a:t>+7 historias nuevas </a:t>
            </a:r>
            <a:r>
              <a:rPr lang="en-US" sz="1300" dirty="0">
                <a:solidFill>
                  <a:schemeClr val="bg2"/>
                </a:solidFill>
              </a:rPr>
              <a:t>(US-21 a US-27): probador 3D, medidas opcionales, pruebas de la tienda, prenda idéntica a su foto y Roxy.</a:t>
            </a:r>
            <a:endParaRPr lang="en-US" sz="13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CALIDAD Y SEGURIDAD</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Probado y protegido</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Cada parte tiene pruebas automáticas, y la seguridad viene incluida desde el diseño.</a:t>
            </a:r>
            <a:endParaRPr lang="en-US" sz="1600" dirty="0"/>
          </a:p>
        </p:txBody>
      </p:sp>
      <p:graphicFrame>
        <p:nvGraphicFramePr>
          <p:cNvPr id="5" name="gráfico de pruebas" descr="Pruebas automáticas por componente"/>
          <p:cNvGraphicFramePr/>
          <p:nvPr/>
        </p:nvGraphicFramePr>
        <p:xfrm>
          <a:off x="548640" y="1828800"/>
          <a:ext cx="56692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insignia A"/>
          <p:cNvSpPr/>
          <p:nvPr/>
        </p:nvSpPr>
        <p:spPr>
          <a:xfrm>
            <a:off x="6675120" y="2057400"/>
            <a:ext cx="457200" cy="457200"/>
          </a:xfrm>
          <a:prstGeom prst="ellipse">
            <a:avLst/>
          </a:prstGeom>
          <a:solidFill>
            <a:srgbClr val="34D399">
              <a:alpha val="22000"/>
            </a:srgbClr>
          </a:solidFill>
          <a:ln w="15875">
            <a:solidFill>
              <a:srgbClr val="34D399"/>
            </a:solidFill>
            <a:prstDash val="solid"/>
          </a:ln>
        </p:spPr>
        <p:txBody>
          <a:bodyPr/>
          <a:lstStyle/>
          <a:p>
            <a:endParaRPr lang="es-CL"/>
          </a:p>
        </p:txBody>
      </p:sp>
      <p:sp>
        <p:nvSpPr>
          <p:cNvPr id="7" name="Text 4"/>
          <p:cNvSpPr txBox="1"/>
          <p:nvPr/>
        </p:nvSpPr>
        <p:spPr>
          <a:xfrm>
            <a:off x="6675120" y="2057400"/>
            <a:ext cx="457200" cy="457200"/>
          </a:xfrm>
          <a:prstGeom prst="rect">
            <a:avLst/>
          </a:prstGeom>
          <a:noFill/>
          <a:ln/>
        </p:spPr>
        <p:txBody>
          <a:bodyPr wrap="square" lIns="0" tIns="0" rIns="0" bIns="0" rtlCol="0" anchor="ctr"/>
          <a:lstStyle/>
          <a:p>
            <a:pPr marL="0" indent="0" algn="ctr">
              <a:buNone/>
            </a:pPr>
            <a:r>
              <a:rPr lang="en-US" sz="1500" b="1" dirty="0">
                <a:solidFill>
                  <a:srgbClr val="34D399"/>
                </a:solidFill>
              </a:rPr>
              <a:t>A</a:t>
            </a:r>
            <a:endParaRPr lang="en-US" sz="1500" dirty="0"/>
          </a:p>
        </p:txBody>
      </p:sp>
      <p:sp>
        <p:nvSpPr>
          <p:cNvPr id="8" name="Text 5"/>
          <p:cNvSpPr txBox="1"/>
          <p:nvPr/>
        </p:nvSpPr>
        <p:spPr>
          <a:xfrm>
            <a:off x="7315200" y="1993392"/>
            <a:ext cx="432511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Contraseñas con Argon2id</a:t>
            </a:r>
            <a:endParaRPr lang="en-US" sz="1600" dirty="0"/>
          </a:p>
          <a:p>
            <a:pPr marL="0" indent="0">
              <a:spcAft>
                <a:spcPts val="200"/>
              </a:spcAft>
              <a:buNone/>
            </a:pPr>
            <a:r>
              <a:rPr lang="en-US" sz="1400" dirty="0">
                <a:solidFill>
                  <a:schemeClr val="bg2"/>
                </a:solidFill>
              </a:rPr>
              <a:t>Nunca se guardan en texto plano.</a:t>
            </a:r>
            <a:endParaRPr lang="en-US" sz="1600" dirty="0"/>
          </a:p>
        </p:txBody>
      </p:sp>
      <p:sp>
        <p:nvSpPr>
          <p:cNvPr id="9" name="insignia T"/>
          <p:cNvSpPr/>
          <p:nvPr/>
        </p:nvSpPr>
        <p:spPr>
          <a:xfrm>
            <a:off x="6675120" y="3063240"/>
            <a:ext cx="457200" cy="457200"/>
          </a:xfrm>
          <a:prstGeom prst="ellipse">
            <a:avLst/>
          </a:prstGeom>
          <a:solidFill>
            <a:srgbClr val="34D399">
              <a:alpha val="22000"/>
            </a:srgbClr>
          </a:solidFill>
          <a:ln w="15875">
            <a:solidFill>
              <a:srgbClr val="34D399"/>
            </a:solidFill>
            <a:prstDash val="solid"/>
          </a:ln>
        </p:spPr>
        <p:txBody>
          <a:bodyPr/>
          <a:lstStyle/>
          <a:p>
            <a:endParaRPr lang="es-CL"/>
          </a:p>
        </p:txBody>
      </p:sp>
      <p:sp>
        <p:nvSpPr>
          <p:cNvPr id="10" name="Text 7"/>
          <p:cNvSpPr txBox="1"/>
          <p:nvPr/>
        </p:nvSpPr>
        <p:spPr>
          <a:xfrm>
            <a:off x="6675120" y="3063240"/>
            <a:ext cx="457200" cy="457200"/>
          </a:xfrm>
          <a:prstGeom prst="rect">
            <a:avLst/>
          </a:prstGeom>
          <a:noFill/>
          <a:ln/>
        </p:spPr>
        <p:txBody>
          <a:bodyPr wrap="square" lIns="0" tIns="0" rIns="0" bIns="0" rtlCol="0" anchor="ctr"/>
          <a:lstStyle/>
          <a:p>
            <a:pPr marL="0" indent="0" algn="ctr">
              <a:buNone/>
            </a:pPr>
            <a:r>
              <a:rPr lang="en-US" sz="1500" b="1" dirty="0">
                <a:solidFill>
                  <a:srgbClr val="34D399"/>
                </a:solidFill>
              </a:rPr>
              <a:t>T</a:t>
            </a:r>
            <a:endParaRPr lang="en-US" sz="1500" dirty="0"/>
          </a:p>
        </p:txBody>
      </p:sp>
      <p:sp>
        <p:nvSpPr>
          <p:cNvPr id="11" name="Text 8"/>
          <p:cNvSpPr txBox="1"/>
          <p:nvPr/>
        </p:nvSpPr>
        <p:spPr>
          <a:xfrm>
            <a:off x="7315200" y="2999232"/>
            <a:ext cx="432511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Sesiones JWT RS256</a:t>
            </a:r>
            <a:endParaRPr lang="en-US" sz="1600" dirty="0"/>
          </a:p>
          <a:p>
            <a:pPr marL="0" indent="0">
              <a:spcAft>
                <a:spcPts val="200"/>
              </a:spcAft>
              <a:buNone/>
            </a:pPr>
            <a:r>
              <a:rPr lang="en-US" sz="1400" dirty="0">
                <a:solidFill>
                  <a:schemeClr val="bg2"/>
                </a:solidFill>
              </a:rPr>
              <a:t>Tokens de corta duración y renovación revocable.</a:t>
            </a:r>
            <a:endParaRPr lang="en-US" sz="1600" dirty="0"/>
          </a:p>
        </p:txBody>
      </p:sp>
      <p:sp>
        <p:nvSpPr>
          <p:cNvPr id="12" name="insignia R"/>
          <p:cNvSpPr/>
          <p:nvPr/>
        </p:nvSpPr>
        <p:spPr>
          <a:xfrm>
            <a:off x="6675120" y="4069080"/>
            <a:ext cx="457200" cy="457200"/>
          </a:xfrm>
          <a:prstGeom prst="ellipse">
            <a:avLst/>
          </a:prstGeom>
          <a:solidFill>
            <a:srgbClr val="34D399">
              <a:alpha val="22000"/>
            </a:srgbClr>
          </a:solidFill>
          <a:ln w="15875">
            <a:solidFill>
              <a:srgbClr val="34D399"/>
            </a:solidFill>
            <a:prstDash val="solid"/>
          </a:ln>
        </p:spPr>
        <p:txBody>
          <a:bodyPr/>
          <a:lstStyle/>
          <a:p>
            <a:endParaRPr lang="es-CL"/>
          </a:p>
        </p:txBody>
      </p:sp>
      <p:sp>
        <p:nvSpPr>
          <p:cNvPr id="13" name="Text 10"/>
          <p:cNvSpPr txBox="1"/>
          <p:nvPr/>
        </p:nvSpPr>
        <p:spPr>
          <a:xfrm>
            <a:off x="6675120" y="4069080"/>
            <a:ext cx="457200" cy="457200"/>
          </a:xfrm>
          <a:prstGeom prst="rect">
            <a:avLst/>
          </a:prstGeom>
          <a:noFill/>
          <a:ln/>
        </p:spPr>
        <p:txBody>
          <a:bodyPr wrap="square" lIns="0" tIns="0" rIns="0" bIns="0" rtlCol="0" anchor="ctr"/>
          <a:lstStyle/>
          <a:p>
            <a:pPr marL="0" indent="0" algn="ctr">
              <a:buNone/>
            </a:pPr>
            <a:r>
              <a:rPr lang="en-US" sz="1500" b="1" dirty="0">
                <a:solidFill>
                  <a:srgbClr val="34D399"/>
                </a:solidFill>
              </a:rPr>
              <a:t>R</a:t>
            </a:r>
            <a:endParaRPr lang="en-US" sz="1500" dirty="0"/>
          </a:p>
        </p:txBody>
      </p:sp>
      <p:sp>
        <p:nvSpPr>
          <p:cNvPr id="14" name="Text 11"/>
          <p:cNvSpPr txBox="1"/>
          <p:nvPr/>
        </p:nvSpPr>
        <p:spPr>
          <a:xfrm>
            <a:off x="7315200" y="4005072"/>
            <a:ext cx="432511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Acceso por rol</a:t>
            </a:r>
            <a:endParaRPr lang="en-US" sz="1600" dirty="0"/>
          </a:p>
          <a:p>
            <a:pPr marL="0" indent="0">
              <a:spcAft>
                <a:spcPts val="200"/>
              </a:spcAft>
              <a:buNone/>
            </a:pPr>
            <a:r>
              <a:rPr lang="en-US" sz="1400" dirty="0">
                <a:solidFill>
                  <a:schemeClr val="bg2"/>
                </a:solidFill>
              </a:rPr>
              <a:t>Rutas protegidas por defecto; cada rol ve solo lo suyo.</a:t>
            </a:r>
            <a:endParaRPr lang="en-US" sz="1600" dirty="0"/>
          </a:p>
        </p:txBody>
      </p:sp>
      <p:sp>
        <p:nvSpPr>
          <p:cNvPr id="15" name="insignia ⇄"/>
          <p:cNvSpPr/>
          <p:nvPr/>
        </p:nvSpPr>
        <p:spPr>
          <a:xfrm>
            <a:off x="6675120" y="5074920"/>
            <a:ext cx="457200" cy="457200"/>
          </a:xfrm>
          <a:prstGeom prst="ellipse">
            <a:avLst/>
          </a:prstGeom>
          <a:solidFill>
            <a:srgbClr val="34D399">
              <a:alpha val="22000"/>
            </a:srgbClr>
          </a:solidFill>
          <a:ln w="15875">
            <a:solidFill>
              <a:srgbClr val="34D399"/>
            </a:solidFill>
            <a:prstDash val="solid"/>
          </a:ln>
        </p:spPr>
        <p:txBody>
          <a:bodyPr/>
          <a:lstStyle/>
          <a:p>
            <a:endParaRPr lang="es-CL"/>
          </a:p>
        </p:txBody>
      </p:sp>
      <p:sp>
        <p:nvSpPr>
          <p:cNvPr id="16" name="Text 13"/>
          <p:cNvSpPr txBox="1"/>
          <p:nvPr/>
        </p:nvSpPr>
        <p:spPr>
          <a:xfrm>
            <a:off x="6675120" y="5074920"/>
            <a:ext cx="457200" cy="457200"/>
          </a:xfrm>
          <a:prstGeom prst="rect">
            <a:avLst/>
          </a:prstGeom>
          <a:noFill/>
          <a:ln/>
        </p:spPr>
        <p:txBody>
          <a:bodyPr wrap="square" lIns="0" tIns="0" rIns="0" bIns="0" rtlCol="0" anchor="ctr"/>
          <a:lstStyle/>
          <a:p>
            <a:pPr marL="0" indent="0" algn="ctr">
              <a:buNone/>
            </a:pPr>
            <a:r>
              <a:rPr lang="en-US" sz="1500" b="1" dirty="0">
                <a:solidFill>
                  <a:srgbClr val="34D399"/>
                </a:solidFill>
              </a:rPr>
              <a:t>⇄</a:t>
            </a:r>
            <a:endParaRPr lang="en-US" sz="1500" dirty="0"/>
          </a:p>
        </p:txBody>
      </p:sp>
      <p:sp>
        <p:nvSpPr>
          <p:cNvPr id="17" name="Text 14"/>
          <p:cNvSpPr txBox="1"/>
          <p:nvPr/>
        </p:nvSpPr>
        <p:spPr>
          <a:xfrm>
            <a:off x="7315200" y="5010912"/>
            <a:ext cx="4325112" cy="868680"/>
          </a:xfrm>
          <a:prstGeom prst="rect">
            <a:avLst/>
          </a:prstGeom>
          <a:noFill/>
          <a:ln/>
        </p:spPr>
        <p:txBody>
          <a:bodyPr wrap="square" lIns="0" tIns="0" rIns="0" bIns="0" rtlCol="0" anchor="t"/>
          <a:lstStyle/>
          <a:p>
            <a:pPr marL="0" indent="0">
              <a:spcAft>
                <a:spcPts val="200"/>
              </a:spcAft>
              <a:buNone/>
            </a:pPr>
            <a:r>
              <a:rPr lang="en-US" sz="1600" b="1" dirty="0">
                <a:solidFill>
                  <a:schemeClr val="bg1"/>
                </a:solidFill>
              </a:rPr>
              <a:t>Stock sin dobles ventas</a:t>
            </a:r>
            <a:endParaRPr lang="en-US" sz="1600" dirty="0"/>
          </a:p>
          <a:p>
            <a:pPr marL="0" indent="0">
              <a:spcAft>
                <a:spcPts val="200"/>
              </a:spcAft>
              <a:buNone/>
            </a:pPr>
            <a:r>
              <a:rPr lang="en-US" sz="1400" dirty="0">
                <a:solidFill>
                  <a:schemeClr val="bg2"/>
                </a:solidFill>
              </a:rPr>
              <a:t>Bloqueo de filas y operaciones que no se duplican al reintentar.</a:t>
            </a:r>
            <a:endParaRPr lang="en-US" sz="16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ALCANCE DEL MVP</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Lo comprometido en la Fase 1, punto por punto</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La misma lista de "Sí contempla" que presentamos en la Fase 1.</a:t>
            </a:r>
            <a:endParaRPr lang="en-US" sz="1600" dirty="0"/>
          </a:p>
        </p:txBody>
      </p:sp>
      <p:sp>
        <p:nvSpPr>
          <p:cNvPr id="5" name="alcance POS para ventas presenciales"/>
          <p:cNvSpPr/>
          <p:nvPr/>
        </p:nvSpPr>
        <p:spPr>
          <a:xfrm>
            <a:off x="548640" y="1920240"/>
            <a:ext cx="5394960" cy="804672"/>
          </a:xfrm>
          <a:prstGeom prst="roundRect">
            <a:avLst>
              <a:gd name="adj" fmla="val 9091"/>
            </a:avLst>
          </a:prstGeom>
          <a:solidFill>
            <a:schemeClr val="tx2"/>
          </a:solidFill>
          <a:ln w="9525">
            <a:solidFill>
              <a:schemeClr val="accent6"/>
            </a:solidFill>
            <a:prstDash val="solid"/>
          </a:ln>
        </p:spPr>
        <p:txBody>
          <a:bodyPr/>
          <a:lstStyle/>
          <a:p>
            <a:endParaRPr lang="es-CL"/>
          </a:p>
        </p:txBody>
      </p:sp>
      <p:sp>
        <p:nvSpPr>
          <p:cNvPr id="6" name="Text 4"/>
          <p:cNvSpPr txBox="1"/>
          <p:nvPr/>
        </p:nvSpPr>
        <p:spPr>
          <a:xfrm>
            <a:off x="731520" y="1920240"/>
            <a:ext cx="457200" cy="804672"/>
          </a:xfrm>
          <a:prstGeom prst="rect">
            <a:avLst/>
          </a:prstGeom>
          <a:noFill/>
          <a:ln/>
        </p:spPr>
        <p:txBody>
          <a:bodyPr wrap="square" lIns="0" tIns="0" rIns="0" bIns="0" rtlCol="0" anchor="ctr"/>
          <a:lstStyle/>
          <a:p>
            <a:pPr marL="0" indent="0">
              <a:buNone/>
            </a:pPr>
            <a:r>
              <a:rPr lang="en-US" sz="2200" b="1" dirty="0">
                <a:solidFill>
                  <a:schemeClr val="accent3"/>
                </a:solidFill>
              </a:rPr>
              <a:t>✓</a:t>
            </a:r>
            <a:endParaRPr lang="en-US" sz="2200" dirty="0"/>
          </a:p>
        </p:txBody>
      </p:sp>
      <p:sp>
        <p:nvSpPr>
          <p:cNvPr id="7" name="Text 5"/>
          <p:cNvSpPr txBox="1"/>
          <p:nvPr/>
        </p:nvSpPr>
        <p:spPr>
          <a:xfrm>
            <a:off x="1234440" y="1920240"/>
            <a:ext cx="3383280" cy="804672"/>
          </a:xfrm>
          <a:prstGeom prst="rect">
            <a:avLst/>
          </a:prstGeom>
          <a:noFill/>
          <a:ln/>
        </p:spPr>
        <p:txBody>
          <a:bodyPr wrap="square" lIns="0" tIns="0" rIns="0" bIns="0" rtlCol="0" anchor="ctr"/>
          <a:lstStyle/>
          <a:p>
            <a:pPr marL="0" indent="0">
              <a:buNone/>
            </a:pPr>
            <a:r>
              <a:rPr lang="en-US" sz="1500" b="1" dirty="0">
                <a:solidFill>
                  <a:schemeClr val="bg1"/>
                </a:solidFill>
              </a:rPr>
              <a:t>POS para ventas presenciales</a:t>
            </a:r>
            <a:endParaRPr lang="en-US" sz="1500" dirty="0"/>
          </a:p>
        </p:txBody>
      </p:sp>
      <p:sp>
        <p:nvSpPr>
          <p:cNvPr id="8" name="Text 6"/>
          <p:cNvSpPr txBox="1"/>
          <p:nvPr/>
        </p:nvSpPr>
        <p:spPr>
          <a:xfrm>
            <a:off x="4663440" y="1920240"/>
            <a:ext cx="1097280" cy="804672"/>
          </a:xfrm>
          <a:prstGeom prst="rect">
            <a:avLst/>
          </a:prstGeom>
          <a:noFill/>
          <a:ln/>
        </p:spPr>
        <p:txBody>
          <a:bodyPr wrap="square" lIns="0" tIns="0" rIns="0" bIns="0" rtlCol="0" anchor="ctr"/>
          <a:lstStyle/>
          <a:p>
            <a:pPr marL="0" indent="0" algn="r">
              <a:buNone/>
            </a:pPr>
            <a:r>
              <a:rPr lang="en-US" sz="1400" b="1" dirty="0">
                <a:solidFill>
                  <a:schemeClr val="accent3"/>
                </a:solidFill>
              </a:rPr>
              <a:t>Cumplido</a:t>
            </a:r>
            <a:endParaRPr lang="en-US" sz="1400" dirty="0"/>
          </a:p>
        </p:txBody>
      </p:sp>
      <p:sp>
        <p:nvSpPr>
          <p:cNvPr id="9" name="alcance E-commerce responsive para clientes"/>
          <p:cNvSpPr/>
          <p:nvPr/>
        </p:nvSpPr>
        <p:spPr>
          <a:xfrm>
            <a:off x="6245352" y="1920240"/>
            <a:ext cx="5394960" cy="804672"/>
          </a:xfrm>
          <a:prstGeom prst="roundRect">
            <a:avLst>
              <a:gd name="adj" fmla="val 9091"/>
            </a:avLst>
          </a:prstGeom>
          <a:solidFill>
            <a:schemeClr val="tx2"/>
          </a:solidFill>
          <a:ln w="9525">
            <a:solidFill>
              <a:schemeClr val="accent6"/>
            </a:solidFill>
            <a:prstDash val="solid"/>
          </a:ln>
        </p:spPr>
        <p:txBody>
          <a:bodyPr/>
          <a:lstStyle/>
          <a:p>
            <a:endParaRPr lang="es-CL"/>
          </a:p>
        </p:txBody>
      </p:sp>
      <p:sp>
        <p:nvSpPr>
          <p:cNvPr id="10" name="Text 8"/>
          <p:cNvSpPr txBox="1"/>
          <p:nvPr/>
        </p:nvSpPr>
        <p:spPr>
          <a:xfrm>
            <a:off x="6428232" y="1920240"/>
            <a:ext cx="457200" cy="804672"/>
          </a:xfrm>
          <a:prstGeom prst="rect">
            <a:avLst/>
          </a:prstGeom>
          <a:noFill/>
          <a:ln/>
        </p:spPr>
        <p:txBody>
          <a:bodyPr wrap="square" lIns="0" tIns="0" rIns="0" bIns="0" rtlCol="0" anchor="ctr"/>
          <a:lstStyle/>
          <a:p>
            <a:pPr marL="0" indent="0">
              <a:buNone/>
            </a:pPr>
            <a:r>
              <a:rPr lang="en-US" sz="2200" b="1" dirty="0">
                <a:solidFill>
                  <a:schemeClr val="accent3"/>
                </a:solidFill>
              </a:rPr>
              <a:t>✓</a:t>
            </a:r>
            <a:endParaRPr lang="en-US" sz="2200" dirty="0"/>
          </a:p>
        </p:txBody>
      </p:sp>
      <p:sp>
        <p:nvSpPr>
          <p:cNvPr id="11" name="Text 9"/>
          <p:cNvSpPr txBox="1"/>
          <p:nvPr/>
        </p:nvSpPr>
        <p:spPr>
          <a:xfrm>
            <a:off x="6931152" y="1920240"/>
            <a:ext cx="3383280" cy="804672"/>
          </a:xfrm>
          <a:prstGeom prst="rect">
            <a:avLst/>
          </a:prstGeom>
          <a:noFill/>
          <a:ln/>
        </p:spPr>
        <p:txBody>
          <a:bodyPr wrap="square" lIns="0" tIns="0" rIns="0" bIns="0" rtlCol="0" anchor="ctr"/>
          <a:lstStyle/>
          <a:p>
            <a:pPr marL="0" indent="0">
              <a:buNone/>
            </a:pPr>
            <a:r>
              <a:rPr lang="en-US" sz="1500" b="1" dirty="0">
                <a:solidFill>
                  <a:schemeClr val="bg1"/>
                </a:solidFill>
              </a:rPr>
              <a:t>E-commerce responsive para clientes</a:t>
            </a:r>
            <a:endParaRPr lang="en-US" sz="1500" dirty="0"/>
          </a:p>
        </p:txBody>
      </p:sp>
      <p:sp>
        <p:nvSpPr>
          <p:cNvPr id="12" name="Text 10"/>
          <p:cNvSpPr txBox="1"/>
          <p:nvPr/>
        </p:nvSpPr>
        <p:spPr>
          <a:xfrm>
            <a:off x="10360152" y="1920240"/>
            <a:ext cx="1097280" cy="804672"/>
          </a:xfrm>
          <a:prstGeom prst="rect">
            <a:avLst/>
          </a:prstGeom>
          <a:noFill/>
          <a:ln/>
        </p:spPr>
        <p:txBody>
          <a:bodyPr wrap="square" lIns="0" tIns="0" rIns="0" bIns="0" rtlCol="0" anchor="ctr"/>
          <a:lstStyle/>
          <a:p>
            <a:pPr marL="0" indent="0" algn="r">
              <a:buNone/>
            </a:pPr>
            <a:r>
              <a:rPr lang="en-US" sz="1400" b="1" dirty="0">
                <a:solidFill>
                  <a:schemeClr val="accent3"/>
                </a:solidFill>
              </a:rPr>
              <a:t>Cumplido</a:t>
            </a:r>
            <a:endParaRPr lang="en-US" sz="1400" dirty="0"/>
          </a:p>
        </p:txBody>
      </p:sp>
      <p:sp>
        <p:nvSpPr>
          <p:cNvPr id="13" name="alcance Sincronización de stock en tiempo real"/>
          <p:cNvSpPr/>
          <p:nvPr/>
        </p:nvSpPr>
        <p:spPr>
          <a:xfrm>
            <a:off x="548640" y="2862072"/>
            <a:ext cx="5394960" cy="804672"/>
          </a:xfrm>
          <a:prstGeom prst="roundRect">
            <a:avLst>
              <a:gd name="adj" fmla="val 9091"/>
            </a:avLst>
          </a:prstGeom>
          <a:solidFill>
            <a:schemeClr val="tx2"/>
          </a:solidFill>
          <a:ln w="9525">
            <a:solidFill>
              <a:schemeClr val="accent6"/>
            </a:solidFill>
            <a:prstDash val="solid"/>
          </a:ln>
        </p:spPr>
        <p:txBody>
          <a:bodyPr/>
          <a:lstStyle/>
          <a:p>
            <a:endParaRPr lang="es-CL"/>
          </a:p>
        </p:txBody>
      </p:sp>
      <p:sp>
        <p:nvSpPr>
          <p:cNvPr id="14" name="Text 12"/>
          <p:cNvSpPr txBox="1"/>
          <p:nvPr/>
        </p:nvSpPr>
        <p:spPr>
          <a:xfrm>
            <a:off x="731520" y="2862072"/>
            <a:ext cx="457200" cy="804672"/>
          </a:xfrm>
          <a:prstGeom prst="rect">
            <a:avLst/>
          </a:prstGeom>
          <a:noFill/>
          <a:ln/>
        </p:spPr>
        <p:txBody>
          <a:bodyPr wrap="square" lIns="0" tIns="0" rIns="0" bIns="0" rtlCol="0" anchor="ctr"/>
          <a:lstStyle/>
          <a:p>
            <a:pPr marL="0" indent="0">
              <a:buNone/>
            </a:pPr>
            <a:r>
              <a:rPr lang="en-US" sz="2200" b="1" dirty="0">
                <a:solidFill>
                  <a:schemeClr val="accent3"/>
                </a:solidFill>
              </a:rPr>
              <a:t>✓</a:t>
            </a:r>
            <a:endParaRPr lang="en-US" sz="2200" dirty="0"/>
          </a:p>
        </p:txBody>
      </p:sp>
      <p:sp>
        <p:nvSpPr>
          <p:cNvPr id="15" name="Text 13"/>
          <p:cNvSpPr txBox="1"/>
          <p:nvPr/>
        </p:nvSpPr>
        <p:spPr>
          <a:xfrm>
            <a:off x="1234440" y="2862072"/>
            <a:ext cx="3383280" cy="804672"/>
          </a:xfrm>
          <a:prstGeom prst="rect">
            <a:avLst/>
          </a:prstGeom>
          <a:noFill/>
          <a:ln/>
        </p:spPr>
        <p:txBody>
          <a:bodyPr wrap="square" lIns="0" tIns="0" rIns="0" bIns="0" rtlCol="0" anchor="ctr"/>
          <a:lstStyle/>
          <a:p>
            <a:pPr marL="0" indent="0">
              <a:buNone/>
            </a:pPr>
            <a:r>
              <a:rPr lang="en-US" sz="1500" b="1" dirty="0">
                <a:solidFill>
                  <a:schemeClr val="bg1"/>
                </a:solidFill>
              </a:rPr>
              <a:t>Sincronización de stock en tiempo real</a:t>
            </a:r>
            <a:endParaRPr lang="en-US" sz="1500" dirty="0"/>
          </a:p>
        </p:txBody>
      </p:sp>
      <p:sp>
        <p:nvSpPr>
          <p:cNvPr id="16" name="Text 14"/>
          <p:cNvSpPr txBox="1"/>
          <p:nvPr/>
        </p:nvSpPr>
        <p:spPr>
          <a:xfrm>
            <a:off x="4663440" y="2862072"/>
            <a:ext cx="1097280" cy="804672"/>
          </a:xfrm>
          <a:prstGeom prst="rect">
            <a:avLst/>
          </a:prstGeom>
          <a:noFill/>
          <a:ln/>
        </p:spPr>
        <p:txBody>
          <a:bodyPr wrap="square" lIns="0" tIns="0" rIns="0" bIns="0" rtlCol="0" anchor="ctr"/>
          <a:lstStyle/>
          <a:p>
            <a:pPr marL="0" indent="0" algn="r">
              <a:buNone/>
            </a:pPr>
            <a:r>
              <a:rPr lang="en-US" sz="1400" b="1" dirty="0">
                <a:solidFill>
                  <a:schemeClr val="accent3"/>
                </a:solidFill>
              </a:rPr>
              <a:t>Cumplido</a:t>
            </a:r>
            <a:endParaRPr lang="en-US" sz="1400" dirty="0"/>
          </a:p>
        </p:txBody>
      </p:sp>
      <p:sp>
        <p:nvSpPr>
          <p:cNvPr id="17" name="alcance Catálogo por categoría y banda"/>
          <p:cNvSpPr/>
          <p:nvPr/>
        </p:nvSpPr>
        <p:spPr>
          <a:xfrm>
            <a:off x="6245352" y="2862072"/>
            <a:ext cx="5394960" cy="804672"/>
          </a:xfrm>
          <a:prstGeom prst="roundRect">
            <a:avLst>
              <a:gd name="adj" fmla="val 9091"/>
            </a:avLst>
          </a:prstGeom>
          <a:solidFill>
            <a:schemeClr val="tx2"/>
          </a:solidFill>
          <a:ln w="9525">
            <a:solidFill>
              <a:schemeClr val="accent6"/>
            </a:solidFill>
            <a:prstDash val="solid"/>
          </a:ln>
        </p:spPr>
        <p:txBody>
          <a:bodyPr/>
          <a:lstStyle/>
          <a:p>
            <a:endParaRPr lang="es-CL"/>
          </a:p>
        </p:txBody>
      </p:sp>
      <p:sp>
        <p:nvSpPr>
          <p:cNvPr id="18" name="Text 16"/>
          <p:cNvSpPr txBox="1"/>
          <p:nvPr/>
        </p:nvSpPr>
        <p:spPr>
          <a:xfrm>
            <a:off x="6428232" y="2862072"/>
            <a:ext cx="457200" cy="804672"/>
          </a:xfrm>
          <a:prstGeom prst="rect">
            <a:avLst/>
          </a:prstGeom>
          <a:noFill/>
          <a:ln/>
        </p:spPr>
        <p:txBody>
          <a:bodyPr wrap="square" lIns="0" tIns="0" rIns="0" bIns="0" rtlCol="0" anchor="ctr"/>
          <a:lstStyle/>
          <a:p>
            <a:pPr marL="0" indent="0">
              <a:buNone/>
            </a:pPr>
            <a:r>
              <a:rPr lang="en-US" sz="2200" b="1" dirty="0">
                <a:solidFill>
                  <a:schemeClr val="accent3"/>
                </a:solidFill>
              </a:rPr>
              <a:t>✓</a:t>
            </a:r>
            <a:endParaRPr lang="en-US" sz="2200" dirty="0"/>
          </a:p>
        </p:txBody>
      </p:sp>
      <p:sp>
        <p:nvSpPr>
          <p:cNvPr id="19" name="Text 17"/>
          <p:cNvSpPr txBox="1"/>
          <p:nvPr/>
        </p:nvSpPr>
        <p:spPr>
          <a:xfrm>
            <a:off x="6931152" y="2862072"/>
            <a:ext cx="3383280" cy="804672"/>
          </a:xfrm>
          <a:prstGeom prst="rect">
            <a:avLst/>
          </a:prstGeom>
          <a:noFill/>
          <a:ln/>
        </p:spPr>
        <p:txBody>
          <a:bodyPr wrap="square" lIns="0" tIns="0" rIns="0" bIns="0" rtlCol="0" anchor="ctr"/>
          <a:lstStyle/>
          <a:p>
            <a:pPr marL="0" indent="0">
              <a:buNone/>
            </a:pPr>
            <a:r>
              <a:rPr lang="en-US" sz="1500" b="1" dirty="0">
                <a:solidFill>
                  <a:schemeClr val="bg1"/>
                </a:solidFill>
              </a:rPr>
              <a:t>Catálogo por categoría y banda</a:t>
            </a:r>
            <a:endParaRPr lang="en-US" sz="1500" dirty="0"/>
          </a:p>
        </p:txBody>
      </p:sp>
      <p:sp>
        <p:nvSpPr>
          <p:cNvPr id="20" name="Text 18"/>
          <p:cNvSpPr txBox="1"/>
          <p:nvPr/>
        </p:nvSpPr>
        <p:spPr>
          <a:xfrm>
            <a:off x="10360152" y="2862072"/>
            <a:ext cx="1097280" cy="804672"/>
          </a:xfrm>
          <a:prstGeom prst="rect">
            <a:avLst/>
          </a:prstGeom>
          <a:noFill/>
          <a:ln/>
        </p:spPr>
        <p:txBody>
          <a:bodyPr wrap="square" lIns="0" tIns="0" rIns="0" bIns="0" rtlCol="0" anchor="ctr"/>
          <a:lstStyle/>
          <a:p>
            <a:pPr marL="0" indent="0" algn="r">
              <a:buNone/>
            </a:pPr>
            <a:r>
              <a:rPr lang="en-US" sz="1400" b="1" dirty="0">
                <a:solidFill>
                  <a:schemeClr val="accent3"/>
                </a:solidFill>
              </a:rPr>
              <a:t>Cumplido</a:t>
            </a:r>
            <a:endParaRPr lang="en-US" sz="1400" dirty="0"/>
          </a:p>
        </p:txBody>
      </p:sp>
      <p:sp>
        <p:nvSpPr>
          <p:cNvPr id="21" name="alcance Trazabilidad de ventas y movimientos"/>
          <p:cNvSpPr/>
          <p:nvPr/>
        </p:nvSpPr>
        <p:spPr>
          <a:xfrm>
            <a:off x="548640" y="3803904"/>
            <a:ext cx="5394960" cy="804672"/>
          </a:xfrm>
          <a:prstGeom prst="roundRect">
            <a:avLst>
              <a:gd name="adj" fmla="val 9091"/>
            </a:avLst>
          </a:prstGeom>
          <a:solidFill>
            <a:schemeClr val="tx2"/>
          </a:solidFill>
          <a:ln w="9525">
            <a:solidFill>
              <a:schemeClr val="accent6"/>
            </a:solidFill>
            <a:prstDash val="solid"/>
          </a:ln>
        </p:spPr>
        <p:txBody>
          <a:bodyPr/>
          <a:lstStyle/>
          <a:p>
            <a:endParaRPr lang="es-CL"/>
          </a:p>
        </p:txBody>
      </p:sp>
      <p:sp>
        <p:nvSpPr>
          <p:cNvPr id="22" name="Text 20"/>
          <p:cNvSpPr txBox="1"/>
          <p:nvPr/>
        </p:nvSpPr>
        <p:spPr>
          <a:xfrm>
            <a:off x="731520" y="3803904"/>
            <a:ext cx="457200" cy="804672"/>
          </a:xfrm>
          <a:prstGeom prst="rect">
            <a:avLst/>
          </a:prstGeom>
          <a:noFill/>
          <a:ln/>
        </p:spPr>
        <p:txBody>
          <a:bodyPr wrap="square" lIns="0" tIns="0" rIns="0" bIns="0" rtlCol="0" anchor="ctr"/>
          <a:lstStyle/>
          <a:p>
            <a:pPr marL="0" indent="0">
              <a:buNone/>
            </a:pPr>
            <a:r>
              <a:rPr lang="en-US" sz="2200" b="1" dirty="0">
                <a:solidFill>
                  <a:schemeClr val="accent3"/>
                </a:solidFill>
              </a:rPr>
              <a:t>✓</a:t>
            </a:r>
            <a:endParaRPr lang="en-US" sz="2200" dirty="0"/>
          </a:p>
        </p:txBody>
      </p:sp>
      <p:sp>
        <p:nvSpPr>
          <p:cNvPr id="23" name="Text 21"/>
          <p:cNvSpPr txBox="1"/>
          <p:nvPr/>
        </p:nvSpPr>
        <p:spPr>
          <a:xfrm>
            <a:off x="1234440" y="3803904"/>
            <a:ext cx="3383280" cy="804672"/>
          </a:xfrm>
          <a:prstGeom prst="rect">
            <a:avLst/>
          </a:prstGeom>
          <a:noFill/>
          <a:ln/>
        </p:spPr>
        <p:txBody>
          <a:bodyPr wrap="square" lIns="0" tIns="0" rIns="0" bIns="0" rtlCol="0" anchor="ctr"/>
          <a:lstStyle/>
          <a:p>
            <a:pPr marL="0" indent="0">
              <a:buNone/>
            </a:pPr>
            <a:r>
              <a:rPr lang="en-US" sz="1500" b="1" dirty="0">
                <a:solidFill>
                  <a:schemeClr val="bg1"/>
                </a:solidFill>
              </a:rPr>
              <a:t>Trazabilidad de ventas y movimientos</a:t>
            </a:r>
            <a:endParaRPr lang="en-US" sz="1500" dirty="0"/>
          </a:p>
        </p:txBody>
      </p:sp>
      <p:sp>
        <p:nvSpPr>
          <p:cNvPr id="24" name="Text 22"/>
          <p:cNvSpPr txBox="1"/>
          <p:nvPr/>
        </p:nvSpPr>
        <p:spPr>
          <a:xfrm>
            <a:off x="4663440" y="3803904"/>
            <a:ext cx="1097280" cy="804672"/>
          </a:xfrm>
          <a:prstGeom prst="rect">
            <a:avLst/>
          </a:prstGeom>
          <a:noFill/>
          <a:ln/>
        </p:spPr>
        <p:txBody>
          <a:bodyPr wrap="square" lIns="0" tIns="0" rIns="0" bIns="0" rtlCol="0" anchor="ctr"/>
          <a:lstStyle/>
          <a:p>
            <a:pPr marL="0" indent="0" algn="r">
              <a:buNone/>
            </a:pPr>
            <a:r>
              <a:rPr lang="en-US" sz="1400" b="1" dirty="0">
                <a:solidFill>
                  <a:schemeClr val="accent3"/>
                </a:solidFill>
              </a:rPr>
              <a:t>Cumplido</a:t>
            </a:r>
            <a:endParaRPr lang="en-US" sz="1400" dirty="0"/>
          </a:p>
        </p:txBody>
      </p:sp>
      <p:sp>
        <p:nvSpPr>
          <p:cNvPr id="25" name="alcance Dashboard con KPI comerciales y de inventario"/>
          <p:cNvSpPr/>
          <p:nvPr/>
        </p:nvSpPr>
        <p:spPr>
          <a:xfrm>
            <a:off x="6245352" y="3803904"/>
            <a:ext cx="5394960" cy="804672"/>
          </a:xfrm>
          <a:prstGeom prst="roundRect">
            <a:avLst>
              <a:gd name="adj" fmla="val 9091"/>
            </a:avLst>
          </a:prstGeom>
          <a:solidFill>
            <a:schemeClr val="tx2"/>
          </a:solidFill>
          <a:ln w="9525">
            <a:solidFill>
              <a:schemeClr val="accent6"/>
            </a:solidFill>
            <a:prstDash val="solid"/>
          </a:ln>
        </p:spPr>
        <p:txBody>
          <a:bodyPr/>
          <a:lstStyle/>
          <a:p>
            <a:endParaRPr lang="es-CL"/>
          </a:p>
        </p:txBody>
      </p:sp>
      <p:sp>
        <p:nvSpPr>
          <p:cNvPr id="26" name="Text 24"/>
          <p:cNvSpPr txBox="1"/>
          <p:nvPr/>
        </p:nvSpPr>
        <p:spPr>
          <a:xfrm>
            <a:off x="6428232" y="3803904"/>
            <a:ext cx="457200" cy="804672"/>
          </a:xfrm>
          <a:prstGeom prst="rect">
            <a:avLst/>
          </a:prstGeom>
          <a:noFill/>
          <a:ln/>
        </p:spPr>
        <p:txBody>
          <a:bodyPr wrap="square" lIns="0" tIns="0" rIns="0" bIns="0" rtlCol="0" anchor="ctr"/>
          <a:lstStyle/>
          <a:p>
            <a:pPr marL="0" indent="0">
              <a:buNone/>
            </a:pPr>
            <a:r>
              <a:rPr lang="en-US" sz="2200" b="1" dirty="0">
                <a:solidFill>
                  <a:schemeClr val="accent4"/>
                </a:solidFill>
              </a:rPr>
              <a:t>◐</a:t>
            </a:r>
            <a:endParaRPr lang="en-US" sz="2200" dirty="0"/>
          </a:p>
        </p:txBody>
      </p:sp>
      <p:sp>
        <p:nvSpPr>
          <p:cNvPr id="27" name="Text 25"/>
          <p:cNvSpPr txBox="1"/>
          <p:nvPr/>
        </p:nvSpPr>
        <p:spPr>
          <a:xfrm>
            <a:off x="6931152" y="3803904"/>
            <a:ext cx="3383280" cy="804672"/>
          </a:xfrm>
          <a:prstGeom prst="rect">
            <a:avLst/>
          </a:prstGeom>
          <a:noFill/>
          <a:ln/>
        </p:spPr>
        <p:txBody>
          <a:bodyPr wrap="square" lIns="0" tIns="0" rIns="0" bIns="0" rtlCol="0" anchor="ctr"/>
          <a:lstStyle/>
          <a:p>
            <a:pPr marL="0" indent="0">
              <a:buNone/>
            </a:pPr>
            <a:r>
              <a:rPr lang="en-US" sz="1500" b="1" dirty="0">
                <a:solidFill>
                  <a:schemeClr val="bg1"/>
                </a:solidFill>
              </a:rPr>
              <a:t>Dashboard con KPI comerciales y de inventario</a:t>
            </a:r>
            <a:endParaRPr lang="en-US" sz="1500" dirty="0"/>
          </a:p>
        </p:txBody>
      </p:sp>
      <p:sp>
        <p:nvSpPr>
          <p:cNvPr id="28" name="Text 26"/>
          <p:cNvSpPr txBox="1"/>
          <p:nvPr/>
        </p:nvSpPr>
        <p:spPr>
          <a:xfrm>
            <a:off x="10360152" y="3803904"/>
            <a:ext cx="1097280" cy="804672"/>
          </a:xfrm>
          <a:prstGeom prst="rect">
            <a:avLst/>
          </a:prstGeom>
          <a:noFill/>
          <a:ln/>
        </p:spPr>
        <p:txBody>
          <a:bodyPr wrap="square" lIns="0" tIns="0" rIns="0" bIns="0" rtlCol="0" anchor="ctr"/>
          <a:lstStyle/>
          <a:p>
            <a:pPr marL="0" indent="0" algn="r">
              <a:buNone/>
            </a:pPr>
            <a:r>
              <a:rPr lang="en-US" sz="1400" b="1" dirty="0">
                <a:solidFill>
                  <a:schemeClr val="accent4"/>
                </a:solidFill>
              </a:rPr>
              <a:t>Avanzado</a:t>
            </a:r>
            <a:endParaRPr lang="en-US" sz="1400" dirty="0"/>
          </a:p>
        </p:txBody>
      </p:sp>
      <p:sp>
        <p:nvSpPr>
          <p:cNvPr id="29" name="alcance Carrito y pagos con Webpay"/>
          <p:cNvSpPr/>
          <p:nvPr/>
        </p:nvSpPr>
        <p:spPr>
          <a:xfrm>
            <a:off x="548640" y="4745736"/>
            <a:ext cx="5394960" cy="804672"/>
          </a:xfrm>
          <a:prstGeom prst="roundRect">
            <a:avLst>
              <a:gd name="adj" fmla="val 9091"/>
            </a:avLst>
          </a:prstGeom>
          <a:solidFill>
            <a:schemeClr val="tx2"/>
          </a:solidFill>
          <a:ln w="9525">
            <a:solidFill>
              <a:schemeClr val="accent6"/>
            </a:solidFill>
            <a:prstDash val="solid"/>
          </a:ln>
        </p:spPr>
        <p:txBody>
          <a:bodyPr/>
          <a:lstStyle/>
          <a:p>
            <a:endParaRPr lang="es-CL"/>
          </a:p>
        </p:txBody>
      </p:sp>
      <p:sp>
        <p:nvSpPr>
          <p:cNvPr id="30" name="Text 28"/>
          <p:cNvSpPr txBox="1"/>
          <p:nvPr/>
        </p:nvSpPr>
        <p:spPr>
          <a:xfrm>
            <a:off x="731520" y="4745736"/>
            <a:ext cx="457200" cy="804672"/>
          </a:xfrm>
          <a:prstGeom prst="rect">
            <a:avLst/>
          </a:prstGeom>
          <a:noFill/>
          <a:ln/>
        </p:spPr>
        <p:txBody>
          <a:bodyPr wrap="square" lIns="0" tIns="0" rIns="0" bIns="0" rtlCol="0" anchor="ctr"/>
          <a:lstStyle/>
          <a:p>
            <a:pPr marL="0" indent="0">
              <a:buNone/>
            </a:pPr>
            <a:r>
              <a:rPr lang="en-US" sz="2200" b="1" dirty="0">
                <a:solidFill>
                  <a:schemeClr val="accent2"/>
                </a:solidFill>
              </a:rPr>
              <a:t>◐</a:t>
            </a:r>
            <a:endParaRPr lang="en-US" sz="2200" dirty="0"/>
          </a:p>
        </p:txBody>
      </p:sp>
      <p:sp>
        <p:nvSpPr>
          <p:cNvPr id="31" name="Text 29"/>
          <p:cNvSpPr txBox="1"/>
          <p:nvPr/>
        </p:nvSpPr>
        <p:spPr>
          <a:xfrm>
            <a:off x="1234440" y="4745736"/>
            <a:ext cx="3383280" cy="804672"/>
          </a:xfrm>
          <a:prstGeom prst="rect">
            <a:avLst/>
          </a:prstGeom>
          <a:noFill/>
          <a:ln/>
        </p:spPr>
        <p:txBody>
          <a:bodyPr wrap="square" lIns="0" tIns="0" rIns="0" bIns="0" rtlCol="0" anchor="ctr"/>
          <a:lstStyle/>
          <a:p>
            <a:pPr marL="0" indent="0">
              <a:buNone/>
            </a:pPr>
            <a:r>
              <a:rPr lang="en-US" sz="1500" b="1" dirty="0">
                <a:solidFill>
                  <a:schemeClr val="bg1"/>
                </a:solidFill>
              </a:rPr>
              <a:t>Carrito y pagos con Webpay</a:t>
            </a:r>
            <a:endParaRPr lang="en-US" sz="1500" dirty="0"/>
          </a:p>
        </p:txBody>
      </p:sp>
      <p:sp>
        <p:nvSpPr>
          <p:cNvPr id="32" name="Text 30"/>
          <p:cNvSpPr txBox="1"/>
          <p:nvPr/>
        </p:nvSpPr>
        <p:spPr>
          <a:xfrm>
            <a:off x="4663440" y="4745736"/>
            <a:ext cx="1097280" cy="804672"/>
          </a:xfrm>
          <a:prstGeom prst="rect">
            <a:avLst/>
          </a:prstGeom>
          <a:noFill/>
          <a:ln/>
        </p:spPr>
        <p:txBody>
          <a:bodyPr wrap="square" lIns="0" tIns="0" rIns="0" bIns="0" rtlCol="0" anchor="ctr"/>
          <a:lstStyle/>
          <a:p>
            <a:pPr marL="0" indent="0" algn="r">
              <a:buNone/>
            </a:pPr>
            <a:r>
              <a:rPr lang="en-US" sz="1400" b="1" dirty="0">
                <a:solidFill>
                  <a:schemeClr val="accent2"/>
                </a:solidFill>
              </a:rPr>
              <a:t>Simulado</a:t>
            </a:r>
            <a:endParaRPr lang="en-US" sz="1400" dirty="0"/>
          </a:p>
        </p:txBody>
      </p:sp>
      <p:sp>
        <p:nvSpPr>
          <p:cNvPr id="33" name="alcance Despachos automáticos con Starken"/>
          <p:cNvSpPr/>
          <p:nvPr/>
        </p:nvSpPr>
        <p:spPr>
          <a:xfrm>
            <a:off x="6245352" y="4745736"/>
            <a:ext cx="5394960" cy="804672"/>
          </a:xfrm>
          <a:prstGeom prst="roundRect">
            <a:avLst>
              <a:gd name="adj" fmla="val 9091"/>
            </a:avLst>
          </a:prstGeom>
          <a:solidFill>
            <a:schemeClr val="tx2"/>
          </a:solidFill>
          <a:ln w="9525">
            <a:solidFill>
              <a:schemeClr val="accent6"/>
            </a:solidFill>
            <a:prstDash val="solid"/>
          </a:ln>
        </p:spPr>
        <p:txBody>
          <a:bodyPr/>
          <a:lstStyle/>
          <a:p>
            <a:endParaRPr lang="es-CL"/>
          </a:p>
        </p:txBody>
      </p:sp>
      <p:sp>
        <p:nvSpPr>
          <p:cNvPr id="34" name="Text 32"/>
          <p:cNvSpPr txBox="1"/>
          <p:nvPr/>
        </p:nvSpPr>
        <p:spPr>
          <a:xfrm>
            <a:off x="6428232" y="4745736"/>
            <a:ext cx="457200" cy="804672"/>
          </a:xfrm>
          <a:prstGeom prst="rect">
            <a:avLst/>
          </a:prstGeom>
          <a:noFill/>
          <a:ln/>
        </p:spPr>
        <p:txBody>
          <a:bodyPr wrap="square" lIns="0" tIns="0" rIns="0" bIns="0" rtlCol="0" anchor="ctr"/>
          <a:lstStyle/>
          <a:p>
            <a:pPr marL="0" indent="0">
              <a:buNone/>
            </a:pPr>
            <a:r>
              <a:rPr lang="en-US" sz="2200" b="1" dirty="0">
                <a:solidFill>
                  <a:schemeClr val="accent2"/>
                </a:solidFill>
              </a:rPr>
              <a:t>◐</a:t>
            </a:r>
            <a:endParaRPr lang="en-US" sz="2200" dirty="0"/>
          </a:p>
        </p:txBody>
      </p:sp>
      <p:sp>
        <p:nvSpPr>
          <p:cNvPr id="35" name="Text 33"/>
          <p:cNvSpPr txBox="1"/>
          <p:nvPr/>
        </p:nvSpPr>
        <p:spPr>
          <a:xfrm>
            <a:off x="6931152" y="4745736"/>
            <a:ext cx="3383280" cy="804672"/>
          </a:xfrm>
          <a:prstGeom prst="rect">
            <a:avLst/>
          </a:prstGeom>
          <a:noFill/>
          <a:ln/>
        </p:spPr>
        <p:txBody>
          <a:bodyPr wrap="square" lIns="0" tIns="0" rIns="0" bIns="0" rtlCol="0" anchor="ctr"/>
          <a:lstStyle/>
          <a:p>
            <a:pPr marL="0" indent="0">
              <a:buNone/>
            </a:pPr>
            <a:r>
              <a:rPr lang="en-US" sz="1500" b="1" dirty="0">
                <a:solidFill>
                  <a:schemeClr val="bg1"/>
                </a:solidFill>
              </a:rPr>
              <a:t>Despachos automáticos con Starken</a:t>
            </a:r>
            <a:endParaRPr lang="en-US" sz="1500" dirty="0"/>
          </a:p>
        </p:txBody>
      </p:sp>
      <p:sp>
        <p:nvSpPr>
          <p:cNvPr id="36" name="Text 34"/>
          <p:cNvSpPr txBox="1"/>
          <p:nvPr/>
        </p:nvSpPr>
        <p:spPr>
          <a:xfrm>
            <a:off x="10360152" y="4745736"/>
            <a:ext cx="1097280" cy="804672"/>
          </a:xfrm>
          <a:prstGeom prst="rect">
            <a:avLst/>
          </a:prstGeom>
          <a:noFill/>
          <a:ln/>
        </p:spPr>
        <p:txBody>
          <a:bodyPr wrap="square" lIns="0" tIns="0" rIns="0" bIns="0" rtlCol="0" anchor="ctr"/>
          <a:lstStyle/>
          <a:p>
            <a:pPr marL="0" indent="0" algn="r">
              <a:buNone/>
            </a:pPr>
            <a:r>
              <a:rPr lang="en-US" sz="1400" b="1" dirty="0">
                <a:solidFill>
                  <a:schemeClr val="accent2"/>
                </a:solidFill>
              </a:rPr>
              <a:t>Simulado</a:t>
            </a:r>
            <a:endParaRPr lang="en-US" sz="1400" dirty="0"/>
          </a:p>
        </p:txBody>
      </p:sp>
      <p:sp>
        <p:nvSpPr>
          <p:cNvPr id="37" name="Text 35"/>
          <p:cNvSpPr txBox="1"/>
          <p:nvPr/>
        </p:nvSpPr>
        <p:spPr>
          <a:xfrm>
            <a:off x="548640" y="5760720"/>
            <a:ext cx="11091672" cy="457200"/>
          </a:xfrm>
          <a:prstGeom prst="rect">
            <a:avLst/>
          </a:prstGeom>
          <a:noFill/>
          <a:ln/>
        </p:spPr>
        <p:txBody>
          <a:bodyPr wrap="square" lIns="0" tIns="0" rIns="0" bIns="0" rtlCol="0" anchor="t"/>
          <a:lstStyle/>
          <a:p>
            <a:pPr marL="0" indent="0">
              <a:buNone/>
            </a:pPr>
            <a:r>
              <a:rPr lang="en-US" sz="1400" b="1" dirty="0">
                <a:solidFill>
                  <a:schemeClr val="accent2"/>
                </a:solidFill>
              </a:rPr>
              <a:t>Sumado fuera del plan: </a:t>
            </a:r>
            <a:r>
              <a:rPr lang="en-US" sz="1400" dirty="0">
                <a:solidFill>
                  <a:schemeClr val="bg2"/>
                </a:solidFill>
              </a:rPr>
              <a:t>probador virtual 3D, asistente Roxy, analítica predictiva de inversión y app de bodega instalable como APK.</a:t>
            </a:r>
            <a:endParaRPr lang="en-US" sz="1400" dirty="0"/>
          </a:p>
        </p:txBody>
      </p:sp>
      <p:sp>
        <p:nvSpPr>
          <p:cNvPr id="38"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AJUSTES AL PLAN</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Lo que cambiamos y por qué</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No se eliminaron actividades; se ajustaron cuatro decisiones de la Fase 1.</a:t>
            </a:r>
            <a:endParaRPr lang="en-US" sz="1600" dirty="0"/>
          </a:p>
        </p:txBody>
      </p:sp>
      <p:sp>
        <p:nvSpPr>
          <p:cNvPr id="5" name="ajuste Arquitectura"/>
          <p:cNvSpPr/>
          <p:nvPr/>
        </p:nvSpPr>
        <p:spPr>
          <a:xfrm>
            <a:off x="548640" y="1965960"/>
            <a:ext cx="2615184" cy="3657600"/>
          </a:xfrm>
          <a:prstGeom prst="roundRect">
            <a:avLst>
              <a:gd name="adj" fmla="val 2797"/>
            </a:avLst>
          </a:prstGeom>
          <a:solidFill>
            <a:schemeClr val="tx2"/>
          </a:solidFill>
          <a:ln w="9525">
            <a:solidFill>
              <a:schemeClr val="accent6"/>
            </a:solidFill>
            <a:prstDash val="solid"/>
          </a:ln>
        </p:spPr>
        <p:txBody>
          <a:bodyPr/>
          <a:lstStyle/>
          <a:p>
            <a:endParaRPr lang="es-CL"/>
          </a:p>
        </p:txBody>
      </p:sp>
      <p:sp>
        <p:nvSpPr>
          <p:cNvPr id="6" name="Text 4"/>
          <p:cNvSpPr txBox="1"/>
          <p:nvPr/>
        </p:nvSpPr>
        <p:spPr>
          <a:xfrm>
            <a:off x="777240" y="2148840"/>
            <a:ext cx="2157984" cy="365760"/>
          </a:xfrm>
          <a:prstGeom prst="rect">
            <a:avLst/>
          </a:prstGeom>
          <a:noFill/>
          <a:ln/>
        </p:spPr>
        <p:txBody>
          <a:bodyPr wrap="square" lIns="0" tIns="0" rIns="0" bIns="0" rtlCol="0" anchor="ctr"/>
          <a:lstStyle/>
          <a:p>
            <a:pPr marL="0" indent="0">
              <a:buNone/>
            </a:pPr>
            <a:r>
              <a:rPr lang="en-US" sz="1700" b="1" dirty="0">
                <a:solidFill>
                  <a:schemeClr val="bg1"/>
                </a:solidFill>
              </a:rPr>
              <a:t>Arquitectura</a:t>
            </a:r>
            <a:endParaRPr lang="en-US" sz="1700" dirty="0"/>
          </a:p>
        </p:txBody>
      </p:sp>
      <p:sp>
        <p:nvSpPr>
          <p:cNvPr id="7" name="Text 5"/>
          <p:cNvSpPr txBox="1"/>
          <p:nvPr/>
        </p:nvSpPr>
        <p:spPr>
          <a:xfrm>
            <a:off x="777240" y="2651760"/>
            <a:ext cx="2157984" cy="777240"/>
          </a:xfrm>
          <a:prstGeom prst="rect">
            <a:avLst/>
          </a:prstGeom>
          <a:noFill/>
          <a:ln/>
        </p:spPr>
        <p:txBody>
          <a:bodyPr wrap="square" lIns="0" tIns="0" rIns="0" bIns="0" rtlCol="0" anchor="t"/>
          <a:lstStyle/>
          <a:p>
            <a:pPr marL="0" indent="0">
              <a:buNone/>
            </a:pPr>
            <a:r>
              <a:rPr lang="en-US" sz="1100" b="1" dirty="0">
                <a:solidFill>
                  <a:schemeClr val="bg2"/>
                </a:solidFill>
              </a:rPr>
              <a:t>Fase 1</a:t>
            </a:r>
            <a:endParaRPr lang="en-US" sz="1100" dirty="0"/>
          </a:p>
          <a:p>
            <a:pPr marL="0" indent="0">
              <a:buNone/>
            </a:pPr>
            <a:r>
              <a:rPr lang="en-US" sz="1400" dirty="0">
                <a:solidFill>
                  <a:schemeClr val="bg2"/>
                </a:solidFill>
              </a:rPr>
              <a:t>Gateway con 5 microservicios</a:t>
            </a:r>
            <a:endParaRPr lang="en-US" sz="1100" dirty="0"/>
          </a:p>
        </p:txBody>
      </p:sp>
      <p:sp>
        <p:nvSpPr>
          <p:cNvPr id="8" name="Text 6"/>
          <p:cNvSpPr txBox="1"/>
          <p:nvPr/>
        </p:nvSpPr>
        <p:spPr>
          <a:xfrm>
            <a:off x="777240" y="3520440"/>
            <a:ext cx="2157984" cy="868680"/>
          </a:xfrm>
          <a:prstGeom prst="rect">
            <a:avLst/>
          </a:prstGeom>
          <a:noFill/>
          <a:ln/>
        </p:spPr>
        <p:txBody>
          <a:bodyPr wrap="square" lIns="0" tIns="0" rIns="0" bIns="0" rtlCol="0" anchor="t"/>
          <a:lstStyle/>
          <a:p>
            <a:pPr marL="0" indent="0">
              <a:buNone/>
            </a:pPr>
            <a:r>
              <a:rPr lang="en-US" sz="1100" b="1" dirty="0">
                <a:solidFill>
                  <a:schemeClr val="accent1"/>
                </a:solidFill>
              </a:rPr>
              <a:t>Ahora</a:t>
            </a:r>
            <a:endParaRPr lang="en-US" sz="1100" dirty="0"/>
          </a:p>
          <a:p>
            <a:pPr marL="0" indent="0">
              <a:buNone/>
            </a:pPr>
            <a:r>
              <a:rPr lang="en-US" sz="1500" b="1" dirty="0">
                <a:solidFill>
                  <a:schemeClr val="bg1"/>
                </a:solidFill>
              </a:rPr>
              <a:t>API única dividida en módulos</a:t>
            </a:r>
            <a:endParaRPr lang="en-US" sz="1100" dirty="0"/>
          </a:p>
        </p:txBody>
      </p:sp>
      <p:sp>
        <p:nvSpPr>
          <p:cNvPr id="9" name="Text 7"/>
          <p:cNvSpPr txBox="1"/>
          <p:nvPr/>
        </p:nvSpPr>
        <p:spPr>
          <a:xfrm>
            <a:off x="777240" y="4526280"/>
            <a:ext cx="2157984" cy="1463040"/>
          </a:xfrm>
          <a:prstGeom prst="rect">
            <a:avLst/>
          </a:prstGeom>
          <a:noFill/>
          <a:ln/>
        </p:spPr>
        <p:txBody>
          <a:bodyPr wrap="square" lIns="0" tIns="0" rIns="0" bIns="0" rtlCol="0" anchor="t"/>
          <a:lstStyle/>
          <a:p>
            <a:pPr marL="0" indent="0">
              <a:buNone/>
            </a:pPr>
            <a:r>
              <a:rPr lang="en-US" sz="1300" dirty="0">
                <a:solidFill>
                  <a:schemeClr val="bg2"/>
                </a:solidFill>
              </a:rPr>
              <a:t>Misma separación por áreas, mucha menos infraestructura para tres personas.</a:t>
            </a:r>
            <a:endParaRPr lang="en-US" sz="1300" dirty="0"/>
          </a:p>
        </p:txBody>
      </p:sp>
      <p:sp>
        <p:nvSpPr>
          <p:cNvPr id="10" name="ajuste Tienda web"/>
          <p:cNvSpPr/>
          <p:nvPr/>
        </p:nvSpPr>
        <p:spPr>
          <a:xfrm>
            <a:off x="3376879" y="1965960"/>
            <a:ext cx="2615184" cy="3657600"/>
          </a:xfrm>
          <a:prstGeom prst="roundRect">
            <a:avLst>
              <a:gd name="adj" fmla="val 2797"/>
            </a:avLst>
          </a:prstGeom>
          <a:solidFill>
            <a:schemeClr val="tx2"/>
          </a:solidFill>
          <a:ln w="9525">
            <a:solidFill>
              <a:schemeClr val="accent6"/>
            </a:solidFill>
            <a:prstDash val="solid"/>
          </a:ln>
        </p:spPr>
        <p:txBody>
          <a:bodyPr/>
          <a:lstStyle/>
          <a:p>
            <a:endParaRPr lang="es-CL"/>
          </a:p>
        </p:txBody>
      </p:sp>
      <p:sp>
        <p:nvSpPr>
          <p:cNvPr id="11" name="Text 9"/>
          <p:cNvSpPr txBox="1"/>
          <p:nvPr/>
        </p:nvSpPr>
        <p:spPr>
          <a:xfrm>
            <a:off x="3605479" y="2148840"/>
            <a:ext cx="2157984" cy="365760"/>
          </a:xfrm>
          <a:prstGeom prst="rect">
            <a:avLst/>
          </a:prstGeom>
          <a:noFill/>
          <a:ln/>
        </p:spPr>
        <p:txBody>
          <a:bodyPr wrap="square" lIns="0" tIns="0" rIns="0" bIns="0" rtlCol="0" anchor="ctr"/>
          <a:lstStyle/>
          <a:p>
            <a:pPr marL="0" indent="0">
              <a:buNone/>
            </a:pPr>
            <a:r>
              <a:rPr lang="en-US" sz="1700" b="1" dirty="0">
                <a:solidFill>
                  <a:schemeClr val="bg1"/>
                </a:solidFill>
              </a:rPr>
              <a:t>Tienda web</a:t>
            </a:r>
            <a:endParaRPr lang="en-US" sz="1700" dirty="0"/>
          </a:p>
        </p:txBody>
      </p:sp>
      <p:sp>
        <p:nvSpPr>
          <p:cNvPr id="12" name="Text 10"/>
          <p:cNvSpPr txBox="1"/>
          <p:nvPr/>
        </p:nvSpPr>
        <p:spPr>
          <a:xfrm>
            <a:off x="3605479" y="2651760"/>
            <a:ext cx="2157984" cy="777240"/>
          </a:xfrm>
          <a:prstGeom prst="rect">
            <a:avLst/>
          </a:prstGeom>
          <a:noFill/>
          <a:ln/>
        </p:spPr>
        <p:txBody>
          <a:bodyPr wrap="square" lIns="0" tIns="0" rIns="0" bIns="0" rtlCol="0" anchor="t"/>
          <a:lstStyle/>
          <a:p>
            <a:pPr marL="0" indent="0">
              <a:buNone/>
            </a:pPr>
            <a:r>
              <a:rPr lang="en-US" sz="1100" b="1" dirty="0">
                <a:solidFill>
                  <a:schemeClr val="bg2"/>
                </a:solidFill>
              </a:rPr>
              <a:t>Fase 1</a:t>
            </a:r>
            <a:endParaRPr lang="en-US" sz="1100" dirty="0"/>
          </a:p>
          <a:p>
            <a:pPr marL="0" indent="0">
              <a:buNone/>
            </a:pPr>
            <a:r>
              <a:rPr lang="en-US" sz="1400" dirty="0">
                <a:solidFill>
                  <a:schemeClr val="bg2"/>
                </a:solidFill>
              </a:rPr>
              <a:t>React</a:t>
            </a:r>
            <a:endParaRPr lang="en-US" sz="1100" dirty="0"/>
          </a:p>
        </p:txBody>
      </p:sp>
      <p:sp>
        <p:nvSpPr>
          <p:cNvPr id="13" name="Text 11"/>
          <p:cNvSpPr txBox="1"/>
          <p:nvPr/>
        </p:nvSpPr>
        <p:spPr>
          <a:xfrm>
            <a:off x="3605479" y="3520440"/>
            <a:ext cx="2157984" cy="868680"/>
          </a:xfrm>
          <a:prstGeom prst="rect">
            <a:avLst/>
          </a:prstGeom>
          <a:noFill/>
          <a:ln/>
        </p:spPr>
        <p:txBody>
          <a:bodyPr wrap="square" lIns="0" tIns="0" rIns="0" bIns="0" rtlCol="0" anchor="t"/>
          <a:lstStyle/>
          <a:p>
            <a:pPr marL="0" indent="0">
              <a:buNone/>
            </a:pPr>
            <a:r>
              <a:rPr lang="en-US" sz="1100" b="1" dirty="0">
                <a:solidFill>
                  <a:schemeClr val="accent1"/>
                </a:solidFill>
              </a:rPr>
              <a:t>Ahora</a:t>
            </a:r>
            <a:endParaRPr lang="en-US" sz="1100" dirty="0"/>
          </a:p>
          <a:p>
            <a:pPr marL="0" indent="0">
              <a:buNone/>
            </a:pPr>
            <a:r>
              <a:rPr lang="en-US" sz="1500" b="1" dirty="0">
                <a:solidFill>
                  <a:schemeClr val="bg1"/>
                </a:solidFill>
              </a:rPr>
              <a:t>Ionic Angular</a:t>
            </a:r>
            <a:endParaRPr lang="en-US" sz="1100" dirty="0"/>
          </a:p>
        </p:txBody>
      </p:sp>
      <p:sp>
        <p:nvSpPr>
          <p:cNvPr id="14" name="Text 12"/>
          <p:cNvSpPr txBox="1"/>
          <p:nvPr/>
        </p:nvSpPr>
        <p:spPr>
          <a:xfrm>
            <a:off x="3605479" y="4526280"/>
            <a:ext cx="2157984" cy="1463040"/>
          </a:xfrm>
          <a:prstGeom prst="rect">
            <a:avLst/>
          </a:prstGeom>
          <a:noFill/>
          <a:ln/>
        </p:spPr>
        <p:txBody>
          <a:bodyPr wrap="square" lIns="0" tIns="0" rIns="0" bIns="0" rtlCol="0" anchor="t"/>
          <a:lstStyle/>
          <a:p>
            <a:pPr marL="0" indent="0">
              <a:buNone/>
            </a:pPr>
            <a:r>
              <a:rPr lang="en-US" sz="1300" dirty="0">
                <a:solidFill>
                  <a:schemeClr val="bg2"/>
                </a:solidFill>
              </a:rPr>
              <a:t>La misma tecnología que la app de bodega: se comparten conocimientos y componentes.</a:t>
            </a:r>
            <a:endParaRPr lang="en-US" sz="1300" dirty="0"/>
          </a:p>
        </p:txBody>
      </p:sp>
      <p:sp>
        <p:nvSpPr>
          <p:cNvPr id="15" name="ajuste Autenticación"/>
          <p:cNvSpPr/>
          <p:nvPr/>
        </p:nvSpPr>
        <p:spPr>
          <a:xfrm>
            <a:off x="6205118" y="1965960"/>
            <a:ext cx="2615184" cy="3657600"/>
          </a:xfrm>
          <a:prstGeom prst="roundRect">
            <a:avLst>
              <a:gd name="adj" fmla="val 2797"/>
            </a:avLst>
          </a:prstGeom>
          <a:solidFill>
            <a:schemeClr val="tx2"/>
          </a:solidFill>
          <a:ln w="9525">
            <a:solidFill>
              <a:schemeClr val="accent6"/>
            </a:solidFill>
            <a:prstDash val="solid"/>
          </a:ln>
        </p:spPr>
        <p:txBody>
          <a:bodyPr/>
          <a:lstStyle/>
          <a:p>
            <a:endParaRPr lang="es-CL"/>
          </a:p>
        </p:txBody>
      </p:sp>
      <p:sp>
        <p:nvSpPr>
          <p:cNvPr id="16" name="Text 14"/>
          <p:cNvSpPr txBox="1"/>
          <p:nvPr/>
        </p:nvSpPr>
        <p:spPr>
          <a:xfrm>
            <a:off x="6433718" y="2148840"/>
            <a:ext cx="2157984" cy="365760"/>
          </a:xfrm>
          <a:prstGeom prst="rect">
            <a:avLst/>
          </a:prstGeom>
          <a:noFill/>
          <a:ln/>
        </p:spPr>
        <p:txBody>
          <a:bodyPr wrap="square" lIns="0" tIns="0" rIns="0" bIns="0" rtlCol="0" anchor="ctr"/>
          <a:lstStyle/>
          <a:p>
            <a:pPr marL="0" indent="0">
              <a:buNone/>
            </a:pPr>
            <a:r>
              <a:rPr lang="en-US" sz="1700" b="1" dirty="0">
                <a:solidFill>
                  <a:schemeClr val="bg1"/>
                </a:solidFill>
              </a:rPr>
              <a:t>Autenticación</a:t>
            </a:r>
            <a:endParaRPr lang="en-US" sz="1700" dirty="0"/>
          </a:p>
        </p:txBody>
      </p:sp>
      <p:sp>
        <p:nvSpPr>
          <p:cNvPr id="17" name="Text 15"/>
          <p:cNvSpPr txBox="1"/>
          <p:nvPr/>
        </p:nvSpPr>
        <p:spPr>
          <a:xfrm>
            <a:off x="6433718" y="2651760"/>
            <a:ext cx="2157984" cy="777240"/>
          </a:xfrm>
          <a:prstGeom prst="rect">
            <a:avLst/>
          </a:prstGeom>
          <a:noFill/>
          <a:ln/>
        </p:spPr>
        <p:txBody>
          <a:bodyPr wrap="square" lIns="0" tIns="0" rIns="0" bIns="0" rtlCol="0" anchor="t"/>
          <a:lstStyle/>
          <a:p>
            <a:pPr marL="0" indent="0">
              <a:buNone/>
            </a:pPr>
            <a:r>
              <a:rPr lang="en-US" sz="1100" b="1" dirty="0">
                <a:solidFill>
                  <a:schemeClr val="bg2"/>
                </a:solidFill>
              </a:rPr>
              <a:t>Fase 1</a:t>
            </a:r>
            <a:endParaRPr lang="en-US" sz="1100" dirty="0"/>
          </a:p>
          <a:p>
            <a:pPr marL="0" indent="0">
              <a:buNone/>
            </a:pPr>
            <a:r>
              <a:rPr lang="en-US" sz="1400" dirty="0">
                <a:solidFill>
                  <a:schemeClr val="bg2"/>
                </a:solidFill>
              </a:rPr>
              <a:t>Firebase Authentication</a:t>
            </a:r>
            <a:endParaRPr lang="en-US" sz="1100" dirty="0"/>
          </a:p>
        </p:txBody>
      </p:sp>
      <p:sp>
        <p:nvSpPr>
          <p:cNvPr id="18" name="Text 16"/>
          <p:cNvSpPr txBox="1"/>
          <p:nvPr/>
        </p:nvSpPr>
        <p:spPr>
          <a:xfrm>
            <a:off x="6433718" y="3520440"/>
            <a:ext cx="2157984" cy="868680"/>
          </a:xfrm>
          <a:prstGeom prst="rect">
            <a:avLst/>
          </a:prstGeom>
          <a:noFill/>
          <a:ln/>
        </p:spPr>
        <p:txBody>
          <a:bodyPr wrap="square" lIns="0" tIns="0" rIns="0" bIns="0" rtlCol="0" anchor="t"/>
          <a:lstStyle/>
          <a:p>
            <a:pPr marL="0" indent="0">
              <a:buNone/>
            </a:pPr>
            <a:r>
              <a:rPr lang="en-US" sz="1100" b="1" dirty="0">
                <a:solidFill>
                  <a:schemeClr val="accent1"/>
                </a:solidFill>
              </a:rPr>
              <a:t>Ahora</a:t>
            </a:r>
            <a:endParaRPr lang="en-US" sz="1100" dirty="0"/>
          </a:p>
          <a:p>
            <a:pPr marL="0" indent="0">
              <a:buNone/>
            </a:pPr>
            <a:r>
              <a:rPr lang="en-US" sz="1500" b="1" dirty="0">
                <a:solidFill>
                  <a:schemeClr val="bg1"/>
                </a:solidFill>
              </a:rPr>
              <a:t>JWT RS256 y Argon2id propios</a:t>
            </a:r>
            <a:endParaRPr lang="en-US" sz="1100" dirty="0"/>
          </a:p>
        </p:txBody>
      </p:sp>
      <p:sp>
        <p:nvSpPr>
          <p:cNvPr id="19" name="Text 17"/>
          <p:cNvSpPr txBox="1"/>
          <p:nvPr/>
        </p:nvSpPr>
        <p:spPr>
          <a:xfrm>
            <a:off x="6433718" y="4526280"/>
            <a:ext cx="2157984" cy="1463040"/>
          </a:xfrm>
          <a:prstGeom prst="rect">
            <a:avLst/>
          </a:prstGeom>
          <a:noFill/>
          <a:ln/>
        </p:spPr>
        <p:txBody>
          <a:bodyPr wrap="square" lIns="0" tIns="0" rIns="0" bIns="0" rtlCol="0" anchor="t"/>
          <a:lstStyle/>
          <a:p>
            <a:pPr marL="0" indent="0">
              <a:buNone/>
            </a:pPr>
            <a:r>
              <a:rPr lang="en-US" sz="1300" dirty="0">
                <a:solidFill>
                  <a:schemeClr val="bg2"/>
                </a:solidFill>
              </a:rPr>
              <a:t>Los roles se controlan en la API, sin depender de un servicio externo.</a:t>
            </a:r>
            <a:endParaRPr lang="en-US" sz="1300" dirty="0"/>
          </a:p>
        </p:txBody>
      </p:sp>
      <p:sp>
        <p:nvSpPr>
          <p:cNvPr id="20" name="ajuste Pagos y despachos"/>
          <p:cNvSpPr/>
          <p:nvPr/>
        </p:nvSpPr>
        <p:spPr>
          <a:xfrm>
            <a:off x="9033358" y="1965960"/>
            <a:ext cx="2615184" cy="3657600"/>
          </a:xfrm>
          <a:prstGeom prst="roundRect">
            <a:avLst>
              <a:gd name="adj" fmla="val 2797"/>
            </a:avLst>
          </a:prstGeom>
          <a:solidFill>
            <a:schemeClr val="tx2"/>
          </a:solidFill>
          <a:ln w="9525">
            <a:solidFill>
              <a:schemeClr val="accent6"/>
            </a:solidFill>
            <a:prstDash val="solid"/>
          </a:ln>
        </p:spPr>
        <p:txBody>
          <a:bodyPr/>
          <a:lstStyle/>
          <a:p>
            <a:endParaRPr lang="es-CL"/>
          </a:p>
        </p:txBody>
      </p:sp>
      <p:sp>
        <p:nvSpPr>
          <p:cNvPr id="21" name="Text 19"/>
          <p:cNvSpPr txBox="1"/>
          <p:nvPr/>
        </p:nvSpPr>
        <p:spPr>
          <a:xfrm>
            <a:off x="9261958" y="2148840"/>
            <a:ext cx="2157984" cy="365760"/>
          </a:xfrm>
          <a:prstGeom prst="rect">
            <a:avLst/>
          </a:prstGeom>
          <a:noFill/>
          <a:ln/>
        </p:spPr>
        <p:txBody>
          <a:bodyPr wrap="square" lIns="0" tIns="0" rIns="0" bIns="0" rtlCol="0" anchor="ctr"/>
          <a:lstStyle/>
          <a:p>
            <a:pPr marL="0" indent="0">
              <a:buNone/>
            </a:pPr>
            <a:r>
              <a:rPr lang="en-US" sz="1700" b="1" dirty="0">
                <a:solidFill>
                  <a:schemeClr val="bg1"/>
                </a:solidFill>
              </a:rPr>
              <a:t>Pagos y despachos</a:t>
            </a:r>
            <a:endParaRPr lang="en-US" sz="1700" dirty="0"/>
          </a:p>
        </p:txBody>
      </p:sp>
      <p:sp>
        <p:nvSpPr>
          <p:cNvPr id="22" name="Text 20"/>
          <p:cNvSpPr txBox="1"/>
          <p:nvPr/>
        </p:nvSpPr>
        <p:spPr>
          <a:xfrm>
            <a:off x="9261958" y="2651760"/>
            <a:ext cx="2157984" cy="777240"/>
          </a:xfrm>
          <a:prstGeom prst="rect">
            <a:avLst/>
          </a:prstGeom>
          <a:noFill/>
          <a:ln/>
        </p:spPr>
        <p:txBody>
          <a:bodyPr wrap="square" lIns="0" tIns="0" rIns="0" bIns="0" rtlCol="0" anchor="t"/>
          <a:lstStyle/>
          <a:p>
            <a:pPr marL="0" indent="0">
              <a:buNone/>
            </a:pPr>
            <a:r>
              <a:rPr lang="en-US" sz="1100" b="1" dirty="0">
                <a:solidFill>
                  <a:schemeClr val="bg2"/>
                </a:solidFill>
              </a:rPr>
              <a:t>Fase 1</a:t>
            </a:r>
            <a:endParaRPr lang="en-US" sz="1100" dirty="0"/>
          </a:p>
          <a:p>
            <a:pPr marL="0" indent="0">
              <a:buNone/>
            </a:pPr>
            <a:r>
              <a:rPr lang="en-US" sz="1400" dirty="0">
                <a:solidFill>
                  <a:schemeClr val="bg2"/>
                </a:solidFill>
              </a:rPr>
              <a:t>Webpay y Starken reales</a:t>
            </a:r>
            <a:endParaRPr lang="en-US" sz="1100" dirty="0"/>
          </a:p>
        </p:txBody>
      </p:sp>
      <p:sp>
        <p:nvSpPr>
          <p:cNvPr id="23" name="Text 21"/>
          <p:cNvSpPr txBox="1"/>
          <p:nvPr/>
        </p:nvSpPr>
        <p:spPr>
          <a:xfrm>
            <a:off x="9261958" y="3520440"/>
            <a:ext cx="2157984" cy="868680"/>
          </a:xfrm>
          <a:prstGeom prst="rect">
            <a:avLst/>
          </a:prstGeom>
          <a:noFill/>
          <a:ln/>
        </p:spPr>
        <p:txBody>
          <a:bodyPr wrap="square" lIns="0" tIns="0" rIns="0" bIns="0" rtlCol="0" anchor="t"/>
          <a:lstStyle/>
          <a:p>
            <a:pPr marL="0" indent="0">
              <a:buNone/>
            </a:pPr>
            <a:r>
              <a:rPr lang="en-US" sz="1100" b="1" dirty="0">
                <a:solidFill>
                  <a:schemeClr val="accent1"/>
                </a:solidFill>
              </a:rPr>
              <a:t>Ahora</a:t>
            </a:r>
            <a:endParaRPr lang="en-US" sz="1100" dirty="0"/>
          </a:p>
          <a:p>
            <a:pPr marL="0" indent="0">
              <a:buNone/>
            </a:pPr>
            <a:r>
              <a:rPr lang="en-US" sz="1500" b="1" dirty="0">
                <a:solidFill>
                  <a:schemeClr val="bg1"/>
                </a:solidFill>
              </a:rPr>
              <a:t>Adaptadores simulados</a:t>
            </a:r>
            <a:endParaRPr lang="en-US" sz="1100" dirty="0"/>
          </a:p>
        </p:txBody>
      </p:sp>
      <p:sp>
        <p:nvSpPr>
          <p:cNvPr id="24" name="Text 22"/>
          <p:cNvSpPr txBox="1"/>
          <p:nvPr/>
        </p:nvSpPr>
        <p:spPr>
          <a:xfrm>
            <a:off x="9261958" y="4526280"/>
            <a:ext cx="2157984" cy="1463040"/>
          </a:xfrm>
          <a:prstGeom prst="rect">
            <a:avLst/>
          </a:prstGeom>
          <a:noFill/>
          <a:ln/>
        </p:spPr>
        <p:txBody>
          <a:bodyPr wrap="square" lIns="0" tIns="0" rIns="0" bIns="0" rtlCol="0" anchor="t"/>
          <a:lstStyle/>
          <a:p>
            <a:pPr marL="0" indent="0">
              <a:buNone/>
            </a:pPr>
            <a:r>
              <a:rPr lang="en-US" sz="1300" dirty="0">
                <a:solidFill>
                  <a:schemeClr val="bg2"/>
                </a:solidFill>
              </a:rPr>
              <a:t>El flujo completo funciona mientras llegan las credenciales; el cambio se limita al adaptador.</a:t>
            </a:r>
            <a:endParaRPr lang="en-US" sz="1300" dirty="0"/>
          </a:p>
        </p:txBody>
      </p:sp>
      <p:sp>
        <p:nvSpPr>
          <p:cNvPr id="25"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8229600" cy="274320"/>
          </a:xfrm>
          <a:prstGeom prst="rect">
            <a:avLst/>
          </a:prstGeom>
          <a:noFill/>
          <a:ln/>
        </p:spPr>
        <p:txBody>
          <a:bodyPr wrap="square" lIns="0" tIns="0" rIns="0" bIns="0" rtlCol="0"/>
          <a:lstStyle/>
          <a:p>
            <a:pPr marL="0" indent="0">
              <a:buNone/>
            </a:pPr>
            <a:r>
              <a:rPr lang="en-US" sz="1200" b="1" kern="0" spc="200" dirty="0">
                <a:solidFill>
                  <a:schemeClr val="accent1"/>
                </a:solidFill>
              </a:rPr>
              <a:t>DEMO EN VIVO</a:t>
            </a:r>
            <a:endParaRPr lang="en-US" sz="1200" dirty="0"/>
          </a:p>
        </p:txBody>
      </p:sp>
      <p:sp>
        <p:nvSpPr>
          <p:cNvPr id="3" name="Text 0"/>
          <p:cNvSpPr>
            <a:spLocks noGrp="1"/>
          </p:cNvSpPr>
          <p:nvPr>
            <p:ph type="title" idx="101" hasCustomPrompt="1"/>
          </p:nvPr>
        </p:nvSpPr>
        <p:spPr>
          <a:xfrm>
            <a:off x="548640" y="658368"/>
            <a:ext cx="11064240" cy="685800"/>
          </a:xfrm>
          <a:prstGeom prst="rect">
            <a:avLst/>
          </a:prstGeom>
          <a:noFill/>
          <a:ln/>
        </p:spPr>
        <p:txBody>
          <a:bodyPr wrap="square" lIns="0" tIns="0" rIns="0" bIns="0" rtlCol="0"/>
          <a:lstStyle/>
          <a:p>
            <a:pPr marL="0" indent="0" algn="l">
              <a:buNone/>
            </a:pPr>
            <a:r>
              <a:rPr lang="en-US" sz="3400" b="1" dirty="0">
                <a:solidFill>
                  <a:schemeClr val="bg1"/>
                </a:solidFill>
              </a:rPr>
              <a:t>Una prenda, de la bodega a la venta</a:t>
            </a:r>
            <a:endParaRPr lang="en-US" sz="3400" dirty="0"/>
          </a:p>
        </p:txBody>
      </p:sp>
      <p:sp>
        <p:nvSpPr>
          <p:cNvPr id="4" name="Text 0"/>
          <p:cNvSpPr>
            <a:spLocks noGrp="1"/>
          </p:cNvSpPr>
          <p:nvPr>
            <p:ph type="body" idx="102" hasCustomPrompt="1"/>
          </p:nvPr>
        </p:nvSpPr>
        <p:spPr>
          <a:xfrm>
            <a:off x="548640" y="1325880"/>
            <a:ext cx="11064240" cy="365760"/>
          </a:xfrm>
          <a:prstGeom prst="rect">
            <a:avLst/>
          </a:prstGeom>
          <a:noFill/>
          <a:ln/>
        </p:spPr>
        <p:txBody>
          <a:bodyPr wrap="square" lIns="0" tIns="0" rIns="0" bIns="0" rtlCol="0"/>
          <a:lstStyle/>
          <a:p>
            <a:pPr marL="0" indent="0">
              <a:buNone/>
            </a:pPr>
            <a:r>
              <a:rPr lang="en-US" sz="1600" dirty="0">
                <a:solidFill>
                  <a:schemeClr val="bg2"/>
                </a:solidFill>
              </a:rPr>
              <a:t>Cinco pasos que recorren todo el sistema sobre el mismo inventario.</a:t>
            </a:r>
            <a:endParaRPr lang="en-US" sz="1600" dirty="0"/>
          </a:p>
        </p:txBody>
      </p:sp>
      <p:sp>
        <p:nvSpPr>
          <p:cNvPr id="5" name="paso 1"/>
          <p:cNvSpPr/>
          <p:nvPr/>
        </p:nvSpPr>
        <p:spPr>
          <a:xfrm>
            <a:off x="548640" y="2011680"/>
            <a:ext cx="2057400" cy="3246120"/>
          </a:xfrm>
          <a:prstGeom prst="roundRect">
            <a:avLst>
              <a:gd name="adj" fmla="val 3556"/>
            </a:avLst>
          </a:prstGeom>
          <a:solidFill>
            <a:schemeClr val="tx2"/>
          </a:solidFill>
          <a:ln w="9525">
            <a:solidFill>
              <a:schemeClr val="accent6"/>
            </a:solidFill>
            <a:prstDash val="solid"/>
          </a:ln>
        </p:spPr>
        <p:txBody>
          <a:bodyPr/>
          <a:lstStyle/>
          <a:p>
            <a:endParaRPr lang="es-CL"/>
          </a:p>
        </p:txBody>
      </p:sp>
      <p:sp>
        <p:nvSpPr>
          <p:cNvPr id="6" name="insignia 1"/>
          <p:cNvSpPr/>
          <p:nvPr/>
        </p:nvSpPr>
        <p:spPr>
          <a:xfrm>
            <a:off x="777240" y="2240280"/>
            <a:ext cx="548640" cy="54864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7" name="Text 5"/>
          <p:cNvSpPr txBox="1"/>
          <p:nvPr/>
        </p:nvSpPr>
        <p:spPr>
          <a:xfrm>
            <a:off x="777240" y="2240280"/>
            <a:ext cx="548640" cy="548640"/>
          </a:xfrm>
          <a:prstGeom prst="rect">
            <a:avLst/>
          </a:prstGeom>
          <a:noFill/>
          <a:ln/>
        </p:spPr>
        <p:txBody>
          <a:bodyPr wrap="square" lIns="0" tIns="0" rIns="0" bIns="0" rtlCol="0" anchor="ctr"/>
          <a:lstStyle/>
          <a:p>
            <a:pPr marL="0" indent="0" algn="ctr">
              <a:buNone/>
            </a:pPr>
            <a:r>
              <a:rPr lang="en-US" sz="1500" b="1" dirty="0">
                <a:solidFill>
                  <a:srgbClr val="E0283F"/>
                </a:solidFill>
              </a:rPr>
              <a:t>1</a:t>
            </a:r>
            <a:endParaRPr lang="en-US" sz="1500" dirty="0"/>
          </a:p>
        </p:txBody>
      </p:sp>
      <p:sp>
        <p:nvSpPr>
          <p:cNvPr id="8" name="Text 6"/>
          <p:cNvSpPr txBox="1"/>
          <p:nvPr/>
        </p:nvSpPr>
        <p:spPr>
          <a:xfrm>
            <a:off x="777240" y="2971800"/>
            <a:ext cx="1600200" cy="365760"/>
          </a:xfrm>
          <a:prstGeom prst="rect">
            <a:avLst/>
          </a:prstGeom>
          <a:noFill/>
          <a:ln/>
        </p:spPr>
        <p:txBody>
          <a:bodyPr wrap="square" lIns="0" tIns="0" rIns="0" bIns="0" rtlCol="0" anchor="ctr"/>
          <a:lstStyle/>
          <a:p>
            <a:pPr marL="0" indent="0">
              <a:buNone/>
            </a:pPr>
            <a:r>
              <a:rPr lang="en-US" sz="1700" b="1" dirty="0">
                <a:solidFill>
                  <a:schemeClr val="bg1"/>
                </a:solidFill>
              </a:rPr>
              <a:t>Bodega</a:t>
            </a:r>
            <a:endParaRPr lang="en-US" sz="1700" dirty="0"/>
          </a:p>
        </p:txBody>
      </p:sp>
      <p:sp>
        <p:nvSpPr>
          <p:cNvPr id="9" name="Text 7"/>
          <p:cNvSpPr txBox="1"/>
          <p:nvPr/>
        </p:nvSpPr>
        <p:spPr>
          <a:xfrm>
            <a:off x="777240" y="3383280"/>
            <a:ext cx="1600200" cy="1188720"/>
          </a:xfrm>
          <a:prstGeom prst="rect">
            <a:avLst/>
          </a:prstGeom>
          <a:noFill/>
          <a:ln/>
        </p:spPr>
        <p:txBody>
          <a:bodyPr wrap="square" lIns="0" tIns="0" rIns="0" bIns="0" rtlCol="0" anchor="t"/>
          <a:lstStyle/>
          <a:p>
            <a:pPr marL="0" indent="0">
              <a:buNone/>
            </a:pPr>
            <a:r>
              <a:rPr lang="en-US" sz="1400" dirty="0">
                <a:solidFill>
                  <a:schemeClr val="bg2"/>
                </a:solidFill>
              </a:rPr>
              <a:t>Ingresa una prenda nueva e imprime su QR</a:t>
            </a:r>
            <a:endParaRPr lang="en-US" sz="1400" dirty="0"/>
          </a:p>
        </p:txBody>
      </p:sp>
      <p:sp>
        <p:nvSpPr>
          <p:cNvPr id="10" name="Text 8"/>
          <p:cNvSpPr txBox="1"/>
          <p:nvPr/>
        </p:nvSpPr>
        <p:spPr>
          <a:xfrm>
            <a:off x="777240" y="4709160"/>
            <a:ext cx="1600200" cy="320040"/>
          </a:xfrm>
          <a:prstGeom prst="rect">
            <a:avLst/>
          </a:prstGeom>
          <a:noFill/>
          <a:ln/>
        </p:spPr>
        <p:txBody>
          <a:bodyPr wrap="square" lIns="0" tIns="0" rIns="0" bIns="0" rtlCol="0" anchor="ctr"/>
          <a:lstStyle/>
          <a:p>
            <a:pPr marL="0" indent="0">
              <a:buNone/>
            </a:pPr>
            <a:r>
              <a:rPr lang="en-US" sz="1200" b="1" dirty="0">
                <a:solidFill>
                  <a:schemeClr val="accent2"/>
                </a:solidFill>
              </a:rPr>
              <a:t>localhost:8080</a:t>
            </a:r>
            <a:endParaRPr lang="en-US" sz="1200" dirty="0"/>
          </a:p>
        </p:txBody>
      </p:sp>
      <p:sp>
        <p:nvSpPr>
          <p:cNvPr id="11" name="paso 2"/>
          <p:cNvSpPr/>
          <p:nvPr/>
        </p:nvSpPr>
        <p:spPr>
          <a:xfrm>
            <a:off x="2807208" y="2011680"/>
            <a:ext cx="2057400" cy="3246120"/>
          </a:xfrm>
          <a:prstGeom prst="roundRect">
            <a:avLst>
              <a:gd name="adj" fmla="val 3556"/>
            </a:avLst>
          </a:prstGeom>
          <a:solidFill>
            <a:schemeClr val="tx2"/>
          </a:solidFill>
          <a:ln w="9525">
            <a:solidFill>
              <a:schemeClr val="accent6"/>
            </a:solidFill>
            <a:prstDash val="solid"/>
          </a:ln>
        </p:spPr>
        <p:txBody>
          <a:bodyPr/>
          <a:lstStyle/>
          <a:p>
            <a:endParaRPr lang="es-CL"/>
          </a:p>
        </p:txBody>
      </p:sp>
      <p:sp>
        <p:nvSpPr>
          <p:cNvPr id="12" name="insignia 2"/>
          <p:cNvSpPr/>
          <p:nvPr/>
        </p:nvSpPr>
        <p:spPr>
          <a:xfrm>
            <a:off x="3035808" y="2240280"/>
            <a:ext cx="548640" cy="54864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13" name="Text 11"/>
          <p:cNvSpPr txBox="1"/>
          <p:nvPr/>
        </p:nvSpPr>
        <p:spPr>
          <a:xfrm>
            <a:off x="3035808" y="2240280"/>
            <a:ext cx="548640" cy="548640"/>
          </a:xfrm>
          <a:prstGeom prst="rect">
            <a:avLst/>
          </a:prstGeom>
          <a:noFill/>
          <a:ln/>
        </p:spPr>
        <p:txBody>
          <a:bodyPr wrap="square" lIns="0" tIns="0" rIns="0" bIns="0" rtlCol="0" anchor="ctr"/>
          <a:lstStyle/>
          <a:p>
            <a:pPr marL="0" indent="0" algn="ctr">
              <a:buNone/>
            </a:pPr>
            <a:r>
              <a:rPr lang="en-US" sz="1500" b="1" dirty="0">
                <a:solidFill>
                  <a:srgbClr val="E0283F"/>
                </a:solidFill>
              </a:rPr>
              <a:t>2</a:t>
            </a:r>
            <a:endParaRPr lang="en-US" sz="1500" dirty="0"/>
          </a:p>
        </p:txBody>
      </p:sp>
      <p:sp>
        <p:nvSpPr>
          <p:cNvPr id="14" name="Text 12"/>
          <p:cNvSpPr txBox="1"/>
          <p:nvPr/>
        </p:nvSpPr>
        <p:spPr>
          <a:xfrm>
            <a:off x="3035808" y="2971800"/>
            <a:ext cx="1600200" cy="365760"/>
          </a:xfrm>
          <a:prstGeom prst="rect">
            <a:avLst/>
          </a:prstGeom>
          <a:noFill/>
          <a:ln/>
        </p:spPr>
        <p:txBody>
          <a:bodyPr wrap="square" lIns="0" tIns="0" rIns="0" bIns="0" rtlCol="0" anchor="ctr"/>
          <a:lstStyle/>
          <a:p>
            <a:pPr marL="0" indent="0">
              <a:buNone/>
            </a:pPr>
            <a:r>
              <a:rPr lang="en-US" sz="1700" b="1" dirty="0">
                <a:solidFill>
                  <a:schemeClr val="bg1"/>
                </a:solidFill>
              </a:rPr>
              <a:t>Gerente</a:t>
            </a:r>
            <a:endParaRPr lang="en-US" sz="1700" dirty="0"/>
          </a:p>
        </p:txBody>
      </p:sp>
      <p:sp>
        <p:nvSpPr>
          <p:cNvPr id="15" name="Text 13"/>
          <p:cNvSpPr txBox="1"/>
          <p:nvPr/>
        </p:nvSpPr>
        <p:spPr>
          <a:xfrm>
            <a:off x="3035808" y="3383280"/>
            <a:ext cx="1600200" cy="1188720"/>
          </a:xfrm>
          <a:prstGeom prst="rect">
            <a:avLst/>
          </a:prstGeom>
          <a:noFill/>
          <a:ln/>
        </p:spPr>
        <p:txBody>
          <a:bodyPr wrap="square" lIns="0" tIns="0" rIns="0" bIns="0" rtlCol="0" anchor="t"/>
          <a:lstStyle/>
          <a:p>
            <a:pPr marL="0" indent="0">
              <a:buNone/>
            </a:pPr>
            <a:r>
              <a:rPr lang="en-US" sz="1400" dirty="0">
                <a:solidFill>
                  <a:schemeClr val="bg2"/>
                </a:solidFill>
              </a:rPr>
              <a:t>Le pone precio y queda publicada</a:t>
            </a:r>
            <a:endParaRPr lang="en-US" sz="1400" dirty="0"/>
          </a:p>
        </p:txBody>
      </p:sp>
      <p:sp>
        <p:nvSpPr>
          <p:cNvPr id="16" name="Text 14"/>
          <p:cNvSpPr txBox="1"/>
          <p:nvPr/>
        </p:nvSpPr>
        <p:spPr>
          <a:xfrm>
            <a:off x="3035808" y="4709160"/>
            <a:ext cx="1600200" cy="320040"/>
          </a:xfrm>
          <a:prstGeom prst="rect">
            <a:avLst/>
          </a:prstGeom>
          <a:noFill/>
          <a:ln/>
        </p:spPr>
        <p:txBody>
          <a:bodyPr wrap="square" lIns="0" tIns="0" rIns="0" bIns="0" rtlCol="0" anchor="ctr"/>
          <a:lstStyle/>
          <a:p>
            <a:pPr marL="0" indent="0">
              <a:buNone/>
            </a:pPr>
            <a:r>
              <a:rPr lang="en-US" sz="1200" b="1" dirty="0">
                <a:solidFill>
                  <a:schemeClr val="accent2"/>
                </a:solidFill>
              </a:rPr>
              <a:t>localhost:8081</a:t>
            </a:r>
            <a:endParaRPr lang="en-US" sz="1200" dirty="0"/>
          </a:p>
        </p:txBody>
      </p:sp>
      <p:sp>
        <p:nvSpPr>
          <p:cNvPr id="17" name="paso 3"/>
          <p:cNvSpPr/>
          <p:nvPr/>
        </p:nvSpPr>
        <p:spPr>
          <a:xfrm>
            <a:off x="5065776" y="2011680"/>
            <a:ext cx="2057400" cy="3246120"/>
          </a:xfrm>
          <a:prstGeom prst="roundRect">
            <a:avLst>
              <a:gd name="adj" fmla="val 3556"/>
            </a:avLst>
          </a:prstGeom>
          <a:solidFill>
            <a:schemeClr val="tx2"/>
          </a:solidFill>
          <a:ln w="9525">
            <a:solidFill>
              <a:schemeClr val="accent6"/>
            </a:solidFill>
            <a:prstDash val="solid"/>
          </a:ln>
        </p:spPr>
        <p:txBody>
          <a:bodyPr/>
          <a:lstStyle/>
          <a:p>
            <a:endParaRPr lang="es-CL"/>
          </a:p>
        </p:txBody>
      </p:sp>
      <p:sp>
        <p:nvSpPr>
          <p:cNvPr id="18" name="insignia 3"/>
          <p:cNvSpPr/>
          <p:nvPr/>
        </p:nvSpPr>
        <p:spPr>
          <a:xfrm>
            <a:off x="5294376" y="2240280"/>
            <a:ext cx="548640" cy="54864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19" name="Text 17"/>
          <p:cNvSpPr txBox="1"/>
          <p:nvPr/>
        </p:nvSpPr>
        <p:spPr>
          <a:xfrm>
            <a:off x="5294376" y="2240280"/>
            <a:ext cx="548640" cy="548640"/>
          </a:xfrm>
          <a:prstGeom prst="rect">
            <a:avLst/>
          </a:prstGeom>
          <a:noFill/>
          <a:ln/>
        </p:spPr>
        <p:txBody>
          <a:bodyPr wrap="square" lIns="0" tIns="0" rIns="0" bIns="0" rtlCol="0" anchor="ctr"/>
          <a:lstStyle/>
          <a:p>
            <a:pPr marL="0" indent="0" algn="ctr">
              <a:buNone/>
            </a:pPr>
            <a:r>
              <a:rPr lang="en-US" sz="1500" b="1" dirty="0">
                <a:solidFill>
                  <a:srgbClr val="E0283F"/>
                </a:solidFill>
              </a:rPr>
              <a:t>3</a:t>
            </a:r>
            <a:endParaRPr lang="en-US" sz="1500" dirty="0"/>
          </a:p>
        </p:txBody>
      </p:sp>
      <p:sp>
        <p:nvSpPr>
          <p:cNvPr id="20" name="Text 18"/>
          <p:cNvSpPr txBox="1"/>
          <p:nvPr/>
        </p:nvSpPr>
        <p:spPr>
          <a:xfrm>
            <a:off x="5294376" y="2971800"/>
            <a:ext cx="1600200" cy="365760"/>
          </a:xfrm>
          <a:prstGeom prst="rect">
            <a:avLst/>
          </a:prstGeom>
          <a:noFill/>
          <a:ln/>
        </p:spPr>
        <p:txBody>
          <a:bodyPr wrap="square" lIns="0" tIns="0" rIns="0" bIns="0" rtlCol="0" anchor="ctr"/>
          <a:lstStyle/>
          <a:p>
            <a:pPr marL="0" indent="0">
              <a:buNone/>
            </a:pPr>
            <a:r>
              <a:rPr lang="en-US" sz="1700" b="1" dirty="0">
                <a:solidFill>
                  <a:schemeClr val="bg1"/>
                </a:solidFill>
              </a:rPr>
              <a:t>Cliente</a:t>
            </a:r>
            <a:endParaRPr lang="en-US" sz="1700" dirty="0"/>
          </a:p>
        </p:txBody>
      </p:sp>
      <p:sp>
        <p:nvSpPr>
          <p:cNvPr id="21" name="Text 19"/>
          <p:cNvSpPr txBox="1"/>
          <p:nvPr/>
        </p:nvSpPr>
        <p:spPr>
          <a:xfrm>
            <a:off x="5294376" y="3383280"/>
            <a:ext cx="1600200" cy="1188720"/>
          </a:xfrm>
          <a:prstGeom prst="rect">
            <a:avLst/>
          </a:prstGeom>
          <a:noFill/>
          <a:ln/>
        </p:spPr>
        <p:txBody>
          <a:bodyPr wrap="square" lIns="0" tIns="0" rIns="0" bIns="0" rtlCol="0" anchor="t"/>
          <a:lstStyle/>
          <a:p>
            <a:pPr marL="0" indent="0">
              <a:buNone/>
            </a:pPr>
            <a:r>
              <a:rPr lang="en-US" sz="1400" dirty="0">
                <a:solidFill>
                  <a:schemeClr val="bg2"/>
                </a:solidFill>
              </a:rPr>
              <a:t>Se la prueba en el probador 3D y la compra</a:t>
            </a:r>
            <a:endParaRPr lang="en-US" sz="1400" dirty="0"/>
          </a:p>
        </p:txBody>
      </p:sp>
      <p:sp>
        <p:nvSpPr>
          <p:cNvPr id="22" name="Text 20"/>
          <p:cNvSpPr txBox="1"/>
          <p:nvPr/>
        </p:nvSpPr>
        <p:spPr>
          <a:xfrm>
            <a:off x="5294376" y="4709160"/>
            <a:ext cx="1600200" cy="320040"/>
          </a:xfrm>
          <a:prstGeom prst="rect">
            <a:avLst/>
          </a:prstGeom>
          <a:noFill/>
          <a:ln/>
        </p:spPr>
        <p:txBody>
          <a:bodyPr wrap="square" lIns="0" tIns="0" rIns="0" bIns="0" rtlCol="0" anchor="ctr"/>
          <a:lstStyle/>
          <a:p>
            <a:pPr marL="0" indent="0">
              <a:buNone/>
            </a:pPr>
            <a:r>
              <a:rPr lang="en-US" sz="1200" b="1" dirty="0">
                <a:solidFill>
                  <a:schemeClr val="accent2"/>
                </a:solidFill>
              </a:rPr>
              <a:t>localhost:8081</a:t>
            </a:r>
            <a:endParaRPr lang="en-US" sz="1200" dirty="0"/>
          </a:p>
        </p:txBody>
      </p:sp>
      <p:sp>
        <p:nvSpPr>
          <p:cNvPr id="23" name="paso 4"/>
          <p:cNvSpPr/>
          <p:nvPr/>
        </p:nvSpPr>
        <p:spPr>
          <a:xfrm>
            <a:off x="7324344" y="2011680"/>
            <a:ext cx="2057400" cy="3246120"/>
          </a:xfrm>
          <a:prstGeom prst="roundRect">
            <a:avLst>
              <a:gd name="adj" fmla="val 3556"/>
            </a:avLst>
          </a:prstGeom>
          <a:solidFill>
            <a:schemeClr val="tx2"/>
          </a:solidFill>
          <a:ln w="9525">
            <a:solidFill>
              <a:schemeClr val="accent6"/>
            </a:solidFill>
            <a:prstDash val="solid"/>
          </a:ln>
        </p:spPr>
        <p:txBody>
          <a:bodyPr/>
          <a:lstStyle/>
          <a:p>
            <a:endParaRPr lang="es-CL"/>
          </a:p>
        </p:txBody>
      </p:sp>
      <p:sp>
        <p:nvSpPr>
          <p:cNvPr id="24" name="insignia 4"/>
          <p:cNvSpPr/>
          <p:nvPr/>
        </p:nvSpPr>
        <p:spPr>
          <a:xfrm>
            <a:off x="7552944" y="2240280"/>
            <a:ext cx="548640" cy="54864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25" name="Text 23"/>
          <p:cNvSpPr txBox="1"/>
          <p:nvPr/>
        </p:nvSpPr>
        <p:spPr>
          <a:xfrm>
            <a:off x="7552944" y="2240280"/>
            <a:ext cx="548640" cy="548640"/>
          </a:xfrm>
          <a:prstGeom prst="rect">
            <a:avLst/>
          </a:prstGeom>
          <a:noFill/>
          <a:ln/>
        </p:spPr>
        <p:txBody>
          <a:bodyPr wrap="square" lIns="0" tIns="0" rIns="0" bIns="0" rtlCol="0" anchor="ctr"/>
          <a:lstStyle/>
          <a:p>
            <a:pPr marL="0" indent="0" algn="ctr">
              <a:buNone/>
            </a:pPr>
            <a:r>
              <a:rPr lang="en-US" sz="1500" b="1" dirty="0">
                <a:solidFill>
                  <a:srgbClr val="E0283F"/>
                </a:solidFill>
              </a:rPr>
              <a:t>4</a:t>
            </a:r>
            <a:endParaRPr lang="en-US" sz="1500" dirty="0"/>
          </a:p>
        </p:txBody>
      </p:sp>
      <p:sp>
        <p:nvSpPr>
          <p:cNvPr id="26" name="Text 24"/>
          <p:cNvSpPr txBox="1"/>
          <p:nvPr/>
        </p:nvSpPr>
        <p:spPr>
          <a:xfrm>
            <a:off x="7552944" y="2971800"/>
            <a:ext cx="1600200" cy="365760"/>
          </a:xfrm>
          <a:prstGeom prst="rect">
            <a:avLst/>
          </a:prstGeom>
          <a:noFill/>
          <a:ln/>
        </p:spPr>
        <p:txBody>
          <a:bodyPr wrap="square" lIns="0" tIns="0" rIns="0" bIns="0" rtlCol="0" anchor="ctr"/>
          <a:lstStyle/>
          <a:p>
            <a:pPr marL="0" indent="0">
              <a:buNone/>
            </a:pPr>
            <a:r>
              <a:rPr lang="en-US" sz="1700" b="1" dirty="0">
                <a:solidFill>
                  <a:schemeClr val="bg1"/>
                </a:solidFill>
              </a:rPr>
              <a:t>Vendedor</a:t>
            </a:r>
            <a:endParaRPr lang="en-US" sz="1700" dirty="0"/>
          </a:p>
        </p:txBody>
      </p:sp>
      <p:sp>
        <p:nvSpPr>
          <p:cNvPr id="27" name="Text 25"/>
          <p:cNvSpPr txBox="1"/>
          <p:nvPr/>
        </p:nvSpPr>
        <p:spPr>
          <a:xfrm>
            <a:off x="7552944" y="3383280"/>
            <a:ext cx="1600200" cy="1188720"/>
          </a:xfrm>
          <a:prstGeom prst="rect">
            <a:avLst/>
          </a:prstGeom>
          <a:noFill/>
          <a:ln/>
        </p:spPr>
        <p:txBody>
          <a:bodyPr wrap="square" lIns="0" tIns="0" rIns="0" bIns="0" rtlCol="0" anchor="t"/>
          <a:lstStyle/>
          <a:p>
            <a:pPr marL="0" indent="0">
              <a:buNone/>
            </a:pPr>
            <a:r>
              <a:rPr lang="en-US" sz="1400" dirty="0">
                <a:solidFill>
                  <a:schemeClr val="bg2"/>
                </a:solidFill>
              </a:rPr>
              <a:t>Vende otra unidad en la tienda física</a:t>
            </a:r>
            <a:endParaRPr lang="en-US" sz="1400" dirty="0"/>
          </a:p>
        </p:txBody>
      </p:sp>
      <p:sp>
        <p:nvSpPr>
          <p:cNvPr id="28" name="Text 26"/>
          <p:cNvSpPr txBox="1"/>
          <p:nvPr/>
        </p:nvSpPr>
        <p:spPr>
          <a:xfrm>
            <a:off x="7552944" y="4709160"/>
            <a:ext cx="1600200" cy="320040"/>
          </a:xfrm>
          <a:prstGeom prst="rect">
            <a:avLst/>
          </a:prstGeom>
          <a:noFill/>
          <a:ln/>
        </p:spPr>
        <p:txBody>
          <a:bodyPr wrap="square" lIns="0" tIns="0" rIns="0" bIns="0" rtlCol="0" anchor="ctr"/>
          <a:lstStyle/>
          <a:p>
            <a:pPr marL="0" indent="0">
              <a:buNone/>
            </a:pPr>
            <a:r>
              <a:rPr lang="en-US" sz="1200" b="1" dirty="0">
                <a:solidFill>
                  <a:schemeClr val="accent2"/>
                </a:solidFill>
              </a:rPr>
              <a:t>localhost:8082</a:t>
            </a:r>
            <a:endParaRPr lang="en-US" sz="1200" dirty="0"/>
          </a:p>
        </p:txBody>
      </p:sp>
      <p:sp>
        <p:nvSpPr>
          <p:cNvPr id="29" name="paso 5"/>
          <p:cNvSpPr/>
          <p:nvPr/>
        </p:nvSpPr>
        <p:spPr>
          <a:xfrm>
            <a:off x="9582912" y="2011680"/>
            <a:ext cx="2057400" cy="3246120"/>
          </a:xfrm>
          <a:prstGeom prst="roundRect">
            <a:avLst>
              <a:gd name="adj" fmla="val 3556"/>
            </a:avLst>
          </a:prstGeom>
          <a:solidFill>
            <a:schemeClr val="tx2"/>
          </a:solidFill>
          <a:ln w="9525">
            <a:solidFill>
              <a:schemeClr val="accent6"/>
            </a:solidFill>
            <a:prstDash val="solid"/>
          </a:ln>
        </p:spPr>
        <p:txBody>
          <a:bodyPr/>
          <a:lstStyle/>
          <a:p>
            <a:endParaRPr lang="es-CL"/>
          </a:p>
        </p:txBody>
      </p:sp>
      <p:sp>
        <p:nvSpPr>
          <p:cNvPr id="30" name="insignia 5"/>
          <p:cNvSpPr/>
          <p:nvPr/>
        </p:nvSpPr>
        <p:spPr>
          <a:xfrm>
            <a:off x="9811512" y="2240280"/>
            <a:ext cx="548640" cy="548640"/>
          </a:xfrm>
          <a:prstGeom prst="ellipse">
            <a:avLst/>
          </a:prstGeom>
          <a:solidFill>
            <a:srgbClr val="E0283F">
              <a:alpha val="22000"/>
            </a:srgbClr>
          </a:solidFill>
          <a:ln w="15875">
            <a:solidFill>
              <a:srgbClr val="E0283F"/>
            </a:solidFill>
            <a:prstDash val="solid"/>
          </a:ln>
        </p:spPr>
        <p:txBody>
          <a:bodyPr/>
          <a:lstStyle/>
          <a:p>
            <a:endParaRPr lang="es-CL"/>
          </a:p>
        </p:txBody>
      </p:sp>
      <p:sp>
        <p:nvSpPr>
          <p:cNvPr id="31" name="Text 29"/>
          <p:cNvSpPr txBox="1"/>
          <p:nvPr/>
        </p:nvSpPr>
        <p:spPr>
          <a:xfrm>
            <a:off x="9811512" y="2240280"/>
            <a:ext cx="548640" cy="548640"/>
          </a:xfrm>
          <a:prstGeom prst="rect">
            <a:avLst/>
          </a:prstGeom>
          <a:noFill/>
          <a:ln/>
        </p:spPr>
        <p:txBody>
          <a:bodyPr wrap="square" lIns="0" tIns="0" rIns="0" bIns="0" rtlCol="0" anchor="ctr"/>
          <a:lstStyle/>
          <a:p>
            <a:pPr marL="0" indent="0" algn="ctr">
              <a:buNone/>
            </a:pPr>
            <a:r>
              <a:rPr lang="en-US" sz="1500" b="1" dirty="0">
                <a:solidFill>
                  <a:srgbClr val="E0283F"/>
                </a:solidFill>
              </a:rPr>
              <a:t>5</a:t>
            </a:r>
            <a:endParaRPr lang="en-US" sz="1500" dirty="0"/>
          </a:p>
        </p:txBody>
      </p:sp>
      <p:sp>
        <p:nvSpPr>
          <p:cNvPr id="32" name="Text 30"/>
          <p:cNvSpPr txBox="1"/>
          <p:nvPr/>
        </p:nvSpPr>
        <p:spPr>
          <a:xfrm>
            <a:off x="9811512" y="2971800"/>
            <a:ext cx="1600200" cy="365760"/>
          </a:xfrm>
          <a:prstGeom prst="rect">
            <a:avLst/>
          </a:prstGeom>
          <a:noFill/>
          <a:ln/>
        </p:spPr>
        <p:txBody>
          <a:bodyPr wrap="square" lIns="0" tIns="0" rIns="0" bIns="0" rtlCol="0" anchor="ctr"/>
          <a:lstStyle/>
          <a:p>
            <a:pPr marL="0" indent="0">
              <a:buNone/>
            </a:pPr>
            <a:r>
              <a:rPr lang="en-US" sz="1700" b="1" dirty="0">
                <a:solidFill>
                  <a:schemeClr val="bg1"/>
                </a:solidFill>
              </a:rPr>
              <a:t>Gerente</a:t>
            </a:r>
            <a:endParaRPr lang="en-US" sz="1700" dirty="0"/>
          </a:p>
        </p:txBody>
      </p:sp>
      <p:sp>
        <p:nvSpPr>
          <p:cNvPr id="33" name="Text 31"/>
          <p:cNvSpPr txBox="1"/>
          <p:nvPr/>
        </p:nvSpPr>
        <p:spPr>
          <a:xfrm>
            <a:off x="9811512" y="3383280"/>
            <a:ext cx="1600200" cy="1188720"/>
          </a:xfrm>
          <a:prstGeom prst="rect">
            <a:avLst/>
          </a:prstGeom>
          <a:noFill/>
          <a:ln/>
        </p:spPr>
        <p:txBody>
          <a:bodyPr wrap="square" lIns="0" tIns="0" rIns="0" bIns="0" rtlCol="0" anchor="t"/>
          <a:lstStyle/>
          <a:p>
            <a:pPr marL="0" indent="0">
              <a:buNone/>
            </a:pPr>
            <a:r>
              <a:rPr lang="en-US" sz="1400" dirty="0">
                <a:solidFill>
                  <a:schemeClr val="bg2"/>
                </a:solidFill>
              </a:rPr>
              <a:t>Ve ambas ventas en el balance del día</a:t>
            </a:r>
            <a:endParaRPr lang="en-US" sz="1400" dirty="0"/>
          </a:p>
        </p:txBody>
      </p:sp>
      <p:sp>
        <p:nvSpPr>
          <p:cNvPr id="34" name="Text 32"/>
          <p:cNvSpPr txBox="1"/>
          <p:nvPr/>
        </p:nvSpPr>
        <p:spPr>
          <a:xfrm>
            <a:off x="9811512" y="4709160"/>
            <a:ext cx="1600200" cy="320040"/>
          </a:xfrm>
          <a:prstGeom prst="rect">
            <a:avLst/>
          </a:prstGeom>
          <a:noFill/>
          <a:ln/>
        </p:spPr>
        <p:txBody>
          <a:bodyPr wrap="square" lIns="0" tIns="0" rIns="0" bIns="0" rtlCol="0" anchor="ctr"/>
          <a:lstStyle/>
          <a:p>
            <a:pPr marL="0" indent="0">
              <a:buNone/>
            </a:pPr>
            <a:r>
              <a:rPr lang="en-US" sz="1200" b="1" dirty="0">
                <a:solidFill>
                  <a:schemeClr val="accent2"/>
                </a:solidFill>
              </a:rPr>
              <a:t>localhost:8081</a:t>
            </a:r>
            <a:endParaRPr lang="en-US" sz="1200" dirty="0"/>
          </a:p>
        </p:txBody>
      </p:sp>
      <p:sp>
        <p:nvSpPr>
          <p:cNvPr id="35" name="Text 33"/>
          <p:cNvSpPr txBox="1"/>
          <p:nvPr/>
        </p:nvSpPr>
        <p:spPr>
          <a:xfrm>
            <a:off x="548640" y="5577840"/>
            <a:ext cx="11091672" cy="365760"/>
          </a:xfrm>
          <a:prstGeom prst="rect">
            <a:avLst/>
          </a:prstGeom>
          <a:noFill/>
          <a:ln/>
        </p:spPr>
        <p:txBody>
          <a:bodyPr wrap="square" lIns="0" tIns="0" rIns="0" bIns="0" rtlCol="0" anchor="ctr"/>
          <a:lstStyle/>
          <a:p>
            <a:pPr marL="0" indent="0">
              <a:buNone/>
            </a:pPr>
            <a:r>
              <a:rPr lang="en-US" sz="1300" i="1" dirty="0">
                <a:solidFill>
                  <a:schemeClr val="bg2"/>
                </a:solidFill>
              </a:rPr>
              <a:t>Antes de empezar: Docker Desktop abierto y docker compose up en el backend y en el POS.</a:t>
            </a:r>
            <a:endParaRPr lang="en-US" sz="1300" dirty="0"/>
          </a:p>
        </p:txBody>
      </p:sp>
      <p:sp>
        <p:nvSpPr>
          <p:cNvPr id="36" name="Slide Number Placeholder 0"/>
          <p:cNvSpPr>
            <a:spLocks noGrp="1"/>
          </p:cNvSpPr>
          <p:nvPr>
            <p:ph type="sldNum" sz="quarter" idx="4294967295"/>
          </p:nvPr>
        </p:nvSpPr>
        <p:spPr>
          <a:xfrm>
            <a:off x="11384280"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920240"/>
            <a:ext cx="6035040" cy="365760"/>
          </a:xfrm>
          <a:prstGeom prst="rect">
            <a:avLst/>
          </a:prstGeom>
          <a:noFill/>
          <a:ln/>
        </p:spPr>
        <p:txBody>
          <a:bodyPr wrap="square" lIns="0" tIns="0" rIns="0" bIns="0" rtlCol="0"/>
          <a:lstStyle/>
          <a:p>
            <a:pPr marL="0" indent="0">
              <a:buNone/>
            </a:pPr>
            <a:r>
              <a:rPr lang="en-US" sz="1300" b="1" kern="0" spc="200" dirty="0">
                <a:solidFill>
                  <a:schemeClr val="accent1"/>
                </a:solidFill>
              </a:rPr>
              <a:t>PRÓXIMOS PASOS · FASE 3</a:t>
            </a:r>
            <a:endParaRPr lang="en-US" sz="1300" dirty="0"/>
          </a:p>
        </p:txBody>
      </p:sp>
      <p:sp>
        <p:nvSpPr>
          <p:cNvPr id="3" name="Text 0"/>
          <p:cNvSpPr>
            <a:spLocks noGrp="1"/>
          </p:cNvSpPr>
          <p:nvPr>
            <p:ph type="title" idx="101" hasCustomPrompt="1"/>
          </p:nvPr>
        </p:nvSpPr>
        <p:spPr>
          <a:xfrm>
            <a:off x="548640" y="2331720"/>
            <a:ext cx="8229600" cy="1005840"/>
          </a:xfrm>
          <a:prstGeom prst="rect">
            <a:avLst/>
          </a:prstGeom>
          <a:noFill/>
          <a:ln/>
        </p:spPr>
        <p:txBody>
          <a:bodyPr wrap="square" lIns="0" tIns="0" rIns="0" bIns="0" rtlCol="0" anchor="t"/>
          <a:lstStyle/>
          <a:p>
            <a:pPr marL="0" indent="0" algn="l">
              <a:buNone/>
            </a:pPr>
            <a:r>
              <a:rPr lang="en-US" sz="4600" b="1" dirty="0">
                <a:solidFill>
                  <a:schemeClr val="bg1"/>
                </a:solidFill>
              </a:rPr>
              <a:t>Del MVP a la tienda real</a:t>
            </a:r>
            <a:endParaRPr lang="en-US" sz="4600" dirty="0"/>
          </a:p>
        </p:txBody>
      </p:sp>
      <p:sp>
        <p:nvSpPr>
          <p:cNvPr id="4" name="círculo decorativo"/>
          <p:cNvSpPr/>
          <p:nvPr/>
        </p:nvSpPr>
        <p:spPr>
          <a:xfrm>
            <a:off x="8778240" y="-1463040"/>
            <a:ext cx="4754880" cy="4754880"/>
          </a:xfrm>
          <a:prstGeom prst="ellipse">
            <a:avLst/>
          </a:prstGeom>
          <a:solidFill>
            <a:schemeClr val="accent1">
              <a:alpha val="20000"/>
            </a:schemeClr>
          </a:solidFill>
          <a:ln w="12700">
            <a:solidFill>
              <a:schemeClr val="accent1">
                <a:alpha val="0"/>
              </a:schemeClr>
            </a:solidFill>
            <a:prstDash val="solid"/>
          </a:ln>
        </p:spPr>
        <p:txBody>
          <a:bodyPr/>
          <a:lstStyle/>
          <a:p>
            <a:endParaRPr lang="es-CL"/>
          </a:p>
        </p:txBody>
      </p:sp>
      <p:sp>
        <p:nvSpPr>
          <p:cNvPr id="5" name="insignia 1"/>
          <p:cNvSpPr/>
          <p:nvPr/>
        </p:nvSpPr>
        <p:spPr>
          <a:xfrm>
            <a:off x="548640" y="3520440"/>
            <a:ext cx="384048" cy="384048"/>
          </a:xfrm>
          <a:prstGeom prst="ellipse">
            <a:avLst/>
          </a:prstGeom>
          <a:solidFill>
            <a:srgbClr val="E0283F">
              <a:alpha val="22000"/>
            </a:srgbClr>
          </a:solidFill>
          <a:ln w="15875">
            <a:solidFill>
              <a:srgbClr val="E0283F"/>
            </a:solidFill>
            <a:prstDash val="solid"/>
          </a:ln>
        </p:spPr>
        <p:txBody>
          <a:bodyPr/>
          <a:lstStyle/>
          <a:p>
            <a:endParaRPr lang="es-CL"/>
          </a:p>
        </p:txBody>
      </p:sp>
      <p:sp>
        <p:nvSpPr>
          <p:cNvPr id="6" name="Text 4"/>
          <p:cNvSpPr txBox="1"/>
          <p:nvPr/>
        </p:nvSpPr>
        <p:spPr>
          <a:xfrm>
            <a:off x="548640" y="3520440"/>
            <a:ext cx="384048" cy="384048"/>
          </a:xfrm>
          <a:prstGeom prst="rect">
            <a:avLst/>
          </a:prstGeom>
          <a:noFill/>
          <a:ln/>
        </p:spPr>
        <p:txBody>
          <a:bodyPr wrap="square" lIns="0" tIns="0" rIns="0" bIns="0" rtlCol="0" anchor="ctr"/>
          <a:lstStyle/>
          <a:p>
            <a:pPr marL="0" indent="0" algn="ctr">
              <a:buNone/>
            </a:pPr>
            <a:r>
              <a:rPr lang="en-US" sz="1200" b="1" dirty="0">
                <a:solidFill>
                  <a:srgbClr val="E0283F"/>
                </a:solidFill>
              </a:rPr>
              <a:t>1</a:t>
            </a:r>
            <a:endParaRPr lang="en-US" sz="1200" dirty="0"/>
          </a:p>
        </p:txBody>
      </p:sp>
      <p:sp>
        <p:nvSpPr>
          <p:cNvPr id="7" name="Text 5"/>
          <p:cNvSpPr txBox="1"/>
          <p:nvPr/>
        </p:nvSpPr>
        <p:spPr>
          <a:xfrm>
            <a:off x="1097280" y="3502152"/>
            <a:ext cx="6766560" cy="420624"/>
          </a:xfrm>
          <a:prstGeom prst="rect">
            <a:avLst/>
          </a:prstGeom>
          <a:noFill/>
          <a:ln/>
        </p:spPr>
        <p:txBody>
          <a:bodyPr wrap="square" lIns="0" tIns="0" rIns="0" bIns="0" rtlCol="0" anchor="ctr"/>
          <a:lstStyle/>
          <a:p>
            <a:pPr marL="0" indent="0">
              <a:buNone/>
            </a:pPr>
            <a:r>
              <a:rPr lang="en-US" sz="1600" dirty="0">
                <a:solidFill>
                  <a:schemeClr val="bg1"/>
                </a:solidFill>
              </a:rPr>
              <a:t>Conectar Webpay y Starken con credenciales reales.</a:t>
            </a:r>
            <a:endParaRPr lang="en-US" sz="1600" dirty="0"/>
          </a:p>
        </p:txBody>
      </p:sp>
      <p:sp>
        <p:nvSpPr>
          <p:cNvPr id="8" name="insignia 2"/>
          <p:cNvSpPr/>
          <p:nvPr/>
        </p:nvSpPr>
        <p:spPr>
          <a:xfrm>
            <a:off x="548640" y="4069080"/>
            <a:ext cx="384048" cy="384048"/>
          </a:xfrm>
          <a:prstGeom prst="ellipse">
            <a:avLst/>
          </a:prstGeom>
          <a:solidFill>
            <a:srgbClr val="E0283F">
              <a:alpha val="22000"/>
            </a:srgbClr>
          </a:solidFill>
          <a:ln w="15875">
            <a:solidFill>
              <a:srgbClr val="E0283F"/>
            </a:solidFill>
            <a:prstDash val="solid"/>
          </a:ln>
        </p:spPr>
        <p:txBody>
          <a:bodyPr/>
          <a:lstStyle/>
          <a:p>
            <a:endParaRPr lang="es-CL"/>
          </a:p>
        </p:txBody>
      </p:sp>
      <p:sp>
        <p:nvSpPr>
          <p:cNvPr id="9" name="Text 7"/>
          <p:cNvSpPr txBox="1"/>
          <p:nvPr/>
        </p:nvSpPr>
        <p:spPr>
          <a:xfrm>
            <a:off x="548640" y="4069080"/>
            <a:ext cx="384048" cy="384048"/>
          </a:xfrm>
          <a:prstGeom prst="rect">
            <a:avLst/>
          </a:prstGeom>
          <a:noFill/>
          <a:ln/>
        </p:spPr>
        <p:txBody>
          <a:bodyPr wrap="square" lIns="0" tIns="0" rIns="0" bIns="0" rtlCol="0" anchor="ctr"/>
          <a:lstStyle/>
          <a:p>
            <a:pPr marL="0" indent="0" algn="ctr">
              <a:buNone/>
            </a:pPr>
            <a:r>
              <a:rPr lang="en-US" sz="1200" b="1" dirty="0">
                <a:solidFill>
                  <a:srgbClr val="E0283F"/>
                </a:solidFill>
              </a:rPr>
              <a:t>2</a:t>
            </a:r>
            <a:endParaRPr lang="en-US" sz="1200" dirty="0"/>
          </a:p>
        </p:txBody>
      </p:sp>
      <p:sp>
        <p:nvSpPr>
          <p:cNvPr id="10" name="Text 8"/>
          <p:cNvSpPr txBox="1"/>
          <p:nvPr/>
        </p:nvSpPr>
        <p:spPr>
          <a:xfrm>
            <a:off x="1097280" y="4050792"/>
            <a:ext cx="6766560" cy="420624"/>
          </a:xfrm>
          <a:prstGeom prst="rect">
            <a:avLst/>
          </a:prstGeom>
          <a:noFill/>
          <a:ln/>
        </p:spPr>
        <p:txBody>
          <a:bodyPr wrap="square" lIns="0" tIns="0" rIns="0" bIns="0" rtlCol="0" anchor="ctr"/>
          <a:lstStyle/>
          <a:p>
            <a:pPr marL="0" indent="0">
              <a:buNone/>
            </a:pPr>
            <a:r>
              <a:rPr lang="en-US" sz="1600" dirty="0">
                <a:solidFill>
                  <a:schemeClr val="bg1"/>
                </a:solidFill>
              </a:rPr>
              <a:t>Reportes PDF/Excel, alertas de stock crítico e integración continua.</a:t>
            </a:r>
            <a:endParaRPr lang="en-US" sz="1600" dirty="0"/>
          </a:p>
        </p:txBody>
      </p:sp>
      <p:sp>
        <p:nvSpPr>
          <p:cNvPr id="11" name="insignia 3"/>
          <p:cNvSpPr/>
          <p:nvPr/>
        </p:nvSpPr>
        <p:spPr>
          <a:xfrm>
            <a:off x="548640" y="4617720"/>
            <a:ext cx="384048" cy="384048"/>
          </a:xfrm>
          <a:prstGeom prst="ellipse">
            <a:avLst/>
          </a:prstGeom>
          <a:solidFill>
            <a:srgbClr val="E0283F">
              <a:alpha val="22000"/>
            </a:srgbClr>
          </a:solidFill>
          <a:ln w="15875">
            <a:solidFill>
              <a:srgbClr val="E0283F"/>
            </a:solidFill>
            <a:prstDash val="solid"/>
          </a:ln>
        </p:spPr>
        <p:txBody>
          <a:bodyPr/>
          <a:lstStyle/>
          <a:p>
            <a:endParaRPr lang="es-CL"/>
          </a:p>
        </p:txBody>
      </p:sp>
      <p:sp>
        <p:nvSpPr>
          <p:cNvPr id="12" name="Text 10"/>
          <p:cNvSpPr txBox="1"/>
          <p:nvPr/>
        </p:nvSpPr>
        <p:spPr>
          <a:xfrm>
            <a:off x="548640" y="4617720"/>
            <a:ext cx="384048" cy="384048"/>
          </a:xfrm>
          <a:prstGeom prst="rect">
            <a:avLst/>
          </a:prstGeom>
          <a:noFill/>
          <a:ln/>
        </p:spPr>
        <p:txBody>
          <a:bodyPr wrap="square" lIns="0" tIns="0" rIns="0" bIns="0" rtlCol="0" anchor="ctr"/>
          <a:lstStyle/>
          <a:p>
            <a:pPr marL="0" indent="0" algn="ctr">
              <a:buNone/>
            </a:pPr>
            <a:r>
              <a:rPr lang="en-US" sz="1200" b="1" dirty="0">
                <a:solidFill>
                  <a:srgbClr val="E0283F"/>
                </a:solidFill>
              </a:rPr>
              <a:t>3</a:t>
            </a:r>
            <a:endParaRPr lang="en-US" sz="1200" dirty="0"/>
          </a:p>
        </p:txBody>
      </p:sp>
      <p:sp>
        <p:nvSpPr>
          <p:cNvPr id="13" name="Text 11"/>
          <p:cNvSpPr txBox="1"/>
          <p:nvPr/>
        </p:nvSpPr>
        <p:spPr>
          <a:xfrm>
            <a:off x="1097280" y="4599432"/>
            <a:ext cx="6766560" cy="420624"/>
          </a:xfrm>
          <a:prstGeom prst="rect">
            <a:avLst/>
          </a:prstGeom>
          <a:noFill/>
          <a:ln/>
        </p:spPr>
        <p:txBody>
          <a:bodyPr wrap="square" lIns="0" tIns="0" rIns="0" bIns="0" rtlCol="0" anchor="ctr"/>
          <a:lstStyle/>
          <a:p>
            <a:pPr marL="0" indent="0">
              <a:buNone/>
            </a:pPr>
            <a:r>
              <a:rPr lang="en-US" sz="1600" dirty="0">
                <a:solidFill>
                  <a:schemeClr val="bg1"/>
                </a:solidFill>
              </a:rPr>
              <a:t>Prueba del probador con 10 personas y piloto en la tienda.</a:t>
            </a:r>
            <a:endParaRPr lang="en-US" sz="1600" dirty="0"/>
          </a:p>
        </p:txBody>
      </p:sp>
      <p:sp>
        <p:nvSpPr>
          <p:cNvPr id="14" name="insignia 4"/>
          <p:cNvSpPr/>
          <p:nvPr/>
        </p:nvSpPr>
        <p:spPr>
          <a:xfrm>
            <a:off x="548640" y="5166360"/>
            <a:ext cx="384048" cy="384048"/>
          </a:xfrm>
          <a:prstGeom prst="ellipse">
            <a:avLst/>
          </a:prstGeom>
          <a:solidFill>
            <a:srgbClr val="E0283F">
              <a:alpha val="22000"/>
            </a:srgbClr>
          </a:solidFill>
          <a:ln w="15875">
            <a:solidFill>
              <a:srgbClr val="E0283F"/>
            </a:solidFill>
            <a:prstDash val="solid"/>
          </a:ln>
        </p:spPr>
        <p:txBody>
          <a:bodyPr/>
          <a:lstStyle/>
          <a:p>
            <a:endParaRPr lang="es-CL"/>
          </a:p>
        </p:txBody>
      </p:sp>
      <p:sp>
        <p:nvSpPr>
          <p:cNvPr id="15" name="Text 13"/>
          <p:cNvSpPr txBox="1"/>
          <p:nvPr/>
        </p:nvSpPr>
        <p:spPr>
          <a:xfrm>
            <a:off x="548640" y="5166360"/>
            <a:ext cx="384048" cy="384048"/>
          </a:xfrm>
          <a:prstGeom prst="rect">
            <a:avLst/>
          </a:prstGeom>
          <a:noFill/>
          <a:ln/>
        </p:spPr>
        <p:txBody>
          <a:bodyPr wrap="square" lIns="0" tIns="0" rIns="0" bIns="0" rtlCol="0" anchor="ctr"/>
          <a:lstStyle/>
          <a:p>
            <a:pPr marL="0" indent="0" algn="ctr">
              <a:buNone/>
            </a:pPr>
            <a:r>
              <a:rPr lang="en-US" sz="1200" b="1" dirty="0">
                <a:solidFill>
                  <a:srgbClr val="E0283F"/>
                </a:solidFill>
              </a:rPr>
              <a:t>4</a:t>
            </a:r>
            <a:endParaRPr lang="en-US" sz="1200" dirty="0"/>
          </a:p>
        </p:txBody>
      </p:sp>
      <p:sp>
        <p:nvSpPr>
          <p:cNvPr id="16" name="Text 14"/>
          <p:cNvSpPr txBox="1"/>
          <p:nvPr/>
        </p:nvSpPr>
        <p:spPr>
          <a:xfrm>
            <a:off x="1097280" y="5148072"/>
            <a:ext cx="6766560" cy="420624"/>
          </a:xfrm>
          <a:prstGeom prst="rect">
            <a:avLst/>
          </a:prstGeom>
          <a:noFill/>
          <a:ln/>
        </p:spPr>
        <p:txBody>
          <a:bodyPr wrap="square" lIns="0" tIns="0" rIns="0" bIns="0" rtlCol="0" anchor="ctr"/>
          <a:lstStyle/>
          <a:p>
            <a:pPr marL="0" indent="0">
              <a:buNone/>
            </a:pPr>
            <a:r>
              <a:rPr lang="en-US" sz="1600" dirty="0">
                <a:solidFill>
                  <a:schemeClr val="bg1"/>
                </a:solidFill>
              </a:rPr>
              <a:t>Probador más exacto: medidas reales de cada prenda y texturas desde las fotos.</a:t>
            </a:r>
            <a:endParaRPr lang="en-US" sz="1600" dirty="0"/>
          </a:p>
        </p:txBody>
      </p:sp>
    </p:spTree>
  </p:cSld>
  <p:clrMapOvr>
    <a:masterClrMapping/>
  </p:clrMapOvr>
</p:sld>
</file>

<file path=ppt/theme/theme1.xml><?xml version="1.0" encoding="utf-8"?>
<a:theme xmlns:a="http://schemas.openxmlformats.org/drawingml/2006/main" name="RockStore">
  <a:themeElements>
    <a:clrScheme name="RockStore">
      <a:dk1>
        <a:srgbClr val="0B0B0C"/>
      </a:dk1>
      <a:lt1>
        <a:srgbClr val="F4F4F5"/>
      </a:lt1>
      <a:dk2>
        <a:srgbClr val="17171A"/>
      </a:dk2>
      <a:lt2>
        <a:srgbClr val="A1A1AA"/>
      </a:lt2>
      <a:accent1>
        <a:srgbClr val="E0283F"/>
      </a:accent1>
      <a:accent2>
        <a:srgbClr val="F0A93B"/>
      </a:accent2>
      <a:accent3>
        <a:srgbClr val="34D399"/>
      </a:accent3>
      <a:accent4>
        <a:srgbClr val="38BDF8"/>
      </a:accent4>
      <a:accent5>
        <a:srgbClr val="A78BFA"/>
      </a:accent5>
      <a:accent6>
        <a:srgbClr val="2A2A30"/>
      </a:accent6>
      <a:hlink>
        <a:srgbClr val="F87171"/>
      </a:hlink>
      <a:folHlink>
        <a:srgbClr val="FCA5A5"/>
      </a:folHlink>
    </a:clrScheme>
    <a:fontScheme name="RockStore">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EFF0FD0-6E74-4B94-AE7E-8183D475C3CC}">
  <we:reference id="WA200010725" version="1.0.0.1" store="Omex" storeType="OMEX"/>
  <we:alternateReferences>
    <we:reference id="WA200010725" version="1.0.0.1" store="WA200010725" storeType="OMEX"/>
  </we:alternateReferences>
  <we:properties>
    <we:property name="claude.fileId" value="&quot;e65787e2-d425-4c32-b0f5-cd96d614696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397</TotalTime>
  <Words>2618</Words>
  <Application>Microsoft Office PowerPoint</Application>
  <PresentationFormat>Panorámica</PresentationFormat>
  <Paragraphs>286</Paragraphs>
  <Slides>16</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Bookman Old Style</vt:lpstr>
      <vt:lpstr>Calibri</vt:lpstr>
      <vt:lpstr>RockStore</vt:lpstr>
      <vt:lpstr>El stock en vivo ya funciona</vt:lpstr>
      <vt:lpstr>Presentación de PowerPoint</vt:lpstr>
      <vt:lpstr>Lo que prometimos, funcionando</vt:lpstr>
      <vt:lpstr>Cómo está construido</vt:lpstr>
      <vt:lpstr>La bodega deja el papel</vt:lpstr>
      <vt:lpstr>Vender en la tienda física</vt:lpstr>
      <vt:lpstr>Comprar online con stock real</vt:lpstr>
      <vt:lpstr>Probador virtual 3D</vt:lpstr>
      <vt:lpstr>Ingresos, gastos y ganancia, día a día</vt:lpstr>
      <vt:lpstr>Qué comprar, con datos</vt:lpstr>
      <vt:lpstr>Estado de las 20 historias del plan</vt:lpstr>
      <vt:lpstr>Probado y protegido</vt:lpstr>
      <vt:lpstr>Lo comprometido en la Fase 1, punto por punto</vt:lpstr>
      <vt:lpstr>Lo que cambiamos y por qué</vt:lpstr>
      <vt:lpstr>Una prenda, de la bodega a la venta</vt:lpstr>
      <vt:lpstr>Del MVP a la tienda real</vt:lpstr>
    </vt:vector>
  </TitlesOfParts>
  <Company>Capstone 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RockStore — Avance Fase 2</dc:title>
  <dc:subject>PptxGenJS Presentation</dc:subject>
  <dc:creator>Exequiel Tapia, Elías Figueroa, Jorge Piña</dc:creator>
  <cp:lastModifiedBy>ELIAS . FIGUEROA ORMENO</cp:lastModifiedBy>
  <cp:revision>5</cp:revision>
  <dcterms:created xsi:type="dcterms:W3CDTF">2026-10-16T23:24:49Z</dcterms:created>
  <dcterms:modified xsi:type="dcterms:W3CDTF">2026-10-19T14:30:11Z</dcterms:modified>
</cp:coreProperties>
</file>
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uYc1fNuSX72a3MDnWPn9Ey59j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3F8D1B-1D4F-49E2-B014-EBA25490B902}">
  <a:tblStyle styleId="{8E3F8D1B-1D4F-49E2-B014-EBA25490B9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c698f00b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f8c698f00b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8c698f00b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27e5a6fa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fa27e5a6fa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a27e5a6fa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869680" y="-2377440"/>
            <a:ext cx="5486400" cy="5486400"/>
          </a:xfrm>
          <a:prstGeom prst="ellipse">
            <a:avLst/>
          </a:prstGeom>
          <a:solidFill>
            <a:srgbClr val="6E0F1F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PLATAFORMA E-COMMERCE · GESTIÓN LOGÍSTICA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594360" y="2651760"/>
            <a:ext cx="9601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400"/>
              <a:buFont typeface="Bookman Old Style"/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Del papel al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400"/>
              <a:buFont typeface="Bookman Old Style"/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stock en vivo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" y="489204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Propuesta de plataforma digital para una tienda de ropa estilo rock: app móvil de bodega + e-commerce web, conectadas en tiempo real para terminar con las pérdidas de inventario.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5943600"/>
            <a:ext cx="502920" cy="54864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Opportunity Framing Canvas · Presentación de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 tienda sigue funcionando a papel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640080" y="160020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Stock que llega, lo que falta y lo que se vende se registra a mano y se archiva. Cuando un cliente pide un producto, nadie puede confirmar en tiempo real si existe: el resultado son pérdidas directas de productos y de ventas.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635240" y="1600200"/>
            <a:ext cx="3886200" cy="2194560"/>
          </a:xfrm>
          <a:prstGeom prst="roundRect">
            <a:avLst>
              <a:gd fmla="val 3333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635240" y="1783080"/>
            <a:ext cx="3886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5200"/>
              <a:buFont typeface="Bookman Old Style"/>
              <a:buNone/>
            </a:pPr>
            <a:r>
              <a:rPr b="1" i="0" lang="en-US" sz="52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7863840" y="269748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del inventario se controla hoy 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carpetas de papel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914400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22% Pérdida directa de ingresos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914400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ventas potenciales se pierden por falta de stock confirmable</a:t>
            </a:r>
            <a:endParaRPr b="0" i="0" sz="11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98848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73168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773168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773168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18% Opacidad y fuga de inventario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4773168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inventario sin trazabilidad real (relocalizado, dañado o extraviado) </a:t>
            </a: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357616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631936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631936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31936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35% Falta de visibilidad operativa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8631936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las decisiones de margen se toman sin datos confiables 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PROBLEMS /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Dónde se pierde capital hoy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0080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14400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43000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914400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22% Pérdida directa de ingresos y clientes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4"/>
          <p:cNvCxnSpPr/>
          <p:nvPr/>
        </p:nvCxnSpPr>
        <p:spPr>
          <a:xfrm>
            <a:off x="914400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 txBox="1"/>
          <p:nvPr/>
        </p:nvSpPr>
        <p:spPr>
          <a:xfrm>
            <a:off x="914400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Venta de productos que ya no existen físicamente en bodega.</a:t>
            </a:r>
            <a:endParaRPr b="0" i="0" sz="11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914400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ventas no concretadas por no poder confirmar stock a tiempo 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498848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73168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5001768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OPERACIÓN Y BODEGA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773168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18% Opacidad y fuga de inventario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4773168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"/>
          <p:cNvSpPr txBox="1"/>
          <p:nvPr/>
        </p:nvSpPr>
        <p:spPr>
          <a:xfrm>
            <a:off x="4773168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Sin trazabilidad de mermas: no queda registro de qué se dañó o perdió.</a:t>
            </a:r>
            <a:endParaRPr b="0" i="0" sz="1150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4773168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stock con discrepancia entre lo físico y lo registrado 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357616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631936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8860536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FINANZAS Y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631936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35% Falta de visibilidad y riesgo operativo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8631936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4"/>
          <p:cNvSpPr txBox="1"/>
          <p:nvPr/>
        </p:nvSpPr>
        <p:spPr>
          <a:xfrm>
            <a:off x="8631936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cálculos de margen hechos "a ojo", sin respaldo de datos 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8631936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Sin control de acceso: cualquiera ve datos financieros o de personal.</a:t>
            </a:r>
            <a:endParaRPr b="0" i="0" sz="11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SOLUTIONS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se resuelve (mal) hoy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No existe un competidor directo: la tienda compite contra su propio proceso manual.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" y="205740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96112" y="24917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896112" y="24917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600200" y="222199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Inventario y bodega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4617720" y="224028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 txBox="1"/>
          <p:nvPr/>
        </p:nvSpPr>
        <p:spPr>
          <a:xfrm>
            <a:off x="4846320" y="222199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Registro en papel y carpetas: la recepción, ventas y faltantes se anotan a mano y se archivan sin control. Para saber si hay stock hay que ir físicamente a bodega.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96112" y="413766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896112" y="41376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600200" y="386791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Comercialización y despachos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4617720" y="388620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 txBox="1"/>
          <p:nvPr/>
        </p:nvSpPr>
        <p:spPr>
          <a:xfrm>
            <a:off x="4846320" y="386791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Ventas presenciales y coordinación por mensajería: la disponibilidad se confirma sin cotización previa. Los envíos por Starken se calculan a mano, sin tarifa dinámica.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534924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96112" y="578358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896112" y="57835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600200" y="551383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Control financiero y administrativo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4617720" y="55321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 txBox="1"/>
          <p:nvPr/>
        </p:nvSpPr>
        <p:spPr>
          <a:xfrm>
            <a:off x="4846320" y="551383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Cierre manual de caja: los márgenes se calculan sumando notas de venta en papel y pasándolas a planillas. No hay separación de roles ni de accesos entre áreas.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SOLUTION IDEAS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 plataforma: seis piezas clave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0080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14400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914400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600200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Stock por código QR / barras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914400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Cada prenda se etiqueta con SKU: al recibir o mover mercadería, se escanea y se actualiza ubicación y estado al instante.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498848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773168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773168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458968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Sincronización automática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4773168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Una sola base de datos: al confirmar una venta se bloquea el producto y se evita vender lo mismo por dos canales.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357616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631936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8631936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317736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 financiero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8631936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Cálculo automático de rentabilidad neta: costo de compra, comisiones de pago, despacho y precio de venta.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080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14400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91440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1600200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Registro de mermas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914400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Módulo en la app móvil para marcar 'dañado', 'muestra' o 'cambio' al instante, descontando stock y dejando motivo registrado.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498848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773168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773168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458968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Accesos por rol (RBAC)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773168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Credenciales independientes para bodega, ventas, finanzas y RRHH: cada rol ve solo lo que necesita.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357616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631936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8631936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9317736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Integración con Starken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8631936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Cálculo de flete en tiempo real por peso y volumen, con costo exacto de envío a Santiago y regiones.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Arquitectura SOA del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Los clientes (React, POS y Bodega) consumen servicios independientes a través de un API Gateway; PostgreSQL es la fuente única de datos y Webpay, Starken y el Dashboard se integran como sistemas externos.</a:t>
            </a:r>
            <a:endParaRPr/>
          </a:p>
        </p:txBody>
      </p:sp>
      <p:pic>
        <p:nvPicPr>
          <p:cNvPr descr="WhatsApp_Image_2026-09-06_at_8_17_56_PM.jpe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075" y="2017325"/>
            <a:ext cx="7232399" cy="41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Modelo de datos relacional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Modelo relacional en PostgreSQL: Usuarios, Productos, Ventas y Pedidos como entidades centrales, con Detalle_venta y Movimientos para trazabilidad completa del inventario.</a:t>
            </a:r>
            <a:endParaRPr/>
          </a:p>
        </p:txBody>
      </p:sp>
      <p:pic>
        <p:nvPicPr>
          <p:cNvPr descr="arquitectura.jpe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4550" y="2017325"/>
            <a:ext cx="6929224" cy="433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USERS &amp;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Quiénes usan la plataforma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Usuarios internos (operación y administración) y clientes externos de e-commerce, cada uno con una necesidad distinta de la plataforma.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40080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841248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Personal de bodega / logística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841248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Recibe, clasifica y despacha prendas.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>
            <a:off x="841248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3"/>
          <p:cNvSpPr txBox="1"/>
          <p:nvPr/>
        </p:nvSpPr>
        <p:spPr>
          <a:xfrm>
            <a:off x="841248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841248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App móvil rápida e intuitiva para buscar, mover o dar de baja stock.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953512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3182112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3182112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3154680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Ventas / atención al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3154680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Gestiona clientes, cambios y reclamos.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3"/>
          <p:cNvCxnSpPr/>
          <p:nvPr/>
        </p:nvCxnSpPr>
        <p:spPr>
          <a:xfrm>
            <a:off x="3154680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"/>
          <p:cNvSpPr txBox="1"/>
          <p:nvPr/>
        </p:nvSpPr>
        <p:spPr>
          <a:xfrm>
            <a:off x="3154680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3154680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Visibilidad en tiempo real del stock disponible en tienda.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5266944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5495544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495544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5468112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Administración / Finanzas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5468112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Fija márgenes, compras y rentabilidad.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3"/>
          <p:cNvCxnSpPr/>
          <p:nvPr/>
        </p:nvCxnSpPr>
        <p:spPr>
          <a:xfrm>
            <a:off x="5468112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3"/>
          <p:cNvSpPr txBox="1"/>
          <p:nvPr/>
        </p:nvSpPr>
        <p:spPr>
          <a:xfrm>
            <a:off x="5468112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5468112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Panel web con métricas claras de ventas, mermas y ganancias.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7580376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7808976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7808976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7781544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Recursos Humanos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7781544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Gestiona personal, contratos y asistencia.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3"/>
          <p:cNvCxnSpPr/>
          <p:nvPr/>
        </p:nvCxnSpPr>
        <p:spPr>
          <a:xfrm>
            <a:off x="7781544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3"/>
          <p:cNvSpPr txBox="1"/>
          <p:nvPr/>
        </p:nvSpPr>
        <p:spPr>
          <a:xfrm>
            <a:off x="7781544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7781544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Módulo propio, sin acceso a métricas ni movimientos de dinero.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9893808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10122408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10122408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10094976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Clientes e-commerce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10094976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Público general, Santiago y regiones.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3"/>
          <p:cNvCxnSpPr/>
          <p:nvPr/>
        </p:nvCxnSpPr>
        <p:spPr>
          <a:xfrm>
            <a:off x="10094976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3"/>
          <p:cNvSpPr txBox="1"/>
          <p:nvPr/>
        </p:nvSpPr>
        <p:spPr>
          <a:xfrm>
            <a:off x="10094976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10094976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Comprar prendas exclusivas con despacho confiable a todo Chile.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Diagrama de casos de uso (UML)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12 casos de uso para Cliente, Vendedor, Bodega y Gerente, con relaciones «include»/«extend» e integraciones a Webpay y Starken.</a:t>
            </a:r>
            <a:endParaRPr/>
          </a:p>
        </p:txBody>
      </p:sp>
      <p:pic>
        <p:nvPicPr>
          <p:cNvPr descr="casos_de_uso.jpeg"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2500" y="1750000"/>
            <a:ext cx="3747000" cy="50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OBJETIVO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Objetivo general y los 5 ¿Para qué?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Digitalizar la gestión de inventario para transformar la operación comercial de la tienda, conectando bodega, punto de venta y e-commerce en una sola fuente de verdad.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40080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841248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Sincronizar el stock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841248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Unificar bodega, POS y e-commerce en un solo inventario en tiempo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8"/>
          <p:cNvCxnSpPr/>
          <p:nvPr/>
        </p:nvCxnSpPr>
        <p:spPr>
          <a:xfrm>
            <a:off x="841248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8"/>
          <p:cNvSpPr txBox="1"/>
          <p:nvPr/>
        </p:nvSpPr>
        <p:spPr>
          <a:xfrm>
            <a:off x="841248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841248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que ningún canal venda un producto que ya no existe físicamente.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2953512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182112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3182112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3154680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Reducir ventas perdidas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3154680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Confirmar disponibilidad real antes de ofrecer un producto al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8"/>
          <p:cNvCxnSpPr/>
          <p:nvPr/>
        </p:nvCxnSpPr>
        <p:spPr>
          <a:xfrm>
            <a:off x="3154680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8"/>
          <p:cNvSpPr txBox="1"/>
          <p:nvPr/>
        </p:nvSpPr>
        <p:spPr>
          <a:xfrm>
            <a:off x="3154680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3154680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recuperar los ingresos que hoy se pierden por falta de stock confiable.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266944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495544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5495544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5468112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Mejorar la experiencia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468112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Dar visibilidad de stock en tiempo real a vendedores y clientes.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8"/>
          <p:cNvCxnSpPr/>
          <p:nvPr/>
        </p:nvCxnSpPr>
        <p:spPr>
          <a:xfrm>
            <a:off x="5468112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8"/>
          <p:cNvSpPr txBox="1"/>
          <p:nvPr/>
        </p:nvSpPr>
        <p:spPr>
          <a:xfrm>
            <a:off x="5468112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5468112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que la compra presencial y online sea rápida y confiable.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7580376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7808976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7808976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781544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Dar trazabilidad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7781544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Registrar cada movimiento de inventario con motivo y responsable.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8"/>
          <p:cNvCxnSpPr/>
          <p:nvPr/>
        </p:nvCxnSpPr>
        <p:spPr>
          <a:xfrm>
            <a:off x="7781544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8"/>
          <p:cNvSpPr txBox="1"/>
          <p:nvPr/>
        </p:nvSpPr>
        <p:spPr>
          <a:xfrm>
            <a:off x="7781544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7781544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tomar decisiones de compra y margen con datos reales, no estimaciones.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9893808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10122408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10122408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10094976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Aumentar la rentabilidad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10094976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Habilitar un nuevo canal de venta (e-commerce) sin perder control operativo.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8"/>
          <p:cNvCxnSpPr/>
          <p:nvPr/>
        </p:nvCxnSpPr>
        <p:spPr>
          <a:xfrm>
            <a:off x="10094976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8"/>
          <p:cNvSpPr txBox="1"/>
          <p:nvPr/>
        </p:nvSpPr>
        <p:spPr>
          <a:xfrm>
            <a:off x="10094976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10094976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Incrementar las ventas en +26% y la precisión del inventario a un 98% durante el primer año.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USER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se percibe en el equipo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Métricas de uso y adopción desde la perspectiva del cliente interno y externo.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40080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40080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i="0" lang="en-US" sz="4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30 seg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914400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para armar un pedido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914400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hoy toma entre 5 y 7 minutos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498848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4498848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i="0" lang="en-US" sz="38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↓78%</a:t>
            </a:r>
            <a:r>
              <a:rPr b="1" i="0" lang="en-US" sz="4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i="0" lang="en-US" sz="37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Errores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4773168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 pedidos que no corresponden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4773168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falta de stock real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357616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8357616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i="0" lang="en-US" sz="4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8631936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de los movimientos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8631936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registrados vía app móvil o web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c698f00b_1_0"/>
          <p:cNvSpPr txBox="1"/>
          <p:nvPr/>
        </p:nvSpPr>
        <p:spPr>
          <a:xfrm>
            <a:off x="1127729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g3f8c698f00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00" y="152400"/>
            <a:ext cx="87153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f8c698f00b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95325"/>
            <a:ext cx="11887204" cy="92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f8c698f00b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00" y="1273718"/>
            <a:ext cx="11887202" cy="4421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4" name="Google Shape;294;g3f8c698f00b_1_0"/>
          <p:cNvGraphicFramePr/>
          <p:nvPr/>
        </p:nvGraphicFramePr>
        <p:xfrm>
          <a:off x="430700" y="18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{8E3F8D1B-1D4F-49E2-B014-EBA25490B902}</a:tableStyleId>
              </a:tblPr>
              <a:tblGrid>
                <a:gridCol w="4429125"/>
                <a:gridCol w="3228975"/>
                <a:gridCol w="3238500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Ventas mensuales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378 clientes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 promedio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$15.000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de búsqueda de productos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1,5 min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Exactitud del inventario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98%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 del catálogo web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real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Pedidos despachados en 24 h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95%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Diferencias de stock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2%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Conversión e-commerce</a:t>
                      </a:r>
                      <a:endParaRPr b="1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ventas/mes</a:t>
                      </a:r>
                      <a:endParaRPr b="1"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b="1" sz="1200">
                        <a:solidFill>
                          <a:srgbClr val="B0B0B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Riesgo, probabilidad y mitigación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1554480" y="194767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Resistencia al cambio · Prob: Alta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91440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equipo de bodega debe dejar atrás el papel. Mitigación: capacitación del personal y piloto controlado antes del lanzamiento.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7178040" y="194767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Error en migración · Prob: Media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653796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inventario heredado en papel tiene discrepancias. Mitigación: validación física cruzada con etiquetado QR antes de activar el sistema.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40080" y="41148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554480" y="437083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Caída de la API Starken · Prob: Baja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914400" y="507492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Cambios de tarifa o cobertura pueden afectar el cálculo de envío. Mitigación: caché de tarifas y reintento automático.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263640" y="41148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653796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7178040" y="437083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Fallo en el pago (Webpay) · Prob: Baja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6537960" y="507492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Una transacción puede no completarse durante el pago online. Mitigación: reverso automático y registro de la transacción fallida.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BUSINESS BENEFITS AND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impacto en el negocio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682550" y="4637919"/>
            <a:ext cx="106479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-La tienda recupera aproximadamente 48 ventas mensuales (80% de las ventas perdidas) y suma ventas online, aumentando el volumen de ventas respecto al escenario actual. </a:t>
            </a:r>
            <a:endParaRPr b="0" i="0" sz="16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-El POS y la bodega consultan el mismo inventario, evitando búsquedas manuales y reduciendo el tiempo promedio de 5 a 1,5 minutos</a:t>
            </a:r>
            <a:endParaRPr b="0" i="0" sz="16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-ntes el cliente dependía del vendedor para verificar stock; con el e-commerce prácticamente todo el catálogo queda disponible en tiempo real</a:t>
            </a:r>
            <a:endParaRPr b="0" i="0" sz="16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-Cada venta, devolución, ingreso a bodega y despacho queda registrado en PostgreSQL mediante la arquitectura SOA. </a:t>
            </a:r>
            <a:endParaRPr b="0" i="0" sz="16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04876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204876" y="2085083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i="0" lang="en-US" sz="2651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+26% ventas</a:t>
            </a:r>
            <a:endParaRPr b="0" i="0" sz="2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454382" y="2869246"/>
            <a:ext cx="22599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Incremento proyectado en las ventas al recuperar clientes perdidos y habilitar el canal e-commerce.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204350" y="1550425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204350" y="2085058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i="0" lang="en-US" sz="2651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↓70% tiempo de busqueda</a:t>
            </a:r>
            <a:endParaRPr b="0" i="0" sz="2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3453844" y="2869186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reducción del tiempo que el personal dedica a localizar productos gracias al inventario sincronizado 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216286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6216348" y="1752192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i="0" lang="en-US" sz="265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+90% Visibilidad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6465687" y="24650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Consulta de disponibilidad en tiempo real. </a:t>
            </a:r>
            <a:endParaRPr b="0" i="0" sz="12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Seguimiento automático de pedidos </a:t>
            </a:r>
            <a:endParaRPr b="0" i="0" sz="12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Mejor experiencia de compra presencial y online </a:t>
            </a:r>
            <a:endParaRPr b="0" i="0" sz="12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9228323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9228323" y="1837092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i="0" lang="en-US" sz="265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+100% Trazabilidad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9477725" y="24650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12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Todas las ventas y movimientos de inventario quedan registrados en una única plataforma. </a:t>
            </a:r>
            <a:endParaRPr b="0" i="0" sz="12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27e5a6fa_0_13"/>
          <p:cNvSpPr txBox="1"/>
          <p:nvPr/>
        </p:nvSpPr>
        <p:spPr>
          <a:xfrm>
            <a:off x="594360" y="77724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Kpi y inversión inicial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a27e5a6fa_0_13"/>
          <p:cNvSpPr txBox="1"/>
          <p:nvPr/>
        </p:nvSpPr>
        <p:spPr>
          <a:xfrm>
            <a:off x="594350" y="1316248"/>
            <a:ext cx="106386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La inversión inicial de $6.800.000 es recuperada durante el sexto mes y genera un beneficio acumulado de $7.240.000 al finalizar el primer año, demostrando que la implementación del sistema es económicamente viable </a:t>
            </a:r>
            <a:endParaRPr b="0" i="0" sz="16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a27e5a6fa_0_13"/>
          <p:cNvSpPr txBox="1"/>
          <p:nvPr/>
        </p:nvSpPr>
        <p:spPr>
          <a:xfrm>
            <a:off x="11232983" y="540783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a27e5a6fa_0_13"/>
          <p:cNvSpPr/>
          <p:nvPr/>
        </p:nvSpPr>
        <p:spPr>
          <a:xfrm>
            <a:off x="160564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a27e5a6fa_0_13"/>
          <p:cNvSpPr/>
          <p:nvPr/>
        </p:nvSpPr>
        <p:spPr>
          <a:xfrm>
            <a:off x="3160038" y="2978800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a27e5a6fa_0_13"/>
          <p:cNvSpPr txBox="1"/>
          <p:nvPr/>
        </p:nvSpPr>
        <p:spPr>
          <a:xfrm>
            <a:off x="3160038" y="3513433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i="0" lang="en-US" sz="2651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TIR</a:t>
            </a:r>
            <a:endParaRPr b="0" i="0" sz="2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a27e5a6fa_0_13"/>
          <p:cNvSpPr txBox="1"/>
          <p:nvPr/>
        </p:nvSpPr>
        <p:spPr>
          <a:xfrm>
            <a:off x="3409531" y="4297561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38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      13,4%</a:t>
            </a:r>
            <a:endParaRPr b="0" i="0" sz="38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a27e5a6fa_0_13"/>
          <p:cNvSpPr/>
          <p:nvPr/>
        </p:nvSpPr>
        <p:spPr>
          <a:xfrm>
            <a:off x="6171973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a27e5a6fa_0_13"/>
          <p:cNvSpPr txBox="1"/>
          <p:nvPr/>
        </p:nvSpPr>
        <p:spPr>
          <a:xfrm>
            <a:off x="6172023" y="3513267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i="0" lang="en-US" sz="265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ROI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a27e5a6fa_0_13"/>
          <p:cNvSpPr txBox="1"/>
          <p:nvPr/>
        </p:nvSpPr>
        <p:spPr>
          <a:xfrm>
            <a:off x="6472025" y="41291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38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106%</a:t>
            </a:r>
            <a:endParaRPr b="0" i="0" sz="38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a27e5a6fa_0_13"/>
          <p:cNvSpPr/>
          <p:nvPr/>
        </p:nvSpPr>
        <p:spPr>
          <a:xfrm>
            <a:off x="9184011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3"/>
              <a:buFont typeface="Arial"/>
              <a:buNone/>
            </a:pPr>
            <a:r>
              <a:t/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a27e5a6fa_0_13"/>
          <p:cNvSpPr txBox="1"/>
          <p:nvPr/>
        </p:nvSpPr>
        <p:spPr>
          <a:xfrm>
            <a:off x="9285086" y="3513267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i="0" lang="en-US" sz="265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Payback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a27e5a6fa_0_13"/>
          <p:cNvSpPr txBox="1"/>
          <p:nvPr/>
        </p:nvSpPr>
        <p:spPr>
          <a:xfrm>
            <a:off x="9433587" y="41291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3813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6 Meses</a:t>
            </a:r>
            <a:endParaRPr b="0" i="0" sz="3813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a27e5a6fa_0_13"/>
          <p:cNvSpPr txBox="1"/>
          <p:nvPr/>
        </p:nvSpPr>
        <p:spPr>
          <a:xfrm>
            <a:off x="148113" y="3513433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i="0" lang="en-US" sz="2651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VAN</a:t>
            </a:r>
            <a:endParaRPr b="0" i="0" sz="2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a27e5a6fa_0_13"/>
          <p:cNvSpPr txBox="1"/>
          <p:nvPr/>
        </p:nvSpPr>
        <p:spPr>
          <a:xfrm>
            <a:off x="397906" y="4297561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b="0" i="0" lang="en-US" sz="3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6,5 M</a:t>
            </a:r>
            <a:endParaRPr b="0" i="0" sz="38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Qué incluye el MVP y qué 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Primera versión funcional orientada a digitalizar la operación completa de la tienda y sincronizar el inventario entre todos los canales.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40075" y="1783075"/>
            <a:ext cx="3538800" cy="48921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737538" y="1828740"/>
            <a:ext cx="502800" cy="5028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737600" y="1828803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914400" y="2331715"/>
            <a:ext cx="2990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Sí contempla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914400" y="4107470"/>
            <a:ext cx="2990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POS para ventas presenciales.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E-commerce responsive para clientes.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Sincronización de stock en tiempo real.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Catálogo de poleras, polerones, pantalones, mochilas, accesorios y parches.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Carrito de compras y pagos mediante Webpay.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Generación automática de despachos vía API Starken.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Dashboard con KPIs comerciales y de inventario.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Trazabilidad completa de ventas y movimientos</a:t>
            </a: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498850" y="1828800"/>
            <a:ext cx="3574800" cy="484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621531" y="1874590"/>
            <a:ext cx="502800" cy="5028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4621600" y="1874651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✕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4791206" y="2331715"/>
            <a:ext cx="2990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 contempla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4773193" y="4107470"/>
            <a:ext cx="2990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Compras automáticas a proveedores.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Reposición inteligente mediante IA.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Contabilidad y facturación electrónica.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Gestión financiera o remuneraciones.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Marketplace para múltiples tiendas.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Integración con ERP externos.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Aplicación móvil para clientes (solo versión web).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Gestión logística de proveedores y abastecimiento.</a:t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Por qué este alcance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proyecto se enfoca en digitalizar la operación comercial de una tienda física de ropa rock. Facturación, ERP e inteligencia artificial quedan como trabajo futuro, para mantener un alcance viable en 12 semanas.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ADOPTION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hacemos la transición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Tres etapas para que el equipo y los clientes migren del papel a la plataforma sin frenar las ventas.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7"/>
          <p:cNvCxnSpPr/>
          <p:nvPr/>
        </p:nvCxnSpPr>
        <p:spPr>
          <a:xfrm>
            <a:off x="1417320" y="3200400"/>
            <a:ext cx="9326880" cy="0"/>
          </a:xfrm>
          <a:prstGeom prst="straightConnector1">
            <a:avLst/>
          </a:prstGeom>
          <a:noFill/>
          <a:ln cap="flat" cmpd="sng" w="254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7"/>
          <p:cNvSpPr/>
          <p:nvPr/>
        </p:nvSpPr>
        <p:spPr>
          <a:xfrm>
            <a:off x="210312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210312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 txBox="1"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Migración y etiquetado masivo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 txBox="1"/>
          <p:nvPr/>
        </p:nvSpPr>
        <p:spPr>
          <a:xfrm>
            <a:off x="82296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Cierre del proceso en papel e inyección de códigos QR/SKU a todo el inventario existente.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585216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 txBox="1"/>
          <p:nvPr/>
        </p:nvSpPr>
        <p:spPr>
          <a:xfrm>
            <a:off x="585216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 txBox="1"/>
          <p:nvPr/>
        </p:nvSpPr>
        <p:spPr>
          <a:xfrm>
            <a:off x="457200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Capacitación práctica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 txBox="1"/>
          <p:nvPr/>
        </p:nvSpPr>
        <p:spPr>
          <a:xfrm>
            <a:off x="457200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Entrenamiento con la app móvil para el equipo de bodega, antes del lanzamiento de la tienda web.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960120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 txBox="1"/>
          <p:nvPr/>
        </p:nvSpPr>
        <p:spPr>
          <a:xfrm>
            <a:off x="960120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 txBox="1"/>
          <p:nvPr/>
        </p:nvSpPr>
        <p:spPr>
          <a:xfrm>
            <a:off x="832104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Lanzamiento omnicanal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 txBox="1"/>
          <p:nvPr/>
        </p:nvSpPr>
        <p:spPr>
          <a:xfrm>
            <a:off x="832104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Publicación del e-commerce conectado a Starken y comunicación del nuevo sistema de stock garantizado.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Scrum: MVP en 12 semanas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desarrollo se organiza en sprints cortos, con revisión y retrospectiva cada 3 semanas para ajustar el alcance sobre la marcha.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20"/>
          <p:cNvCxnSpPr/>
          <p:nvPr/>
        </p:nvCxnSpPr>
        <p:spPr>
          <a:xfrm>
            <a:off x="1417320" y="3200400"/>
            <a:ext cx="9326880" cy="0"/>
          </a:xfrm>
          <a:prstGeom prst="straightConnector1">
            <a:avLst/>
          </a:prstGeom>
          <a:noFill/>
          <a:ln cap="flat" cmpd="sng" w="254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0"/>
          <p:cNvSpPr/>
          <p:nvPr/>
        </p:nvSpPr>
        <p:spPr>
          <a:xfrm>
            <a:off x="210312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210312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 Planning y arquitectura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82296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Definición de backlog, diseño de la arquitectura SOA y de la base de datos en PostgreSQL.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585216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585216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457200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Sprints de desarrollo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457200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Construcción incremental del POS, la app de bodega en Ionic Angular y el e-commerce, con Sprint Review y Retrospectiva cada 3 semanas.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960120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960120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832104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 final: testing y piloto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832104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Integración de Webpay y Starken, pruebas funcionales y marcha blanca con el equipo antes del lanzamiento.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Plan QQCC (Qué, Quién, Cuánto, Cuándo)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Asignación del equipo de desarrollo: qué se construye, quién lo hace, cuándo y su costo asociado.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8" name="Google Shape;438;p21"/>
          <p:cNvGraphicFramePr/>
          <p:nvPr/>
        </p:nvGraphicFramePr>
        <p:xfrm>
          <a:off x="640080" y="19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{8E3F8D1B-1D4F-49E2-B014-EBA25490B902}</a:tableStyleId>
              </a:tblPr>
              <a:tblGrid>
                <a:gridCol w="3710025"/>
                <a:gridCol w="2618850"/>
                <a:gridCol w="1964125"/>
                <a:gridCol w="2618850"/>
              </a:tblGrid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Quién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Cuándo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asociado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D7263D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SOA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Exequiel</a:t>
                      </a: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Tapia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Elias Figueroa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UI/UX React + Ionic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Jorge Pina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 + Inventario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Elías</a:t>
                      </a: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Figueroa </a:t>
                      </a: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</a:t>
                      </a: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Exequiel Tapia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Octubre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$1.800.000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E-commerce + Webpay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Exequiel Tapia </a:t>
                      </a: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</a:t>
                      </a:r>
                      <a:r>
                        <a:rPr lang="en-US" sz="1200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Jorge pina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$1.800.000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50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+ Starken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Incluido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Piloto + Capacitación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Diciembre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161616"/>
                    </a:solidFill>
                  </a:tcPr>
                </a:tc>
              </a:tr>
              <a:tr h="57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inversión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0B0B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semanas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2F2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$6.800.000</a:t>
                      </a:r>
                      <a:endParaRPr/>
                    </a:p>
                  </a:txBody>
                  <a:tcPr marT="50000" marB="50000" marR="120000" marL="120000" anchor="ctr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Dónde se invierte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Tres frentes de inversión para pasar del papel a una plataforma conectada de punta a punta.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640080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 txBox="1"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Desarrollo de 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914400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Honorarios de desarrollo de los equipos de e-commerce web, app móvil (gestión de inventario) y panel financiero.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4498848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4773168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Hardware e infraestructura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4773168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Colectores de datos para bodega, impresoras térmicas de etiquetas y servicios de hosting web.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Integración y servicios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Tarifas de pasarelas de pago, APIs de envío (Starken) y mantenimiento continuo del sistema.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Qué se entrega al finalizar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Evidencias concretas que demuestran el éxito del proyecto al término del MVP de 12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640080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Software funcional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914400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E-commerce web, app de bodega en Ionic Angular y panel administrativo, integrados con Webpay y Starken.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4498848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4773168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Documentación técnica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4773168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Especificación de casos de uso, modelo de datos (3FN) y diagrama de arquitectura SOA.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Evidencia de calidad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Pruebas funcionales ejecutadas, KPIs cumplidos frente a la línea base e informe financiero (VAN, TIR, ROI, payback).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6E0F1F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 txBox="1"/>
          <p:nvPr/>
        </p:nvSpPr>
        <p:spPr>
          <a:xfrm>
            <a:off x="594360" y="118872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Bookman Old Style"/>
              <a:buNone/>
            </a:pPr>
            <a:r>
              <a:rPr b="1" i="0" lang="en-US" sz="4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 la carpeta 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Bookman Old Style"/>
              <a:buNone/>
            </a:pPr>
            <a:r>
              <a:rPr b="1" i="0" lang="en-US" sz="4000" u="none" cap="none" strike="noStrike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 en vivo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 txBox="1"/>
          <p:nvPr/>
        </p:nvSpPr>
        <p:spPr>
          <a:xfrm>
            <a:off x="640080" y="32918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 txBox="1"/>
          <p:nvPr/>
        </p:nvSpPr>
        <p:spPr>
          <a:xfrm>
            <a:off x="1234440" y="3246120"/>
            <a:ext cx="868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Validar el Opportunity Canvas con el equipo y cerrar alcance del MVP.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 txBox="1"/>
          <p:nvPr/>
        </p:nvSpPr>
        <p:spPr>
          <a:xfrm>
            <a:off x="640080" y="39776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1234440" y="3931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Definir presupuesto y equipo de desarrollo (web, app móvil, integraciones).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640080" y="4663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 txBox="1"/>
          <p:nvPr/>
        </p:nvSpPr>
        <p:spPr>
          <a:xfrm>
            <a:off x="1234440" y="46177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Etapa piloto: etiquetado de bodega + capacitación antes del lanzamiento e-commerce.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2"/>
          <p:cNvCxnSpPr/>
          <p:nvPr/>
        </p:nvCxnSpPr>
        <p:spPr>
          <a:xfrm>
            <a:off x="640080" y="585216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2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Gracias · Opportunity Framing Canvas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2026-08-30T20:21:22Z</dcterms:created>
  <dc:creator>PptxGenJS</dc:creator>
</cp:coreProperties>
</file>
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75" r:id="rId25"/>
    <p:sldId id="276" r:id="rId26"/>
    <p:sldId id="261" r:id="rId10"/>
    <p:sldId id="277" r:id="rId27"/>
    <p:sldId id="270" r:id="rId20"/>
    <p:sldId id="262" r:id="rId11"/>
    <p:sldId id="263" r:id="rId12"/>
    <p:sldId id="264" r:id="rId13"/>
    <p:sldId id="265" r:id="rId14"/>
    <p:sldId id="271" r:id="rId21"/>
    <p:sldId id="267" r:id="rId16"/>
    <p:sldId id="272" r:id="rId22"/>
    <p:sldId id="273" r:id="rId23"/>
    <p:sldId id="268" r:id="rId17"/>
    <p:sldId id="274" r:id="rId24"/>
    <p:sldId id="269" r:id="rId18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jLMFe1oySDRVEiFp6rBGl7VbFT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?>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7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6" Type="http://schemas.openxmlformats.org/officeDocument/2006/relationships/slide" Target="slides/slide15.xml"/><Relationship Id="rId17" Type="http://schemas.openxmlformats.org/officeDocument/2006/relationships/slide" Target="slides/slide18.xml"/><Relationship Id="rId18" Type="http://schemas.openxmlformats.org/officeDocument/2006/relationships/slide" Target="slides/slide20.xml"/><Relationship Id="rId19" Type="http://customschemas.google.com/relationships/presentationmetadata" Target="metadata"/><Relationship Id="rId20" Type="http://schemas.openxmlformats.org/officeDocument/2006/relationships/slide" Target="slides/slide8.xml"/><Relationship Id="rId21" Type="http://schemas.openxmlformats.org/officeDocument/2006/relationships/slide" Target="slides/slide14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9.xml"/><Relationship Id="rId25" Type="http://schemas.openxmlformats.org/officeDocument/2006/relationships/slide" Target="slides/slide6.xml"/>  <Relationship Id="rId26" Type="http://schemas.openxmlformats.org/officeDocument/2006/relationships/slide" Target="slides/slide21.xml"/>
  <Relationship Id="rId27" Type="http://schemas.openxmlformats.org/officeDocument/2006/relationships/slide" Target="slides/slide22.xml"/>
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" name="Google Shape;48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" name="Google Shape;104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" name="Google Shape;142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1" name="Google Shape;191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2" name="Google Shape;212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0" name="Google Shape;240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fa27e5a6fa_0_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1" name="Google Shape;261;g3fa27e5a6fa_0_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3fa27e5a6fa_0_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1" name="Google Shape;301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3" name="Google Shape;323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7" name="Google Shape;347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8869680" y="-2377440"/>
            <a:ext cx="5486400" cy="5486400"/>
          </a:xfrm>
          <a:prstGeom prst="ellipse">
            <a:avLst/>
          </a:prstGeom>
          <a:solidFill>
            <a:srgbClr val="6E0F1F">
              <a:alpha val="4509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10607040" y="-822960"/>
            <a:ext cx="2377440" cy="2377440"/>
          </a:xfrm>
          <a:prstGeom prst="ellipse">
            <a:avLst/>
          </a:prstGeom>
          <a:noFill/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 txBox="1"/>
          <p:nvPr/>
        </p:nvSpPr>
        <p:spPr>
          <a:xfrm>
            <a:off x="640080" y="22860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PLATAFORMA E-COMMERCE · GESTIÓN LOGÍSTICA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 txBox="1"/>
          <p:nvPr/>
        </p:nvSpPr>
        <p:spPr>
          <a:xfrm>
            <a:off x="594360" y="2651760"/>
            <a:ext cx="96012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5400"/>
              <a:buFont typeface="Bookman Old Style"/>
              <a:buNone/>
            </a:pPr>
            <a:r>
              <a:rPr b="1" lang="en-US" sz="54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Del papel al</a:t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5400"/>
              <a:buFont typeface="Bookman Old Style"/>
              <a:buNone/>
            </a:pPr>
            <a:r>
              <a:rPr b="1" lang="en-US" sz="54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stock en vivo</a:t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 txBox="1"/>
          <p:nvPr/>
        </p:nvSpPr>
        <p:spPr>
          <a:xfrm>
            <a:off x="640080" y="4892040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Propuesta de plataforma digital para una tienda de ropa estilo rock: app móvil de bodega + e-commerce web, conectadas en tiempo real para terminar con las pérdidas de inventario.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640080" y="5943600"/>
            <a:ext cx="502920" cy="54864"/>
          </a:xfrm>
          <a:prstGeom prst="rect">
            <a:avLst/>
          </a:prstGeom>
          <a:solidFill>
            <a:srgbClr val="D726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640080" y="60807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Opportunity Framing Canvas · Presentación de proyecto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EL PROBLEMA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 txBox="1"/>
          <p:nvPr/>
        </p:nvSpPr>
        <p:spPr>
          <a:xfrm>
            <a:off x="594360" y="82296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200"/>
              <a:buFont typeface="Bookman Old Style"/>
              <a:buNone/>
            </a:pPr>
            <a:r>
              <a:rPr b="1" lang="en-US" sz="32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La tienda sigue funcionando a papel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640080" y="1600200"/>
            <a:ext cx="66751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450"/>
              <a:buFont typeface="Calibri"/>
              <a:buNone/>
            </a:pPr>
            <a:r>
              <a:rPr lang="en-US" sz="145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Stock que llega, lo que falta y lo que se vende se registra a mano y se archiva. Cuando un cliente pide un producto, nadie puede confirmar en tiempo real si existe: el resultado son pérdidas directas de productos y de ventas.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7635240" y="1600200"/>
            <a:ext cx="3886200" cy="2194560"/>
          </a:xfrm>
          <a:prstGeom prst="roundRect">
            <a:avLst>
              <a:gd fmla="val 3333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 txBox="1"/>
          <p:nvPr/>
        </p:nvSpPr>
        <p:spPr>
          <a:xfrm>
            <a:off x="7635240" y="1783080"/>
            <a:ext cx="3886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5200"/>
              <a:buFont typeface="Bookman Old Style"/>
              <a:buNone/>
            </a:pPr>
            <a:r>
              <a:rPr b="1" lang="en-US" sz="5200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100%</a:t>
            </a:r>
            <a:endParaRPr sz="5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 txBox="1"/>
          <p:nvPr/>
        </p:nvSpPr>
        <p:spPr>
          <a:xfrm>
            <a:off x="7863840" y="2697480"/>
            <a:ext cx="3429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del inventario se controla hoy en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carpetas de papel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640080" y="4160520"/>
            <a:ext cx="3538728" cy="1965960"/>
          </a:xfrm>
          <a:prstGeom prst="roundRect">
            <a:avLst>
              <a:gd fmla="val 3721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914400" y="4434840"/>
            <a:ext cx="502920" cy="502920"/>
          </a:xfrm>
          <a:prstGeom prst="ellipse">
            <a:avLst/>
          </a:prstGeom>
          <a:noFill/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 txBox="1"/>
          <p:nvPr/>
        </p:nvSpPr>
        <p:spPr>
          <a:xfrm>
            <a:off x="914400" y="44348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800"/>
              <a:buFont typeface="Bookman Old Style"/>
              <a:buNone/>
            </a:pPr>
            <a:r>
              <a:rPr b="1" lang="en-US" sz="1800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 txBox="1"/>
          <p:nvPr/>
        </p:nvSpPr>
        <p:spPr>
          <a:xfrm>
            <a:off x="914400" y="5074920"/>
            <a:ext cx="299008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500"/>
              <a:buFont typeface="Bookman Old Style"/>
              <a:buNone/>
            </a:pPr>
            <a:r>
              <a:rPr b="1" lang="en-US" sz="15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22% </a:t>
            </a:r>
            <a:r>
              <a:rPr b="1" lang="en-US" sz="15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Pérdida directa de ingresos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914400" y="5532120"/>
            <a:ext cx="299008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chemeClr val="lt2"/>
                </a:solidFill>
              </a:rPr>
              <a:t>ventas potenciales se pierden por falta de stock confirmable</a:t>
            </a:r>
            <a:endParaRPr sz="11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498848" y="4160520"/>
            <a:ext cx="3538728" cy="1965960"/>
          </a:xfrm>
          <a:prstGeom prst="roundRect">
            <a:avLst>
              <a:gd fmla="val 3721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773168" y="4434840"/>
            <a:ext cx="502920" cy="502920"/>
          </a:xfrm>
          <a:prstGeom prst="ellipse">
            <a:avLst/>
          </a:prstGeom>
          <a:noFill/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 txBox="1"/>
          <p:nvPr/>
        </p:nvSpPr>
        <p:spPr>
          <a:xfrm>
            <a:off x="4773168" y="44348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800"/>
              <a:buFont typeface="Bookman Old Style"/>
              <a:buNone/>
            </a:pPr>
            <a:r>
              <a:rPr b="1" lang="en-US" sz="1800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 txBox="1"/>
          <p:nvPr/>
        </p:nvSpPr>
        <p:spPr>
          <a:xfrm>
            <a:off x="4773168" y="5074920"/>
            <a:ext cx="299008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500"/>
              <a:buFont typeface="Bookman Old Style"/>
              <a:buNone/>
            </a:pPr>
            <a:r>
              <a:rPr b="1" lang="en-US" sz="15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18% </a:t>
            </a:r>
            <a:r>
              <a:rPr b="1" lang="en-US" sz="15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Opacidad y fuga de inventario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 txBox="1"/>
          <p:nvPr/>
        </p:nvSpPr>
        <p:spPr>
          <a:xfrm>
            <a:off x="4773168" y="5532120"/>
            <a:ext cx="299008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100"/>
              <a:buFont typeface="Calibri"/>
              <a:buNone/>
            </a:pPr>
            <a:r>
              <a:rPr lang="en-US" sz="1100">
                <a:solidFill>
                  <a:schemeClr val="lt2"/>
                </a:solidFill>
              </a:rPr>
              <a:t> inventario sin trazabilidad real (relocalizado, dañado o extraviado) </a:t>
            </a:r>
            <a:r>
              <a:rPr lang="en-US" sz="11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1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8357616" y="4160520"/>
            <a:ext cx="3538728" cy="1965960"/>
          </a:xfrm>
          <a:prstGeom prst="roundRect">
            <a:avLst>
              <a:gd fmla="val 3721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8631936" y="4434840"/>
            <a:ext cx="502920" cy="502920"/>
          </a:xfrm>
          <a:prstGeom prst="ellipse">
            <a:avLst/>
          </a:prstGeom>
          <a:noFill/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 txBox="1"/>
          <p:nvPr/>
        </p:nvSpPr>
        <p:spPr>
          <a:xfrm>
            <a:off x="8631936" y="44348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800"/>
              <a:buFont typeface="Bookman Old Style"/>
              <a:buNone/>
            </a:pPr>
            <a:r>
              <a:rPr b="1" lang="en-US" sz="1800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 txBox="1"/>
          <p:nvPr/>
        </p:nvSpPr>
        <p:spPr>
          <a:xfrm>
            <a:off x="8631936" y="5074920"/>
            <a:ext cx="299008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500"/>
              <a:buFont typeface="Bookman Old Style"/>
              <a:buNone/>
            </a:pPr>
            <a:r>
              <a:rPr b="1" lang="en-US" sz="15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35% </a:t>
            </a:r>
            <a:r>
              <a:rPr b="1" lang="en-US" sz="15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Falta de visibilidad operativa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 txBox="1"/>
          <p:nvPr/>
        </p:nvSpPr>
        <p:spPr>
          <a:xfrm>
            <a:off x="8631936" y="5532120"/>
            <a:ext cx="299008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chemeClr val="lt1"/>
                </a:solidFill>
              </a:rPr>
              <a:t>35%</a:t>
            </a:r>
            <a:r>
              <a:rPr lang="en-US" sz="1100">
                <a:solidFill>
                  <a:schemeClr val="lt1"/>
                </a:solidFill>
              </a:rPr>
              <a:t> de las decisiones de margen se toman sin datos confiables 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PROBLEMS / NEEDS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 txBox="1"/>
          <p:nvPr/>
        </p:nvSpPr>
        <p:spPr>
          <a:xfrm>
            <a:off x="594360" y="7772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000"/>
              <a:buFont typeface="Bookman Old Style"/>
              <a:buNone/>
            </a:pPr>
            <a:r>
              <a:rPr b="1" lang="en-US" sz="30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Dónde se pierde capital hoy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640080" y="1691640"/>
            <a:ext cx="3538728" cy="4572000"/>
          </a:xfrm>
          <a:prstGeom prst="roundRect">
            <a:avLst>
              <a:gd fmla="val 2067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914400" y="1965960"/>
            <a:ext cx="109728" cy="109728"/>
          </a:xfrm>
          <a:prstGeom prst="roundRect">
            <a:avLst>
              <a:gd fmla="val 50000" name="adj"/>
            </a:avLst>
          </a:prstGeom>
          <a:solidFill>
            <a:srgbClr val="D726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1143000" y="1874520"/>
            <a:ext cx="28072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VENTAS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 txBox="1"/>
          <p:nvPr/>
        </p:nvSpPr>
        <p:spPr>
          <a:xfrm>
            <a:off x="914400" y="2194560"/>
            <a:ext cx="299008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550"/>
              <a:buFont typeface="Bookman Old Style"/>
              <a:buNone/>
            </a:pPr>
            <a:r>
              <a:rPr b="1" lang="en-US" sz="155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22% </a:t>
            </a:r>
            <a:r>
              <a:rPr b="1" lang="en-US" sz="155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Pérdida directa de ingresos y clientes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" name="Google Shape;57;p4"/>
          <p:cNvCxnSpPr/>
          <p:nvPr/>
        </p:nvCxnSpPr>
        <p:spPr>
          <a:xfrm>
            <a:off x="914400" y="3063240"/>
            <a:ext cx="2990088" cy="0"/>
          </a:xfrm>
          <a:prstGeom prst="straightConnector1">
            <a:avLst/>
          </a:prstGeom>
          <a:noFill/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4"/>
          <p:cNvSpPr txBox="1"/>
          <p:nvPr/>
        </p:nvSpPr>
        <p:spPr>
          <a:xfrm>
            <a:off x="914400" y="3246120"/>
            <a:ext cx="2990088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50"/>
              <a:buFont typeface="Calibri"/>
              <a:buChar char="–"/>
            </a:pPr>
            <a:r>
              <a:rPr lang="en-US" sz="115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Venta de productos que ya no existen físicamente en bodega.</a:t>
            </a:r>
            <a:endParaRPr sz="115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914400" y="4617720"/>
            <a:ext cx="2990088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"/>
              <a:buFont typeface="Calibri"/>
              <a:buChar char="–"/>
            </a:pPr>
            <a:r>
              <a:rPr lang="en-US" sz="1100">
                <a:solidFill>
                  <a:schemeClr val="lt1"/>
                </a:solidFill>
              </a:rPr>
              <a:t>ventas no concretadas por no poder confirmar stock a tiempo </a:t>
            </a:r>
            <a:endParaRPr sz="11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4498848" y="1691640"/>
            <a:ext cx="3538728" cy="4572000"/>
          </a:xfrm>
          <a:prstGeom prst="roundRect">
            <a:avLst>
              <a:gd fmla="val 2067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4773168" y="1965960"/>
            <a:ext cx="109728" cy="109728"/>
          </a:xfrm>
          <a:prstGeom prst="roundRect">
            <a:avLst>
              <a:gd fmla="val 50000" name="adj"/>
            </a:avLst>
          </a:prstGeom>
          <a:solidFill>
            <a:srgbClr val="D726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 txBox="1"/>
          <p:nvPr/>
        </p:nvSpPr>
        <p:spPr>
          <a:xfrm>
            <a:off x="5001768" y="1874520"/>
            <a:ext cx="28072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OPERACIÓN Y BODEGA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 txBox="1"/>
          <p:nvPr/>
        </p:nvSpPr>
        <p:spPr>
          <a:xfrm>
            <a:off x="4773168" y="2194560"/>
            <a:ext cx="299008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550"/>
              <a:buFont typeface="Bookman Old Style"/>
              <a:buNone/>
            </a:pPr>
            <a:r>
              <a:rPr b="1" lang="en-US" sz="155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18% </a:t>
            </a:r>
            <a:r>
              <a:rPr b="1" lang="en-US" sz="155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Opacidad y fuga de inventario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" name="Google Shape;64;p4"/>
          <p:cNvCxnSpPr/>
          <p:nvPr/>
        </p:nvCxnSpPr>
        <p:spPr>
          <a:xfrm>
            <a:off x="4773168" y="3063240"/>
            <a:ext cx="2990088" cy="0"/>
          </a:xfrm>
          <a:prstGeom prst="straightConnector1">
            <a:avLst/>
          </a:prstGeom>
          <a:noFill/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" name="Google Shape;65;p4"/>
          <p:cNvSpPr txBox="1"/>
          <p:nvPr/>
        </p:nvSpPr>
        <p:spPr>
          <a:xfrm>
            <a:off x="4773168" y="3246120"/>
            <a:ext cx="2990088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150"/>
              <a:buFont typeface="Calibri"/>
              <a:buChar char="–"/>
            </a:pPr>
            <a:r>
              <a:rPr lang="en-US" sz="115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Sin trazabilidad de mermas: no queda registro de qué se dañó o perdió.</a:t>
            </a:r>
            <a:endParaRPr sz="1150">
              <a:solidFill>
                <a:srgbClr val="F5F5F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 txBox="1"/>
          <p:nvPr/>
        </p:nvSpPr>
        <p:spPr>
          <a:xfrm>
            <a:off x="4773168" y="4617720"/>
            <a:ext cx="2990088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"/>
              <a:buFont typeface="Calibri"/>
              <a:buChar char="–"/>
            </a:pPr>
            <a:r>
              <a:rPr lang="en-US" sz="1100">
                <a:solidFill>
                  <a:schemeClr val="lt1"/>
                </a:solidFill>
              </a:rPr>
              <a:t>stock con discrepancia entre lo físico y lo registrado </a:t>
            </a:r>
            <a:endParaRPr sz="11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8357616" y="1691640"/>
            <a:ext cx="3538728" cy="4572000"/>
          </a:xfrm>
          <a:prstGeom prst="roundRect">
            <a:avLst>
              <a:gd fmla="val 2067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8631936" y="1965960"/>
            <a:ext cx="109728" cy="109728"/>
          </a:xfrm>
          <a:prstGeom prst="roundRect">
            <a:avLst>
              <a:gd fmla="val 50000" name="adj"/>
            </a:avLst>
          </a:prstGeom>
          <a:solidFill>
            <a:srgbClr val="D726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 txBox="1"/>
          <p:nvPr/>
        </p:nvSpPr>
        <p:spPr>
          <a:xfrm>
            <a:off x="8860536" y="1874520"/>
            <a:ext cx="28072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FINANZAS Y NEGOCIO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 txBox="1"/>
          <p:nvPr/>
        </p:nvSpPr>
        <p:spPr>
          <a:xfrm>
            <a:off x="8631936" y="2194560"/>
            <a:ext cx="299008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550"/>
              <a:buFont typeface="Bookman Old Style"/>
              <a:buNone/>
            </a:pPr>
            <a:r>
              <a:rPr b="1" lang="en-US" sz="155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35% </a:t>
            </a:r>
            <a:r>
              <a:rPr b="1" lang="en-US" sz="155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Falta de visibilidad y riesgo operativo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" name="Google Shape;71;p4"/>
          <p:cNvCxnSpPr/>
          <p:nvPr/>
        </p:nvCxnSpPr>
        <p:spPr>
          <a:xfrm>
            <a:off x="8631936" y="3063240"/>
            <a:ext cx="2990088" cy="0"/>
          </a:xfrm>
          <a:prstGeom prst="straightConnector1">
            <a:avLst/>
          </a:prstGeom>
          <a:noFill/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4"/>
          <p:cNvSpPr txBox="1"/>
          <p:nvPr/>
        </p:nvSpPr>
        <p:spPr>
          <a:xfrm>
            <a:off x="8631936" y="3246120"/>
            <a:ext cx="2990088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"/>
              <a:buFont typeface="Calibri"/>
              <a:buChar char="–"/>
            </a:pPr>
            <a:r>
              <a:rPr lang="en-US" sz="1100">
                <a:solidFill>
                  <a:schemeClr val="lt1"/>
                </a:solidFill>
              </a:rPr>
              <a:t>cálculos de margen hechos "a ojo", sin respaldo de datos </a:t>
            </a:r>
            <a:endParaRPr sz="11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 txBox="1"/>
          <p:nvPr/>
        </p:nvSpPr>
        <p:spPr>
          <a:xfrm>
            <a:off x="8631936" y="4617720"/>
            <a:ext cx="2990088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50"/>
              <a:buFont typeface="Calibri"/>
              <a:buChar char="–"/>
            </a:pPr>
            <a:r>
              <a:rPr lang="en-US" sz="115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Sin control de acceso: cualquiera ve datos financieros o de personal.</a:t>
            </a:r>
            <a:endParaRPr sz="115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SOLUTIONS TODAY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 txBox="1"/>
          <p:nvPr/>
        </p:nvSpPr>
        <p:spPr>
          <a:xfrm>
            <a:off x="594360" y="7772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000"/>
              <a:buFont typeface="Bookman Old Style"/>
              <a:buNone/>
            </a:pPr>
            <a:r>
              <a:rPr b="1" lang="en-US" sz="30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Cómo se resuelve (mal) hoy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 txBox="1"/>
          <p:nvPr/>
        </p:nvSpPr>
        <p:spPr>
          <a:xfrm>
            <a:off x="640080" y="141732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No existe un competidor directo: la tienda compite contra su propio proceso manual.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640080" y="2057400"/>
            <a:ext cx="10908792" cy="1371600"/>
          </a:xfrm>
          <a:prstGeom prst="roundRect">
            <a:avLst>
              <a:gd fmla="val 4000" name="adj"/>
            </a:avLst>
          </a:prstGeom>
          <a:solidFill>
            <a:srgbClr val="1D1D1D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896112" y="2491740"/>
            <a:ext cx="502920" cy="502920"/>
          </a:xfrm>
          <a:prstGeom prst="ellipse">
            <a:avLst/>
          </a:prstGeom>
          <a:noFill/>
          <a:ln cap="flat" cmpd="sng" w="19050">
            <a:solidFill>
              <a:srgbClr val="7A7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 txBox="1"/>
          <p:nvPr/>
        </p:nvSpPr>
        <p:spPr>
          <a:xfrm>
            <a:off x="896112" y="24917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800"/>
              <a:buFont typeface="Bookman Old Style"/>
              <a:buNone/>
            </a:pPr>
            <a:r>
              <a:rPr b="1" lang="en-US" sz="1800">
                <a:solidFill>
                  <a:srgbClr val="A6A6A6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 txBox="1"/>
          <p:nvPr/>
        </p:nvSpPr>
        <p:spPr>
          <a:xfrm>
            <a:off x="1600200" y="2221992"/>
            <a:ext cx="2834640" cy="1042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500"/>
              <a:buFont typeface="Bookman Old Style"/>
              <a:buNone/>
            </a:pPr>
            <a:r>
              <a:rPr b="1" lang="en-US" sz="15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Inventario y bodega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" name="Google Shape;87;p5"/>
          <p:cNvCxnSpPr/>
          <p:nvPr/>
        </p:nvCxnSpPr>
        <p:spPr>
          <a:xfrm>
            <a:off x="4617720" y="2240280"/>
            <a:ext cx="0" cy="1005840"/>
          </a:xfrm>
          <a:prstGeom prst="straightConnector1">
            <a:avLst/>
          </a:prstGeom>
          <a:noFill/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" name="Google Shape;88;p5"/>
          <p:cNvSpPr txBox="1"/>
          <p:nvPr/>
        </p:nvSpPr>
        <p:spPr>
          <a:xfrm>
            <a:off x="4846320" y="2221992"/>
            <a:ext cx="6492240" cy="1042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Registro en papel y carpetas: la recepción, ventas y faltantes se anotan a mano y se archivan sin control. Para saber si hay stock hay que ir físicamente a bodega.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640080" y="3703320"/>
            <a:ext cx="10908792" cy="1371600"/>
          </a:xfrm>
          <a:prstGeom prst="roundRect">
            <a:avLst>
              <a:gd fmla="val 4000" name="adj"/>
            </a:avLst>
          </a:prstGeom>
          <a:solidFill>
            <a:srgbClr val="1D1D1D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896112" y="4137660"/>
            <a:ext cx="502920" cy="502920"/>
          </a:xfrm>
          <a:prstGeom prst="ellipse">
            <a:avLst/>
          </a:prstGeom>
          <a:noFill/>
          <a:ln cap="flat" cmpd="sng" w="19050">
            <a:solidFill>
              <a:srgbClr val="7A7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 txBox="1"/>
          <p:nvPr/>
        </p:nvSpPr>
        <p:spPr>
          <a:xfrm>
            <a:off x="896112" y="41376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800"/>
              <a:buFont typeface="Bookman Old Style"/>
              <a:buNone/>
            </a:pPr>
            <a:r>
              <a:rPr b="1" lang="en-US" sz="1800">
                <a:solidFill>
                  <a:srgbClr val="A6A6A6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 txBox="1"/>
          <p:nvPr/>
        </p:nvSpPr>
        <p:spPr>
          <a:xfrm>
            <a:off x="1600200" y="3867912"/>
            <a:ext cx="2834640" cy="1042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500"/>
              <a:buFont typeface="Bookman Old Style"/>
              <a:buNone/>
            </a:pPr>
            <a:r>
              <a:rPr b="1" lang="en-US" sz="15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Comercialización y despachos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5"/>
          <p:cNvCxnSpPr/>
          <p:nvPr/>
        </p:nvCxnSpPr>
        <p:spPr>
          <a:xfrm>
            <a:off x="4617720" y="3886200"/>
            <a:ext cx="0" cy="1005840"/>
          </a:xfrm>
          <a:prstGeom prst="straightConnector1">
            <a:avLst/>
          </a:prstGeom>
          <a:noFill/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5"/>
          <p:cNvSpPr txBox="1"/>
          <p:nvPr/>
        </p:nvSpPr>
        <p:spPr>
          <a:xfrm>
            <a:off x="4846320" y="3867912"/>
            <a:ext cx="6492240" cy="1042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Ventas presenciales y coordinación por mensajería: la disponibilidad se confirma sin cotización previa. Los envíos por Starken se calculan a mano, sin tarifa dinámica.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640080" y="5349240"/>
            <a:ext cx="10908792" cy="1371600"/>
          </a:xfrm>
          <a:prstGeom prst="roundRect">
            <a:avLst>
              <a:gd fmla="val 4000" name="adj"/>
            </a:avLst>
          </a:prstGeom>
          <a:solidFill>
            <a:srgbClr val="1D1D1D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896112" y="5783580"/>
            <a:ext cx="502920" cy="502920"/>
          </a:xfrm>
          <a:prstGeom prst="ellipse">
            <a:avLst/>
          </a:prstGeom>
          <a:noFill/>
          <a:ln cap="flat" cmpd="sng" w="19050">
            <a:solidFill>
              <a:srgbClr val="7A7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 txBox="1"/>
          <p:nvPr/>
        </p:nvSpPr>
        <p:spPr>
          <a:xfrm>
            <a:off x="896112" y="57835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800"/>
              <a:buFont typeface="Bookman Old Style"/>
              <a:buNone/>
            </a:pPr>
            <a:r>
              <a:rPr b="1" lang="en-US" sz="1800">
                <a:solidFill>
                  <a:srgbClr val="A6A6A6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 txBox="1"/>
          <p:nvPr/>
        </p:nvSpPr>
        <p:spPr>
          <a:xfrm>
            <a:off x="1600200" y="5513832"/>
            <a:ext cx="2834640" cy="1042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500"/>
              <a:buFont typeface="Bookman Old Style"/>
              <a:buNone/>
            </a:pPr>
            <a:r>
              <a:rPr b="1" lang="en-US" sz="15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Control financiero y administrativo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" name="Google Shape;99;p5"/>
          <p:cNvCxnSpPr/>
          <p:nvPr/>
        </p:nvCxnSpPr>
        <p:spPr>
          <a:xfrm>
            <a:off x="4617720" y="5532120"/>
            <a:ext cx="0" cy="1005840"/>
          </a:xfrm>
          <a:prstGeom prst="straightConnector1">
            <a:avLst/>
          </a:prstGeom>
          <a:noFill/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" name="Google Shape;100;p5"/>
          <p:cNvSpPr txBox="1"/>
          <p:nvPr/>
        </p:nvSpPr>
        <p:spPr>
          <a:xfrm>
            <a:off x="4846320" y="5513832"/>
            <a:ext cx="6492240" cy="1042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Cierre manual de caja: los márgenes se calculan sumando notas de venta en papel y pasándolas a planillas. No hay separación de roles ni de accesos entre áreas.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SOLUTION IDEAS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 txBox="1"/>
          <p:nvPr/>
        </p:nvSpPr>
        <p:spPr>
          <a:xfrm>
            <a:off x="594360" y="7772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000"/>
              <a:buFont typeface="Bookman Old Style"/>
              <a:buNone/>
            </a:pPr>
            <a:r>
              <a:rPr b="1" lang="en-US" sz="30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La plataforma: seis piezas clave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640080" y="1600200"/>
            <a:ext cx="3538728" cy="1965960"/>
          </a:xfrm>
          <a:prstGeom prst="roundRect">
            <a:avLst>
              <a:gd fmla="val 3721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914400" y="1856232"/>
            <a:ext cx="502920" cy="502920"/>
          </a:xfrm>
          <a:prstGeom prst="ellipse">
            <a:avLst/>
          </a:prstGeom>
          <a:solidFill>
            <a:srgbClr val="6E0F1F"/>
          </a:solidFill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 txBox="1"/>
          <p:nvPr/>
        </p:nvSpPr>
        <p:spPr>
          <a:xfrm>
            <a:off x="914400" y="185623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Bookman Old Style"/>
              <a:buNone/>
            </a:pPr>
            <a:r>
              <a:rPr b="1" lang="en-US" sz="14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QR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 txBox="1"/>
          <p:nvPr/>
        </p:nvSpPr>
        <p:spPr>
          <a:xfrm>
            <a:off x="1600200" y="1801368"/>
            <a:ext cx="23500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50"/>
              <a:buFont typeface="Bookman Old Style"/>
              <a:buNone/>
            </a:pPr>
            <a:r>
              <a:rPr b="1" lang="en-US" sz="135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Stock por código QR / barras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 txBox="1"/>
          <p:nvPr/>
        </p:nvSpPr>
        <p:spPr>
          <a:xfrm>
            <a:off x="914400" y="2514600"/>
            <a:ext cx="2990088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Cada prenda se etiqueta con SKU: al recibir o mover mercadería, se escanea y se actualiza ubicación y estado al instante.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4498848" y="1600200"/>
            <a:ext cx="3538728" cy="1965960"/>
          </a:xfrm>
          <a:prstGeom prst="roundRect">
            <a:avLst>
              <a:gd fmla="val 3721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4773168" y="1856232"/>
            <a:ext cx="502920" cy="502920"/>
          </a:xfrm>
          <a:prstGeom prst="ellipse">
            <a:avLst/>
          </a:prstGeom>
          <a:solidFill>
            <a:srgbClr val="6E0F1F"/>
          </a:solidFill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 txBox="1"/>
          <p:nvPr/>
        </p:nvSpPr>
        <p:spPr>
          <a:xfrm>
            <a:off x="4773168" y="185623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Bookman Old Style"/>
              <a:buNone/>
            </a:pPr>
            <a:r>
              <a:rPr b="1" lang="en-US" sz="14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⇄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 txBox="1"/>
          <p:nvPr/>
        </p:nvSpPr>
        <p:spPr>
          <a:xfrm>
            <a:off x="5458968" y="1801368"/>
            <a:ext cx="23500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50"/>
              <a:buFont typeface="Bookman Old Style"/>
              <a:buNone/>
            </a:pPr>
            <a:r>
              <a:rPr b="1" lang="en-US" sz="135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Sincronización automática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 txBox="1"/>
          <p:nvPr/>
        </p:nvSpPr>
        <p:spPr>
          <a:xfrm>
            <a:off x="4773168" y="2514600"/>
            <a:ext cx="2990088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Una sola base de datos: al confirmar una venta se bloquea el producto y se evita vender lo mismo por dos canales.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8357616" y="1600200"/>
            <a:ext cx="3538728" cy="1965960"/>
          </a:xfrm>
          <a:prstGeom prst="roundRect">
            <a:avLst>
              <a:gd fmla="val 3721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8631936" y="1856232"/>
            <a:ext cx="502920" cy="502920"/>
          </a:xfrm>
          <a:prstGeom prst="ellipse">
            <a:avLst/>
          </a:prstGeom>
          <a:solidFill>
            <a:srgbClr val="6E0F1F"/>
          </a:solidFill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 txBox="1"/>
          <p:nvPr/>
        </p:nvSpPr>
        <p:spPr>
          <a:xfrm>
            <a:off x="8631936" y="185623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Bookman Old Style"/>
              <a:buNone/>
            </a:pPr>
            <a:r>
              <a:rPr b="1" lang="en-US" sz="14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$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 txBox="1"/>
          <p:nvPr/>
        </p:nvSpPr>
        <p:spPr>
          <a:xfrm>
            <a:off x="9317736" y="1801368"/>
            <a:ext cx="23500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50"/>
              <a:buFont typeface="Bookman Old Style"/>
              <a:buNone/>
            </a:pPr>
            <a:r>
              <a:rPr b="1" lang="en-US" sz="135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Dashboard financiero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 txBox="1"/>
          <p:nvPr/>
        </p:nvSpPr>
        <p:spPr>
          <a:xfrm>
            <a:off x="8631936" y="2514600"/>
            <a:ext cx="2990088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Cálculo automático de rentabilidad neta: costo de compra, comisiones de pago, despacho y precio de venta.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640080" y="3840480"/>
            <a:ext cx="3538728" cy="1965960"/>
          </a:xfrm>
          <a:prstGeom prst="roundRect">
            <a:avLst>
              <a:gd fmla="val 3721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914400" y="4096512"/>
            <a:ext cx="502920" cy="502920"/>
          </a:xfrm>
          <a:prstGeom prst="ellipse">
            <a:avLst/>
          </a:prstGeom>
          <a:solidFill>
            <a:srgbClr val="6E0F1F"/>
          </a:solidFill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 txBox="1"/>
          <p:nvPr/>
        </p:nvSpPr>
        <p:spPr>
          <a:xfrm>
            <a:off x="914400" y="409651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Bookman Old Style"/>
              <a:buNone/>
            </a:pPr>
            <a:r>
              <a:rPr b="1" lang="en-US" sz="14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!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 txBox="1"/>
          <p:nvPr/>
        </p:nvSpPr>
        <p:spPr>
          <a:xfrm>
            <a:off x="1600200" y="4041648"/>
            <a:ext cx="23500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50"/>
              <a:buFont typeface="Bookman Old Style"/>
              <a:buNone/>
            </a:pPr>
            <a:r>
              <a:rPr b="1" lang="en-US" sz="135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Registro de mermas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 txBox="1"/>
          <p:nvPr/>
        </p:nvSpPr>
        <p:spPr>
          <a:xfrm>
            <a:off x="914400" y="4754880"/>
            <a:ext cx="2990088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Módulo en la app móvil para marcar 'dañado', 'muestra' o 'cambio' al instante, descontando stock y dejando motivo registrado.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4498848" y="3840480"/>
            <a:ext cx="3538728" cy="1965960"/>
          </a:xfrm>
          <a:prstGeom prst="roundRect">
            <a:avLst>
              <a:gd fmla="val 3721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4773168" y="4096512"/>
            <a:ext cx="502920" cy="502920"/>
          </a:xfrm>
          <a:prstGeom prst="ellipse">
            <a:avLst/>
          </a:prstGeom>
          <a:solidFill>
            <a:srgbClr val="6E0F1F"/>
          </a:solidFill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 txBox="1"/>
          <p:nvPr/>
        </p:nvSpPr>
        <p:spPr>
          <a:xfrm>
            <a:off x="4773168" y="409651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Bookman Old Style"/>
              <a:buNone/>
            </a:pPr>
            <a:r>
              <a:rPr b="1" lang="en-US" sz="14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 txBox="1"/>
          <p:nvPr/>
        </p:nvSpPr>
        <p:spPr>
          <a:xfrm>
            <a:off x="5458968" y="4041648"/>
            <a:ext cx="23500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50"/>
              <a:buFont typeface="Bookman Old Style"/>
              <a:buNone/>
            </a:pPr>
            <a:r>
              <a:rPr b="1" lang="en-US" sz="135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Accesos por rol (RBAC)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 txBox="1"/>
          <p:nvPr/>
        </p:nvSpPr>
        <p:spPr>
          <a:xfrm>
            <a:off x="4773168" y="4754880"/>
            <a:ext cx="2990088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Credenciales independientes para bodega, ventas, finanzas y RRHH: cada rol ve solo lo que necesita.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8357616" y="3840480"/>
            <a:ext cx="3538728" cy="1965960"/>
          </a:xfrm>
          <a:prstGeom prst="roundRect">
            <a:avLst>
              <a:gd fmla="val 3721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8631936" y="4096512"/>
            <a:ext cx="502920" cy="502920"/>
          </a:xfrm>
          <a:prstGeom prst="ellipse">
            <a:avLst/>
          </a:prstGeom>
          <a:solidFill>
            <a:srgbClr val="6E0F1F"/>
          </a:solidFill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 txBox="1"/>
          <p:nvPr/>
        </p:nvSpPr>
        <p:spPr>
          <a:xfrm>
            <a:off x="8631936" y="409651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Bookman Old Style"/>
              <a:buNone/>
            </a:pPr>
            <a:r>
              <a:rPr b="1" lang="en-US" sz="14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 txBox="1"/>
          <p:nvPr/>
        </p:nvSpPr>
        <p:spPr>
          <a:xfrm>
            <a:off x="9317736" y="4041648"/>
            <a:ext cx="23500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50"/>
              <a:buFont typeface="Bookman Old Style"/>
              <a:buNone/>
            </a:pPr>
            <a:r>
              <a:rPr b="1" lang="en-US" sz="135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Integración con Starken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 txBox="1"/>
          <p:nvPr/>
        </p:nvSpPr>
        <p:spPr>
          <a:xfrm>
            <a:off x="8631936" y="4754880"/>
            <a:ext cx="2990088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Cálculo de flete en tiempo real por peso y volumen, con costo exacto de envío a Santiago y regiones.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ARQUITECTURA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 txBox="1"/>
          <p:nvPr/>
        </p:nvSpPr>
        <p:spPr>
          <a:xfrm>
            <a:off x="594360" y="7772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000"/>
              <a:buFont typeface="Bookman Old Style"/>
              <a:buNone/>
            </a:pPr>
            <a:r>
              <a:rPr b="1" lang="en-US" sz="30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Arquitectura SOA del sistema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640080" y="1417320"/>
            <a:ext cx="100584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8C8C8"/>
                </a:solidFill>
                <a:latin typeface="Calibri"/>
              </a:rPr>
              <a:t>Los clientes (React, POS y Bodega) consumen servicios independientes a través de un API Gateway; PostgreSQL es la fuente única de datos y Webpay, Starken y el Dashboard se integran como sistemas externos.</a:t>
            </a:r>
          </a:p>
        </p:txBody>
      </p:sp>
      <p:pic>
        <p:nvPicPr>
          <p:cNvPr id="141" name="Picture 140" descr="WhatsApp_Image_2026-09-06_at_8_17_56_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9800" y="2150000"/>
            <a:ext cx="7232400" cy="490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USERS &amp; CUSTOMERS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"/>
          <p:cNvSpPr txBox="1"/>
          <p:nvPr/>
        </p:nvSpPr>
        <p:spPr>
          <a:xfrm>
            <a:off x="594360" y="7772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000"/>
              <a:buFont typeface="Bookman Old Style"/>
              <a:buNone/>
            </a:pPr>
            <a:r>
              <a:rPr b="1" lang="en-US" sz="30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Quiénes usan la plataforma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 txBox="1"/>
          <p:nvPr/>
        </p:nvSpPr>
        <p:spPr>
          <a:xfrm>
            <a:off x="640080" y="14173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Usuarios internos (operación y administración) y clientes externos de e-commerce, cada uno con una necesidad distinta de la plataforma.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"/>
          <p:cNvSpPr/>
          <p:nvPr/>
        </p:nvSpPr>
        <p:spPr>
          <a:xfrm>
            <a:off x="640080" y="2148840"/>
            <a:ext cx="2139696" cy="4160520"/>
          </a:xfrm>
          <a:prstGeom prst="roundRect">
            <a:avLst>
              <a:gd fmla="val 3419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"/>
          <p:cNvSpPr/>
          <p:nvPr/>
        </p:nvSpPr>
        <p:spPr>
          <a:xfrm>
            <a:off x="868680" y="2423160"/>
            <a:ext cx="457200" cy="457200"/>
          </a:xfrm>
          <a:prstGeom prst="ellipse">
            <a:avLst/>
          </a:prstGeom>
          <a:noFill/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"/>
          <p:cNvSpPr txBox="1"/>
          <p:nvPr/>
        </p:nvSpPr>
        <p:spPr>
          <a:xfrm>
            <a:off x="868680" y="24231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600"/>
              <a:buFont typeface="Bookman Old Style"/>
              <a:buNone/>
            </a:pPr>
            <a:r>
              <a:rPr b="1" lang="en-US" sz="1600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B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 txBox="1"/>
          <p:nvPr/>
        </p:nvSpPr>
        <p:spPr>
          <a:xfrm>
            <a:off x="841248" y="3063240"/>
            <a:ext cx="1737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Bookman Old Style"/>
              <a:buNone/>
            </a:pPr>
            <a:r>
              <a:rPr b="1" lang="en-US" sz="13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Personal de bodega / logística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"/>
          <p:cNvSpPr txBox="1"/>
          <p:nvPr/>
        </p:nvSpPr>
        <p:spPr>
          <a:xfrm>
            <a:off x="841248" y="3886200"/>
            <a:ext cx="1737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Recibe, clasifica y despacha prendas.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" name="Google Shape;153;p3"/>
          <p:cNvCxnSpPr/>
          <p:nvPr/>
        </p:nvCxnSpPr>
        <p:spPr>
          <a:xfrm>
            <a:off x="841248" y="4754880"/>
            <a:ext cx="1737360" cy="0"/>
          </a:xfrm>
          <a:prstGeom prst="straightConnector1">
            <a:avLst/>
          </a:prstGeom>
          <a:noFill/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3"/>
          <p:cNvSpPr txBox="1"/>
          <p:nvPr/>
        </p:nvSpPr>
        <p:spPr>
          <a:xfrm>
            <a:off x="841248" y="489204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NECESIDAD CLAVE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3"/>
          <p:cNvSpPr txBox="1"/>
          <p:nvPr/>
        </p:nvSpPr>
        <p:spPr>
          <a:xfrm>
            <a:off x="841248" y="5166360"/>
            <a:ext cx="1737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App móvil rápida e intuitiva para buscar, mover o dar de baja stock.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3"/>
          <p:cNvSpPr/>
          <p:nvPr/>
        </p:nvSpPr>
        <p:spPr>
          <a:xfrm>
            <a:off x="2953512" y="2148840"/>
            <a:ext cx="2139696" cy="4160520"/>
          </a:xfrm>
          <a:prstGeom prst="roundRect">
            <a:avLst>
              <a:gd fmla="val 3419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3182112" y="2423160"/>
            <a:ext cx="457200" cy="457200"/>
          </a:xfrm>
          <a:prstGeom prst="ellipse">
            <a:avLst/>
          </a:prstGeom>
          <a:noFill/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 txBox="1"/>
          <p:nvPr/>
        </p:nvSpPr>
        <p:spPr>
          <a:xfrm>
            <a:off x="3182112" y="24231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600"/>
              <a:buFont typeface="Bookman Old Style"/>
              <a:buNone/>
            </a:pPr>
            <a:r>
              <a:rPr b="1" lang="en-US" sz="1600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V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"/>
          <p:cNvSpPr txBox="1"/>
          <p:nvPr/>
        </p:nvSpPr>
        <p:spPr>
          <a:xfrm>
            <a:off x="3154680" y="3063240"/>
            <a:ext cx="1737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Bookman Old Style"/>
              <a:buNone/>
            </a:pPr>
            <a:r>
              <a:rPr b="1" lang="en-US" sz="13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Ventas / atención al cliente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3"/>
          <p:cNvSpPr txBox="1"/>
          <p:nvPr/>
        </p:nvSpPr>
        <p:spPr>
          <a:xfrm>
            <a:off x="3154680" y="3886200"/>
            <a:ext cx="1737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Gestiona clientes, cambios y reclamos.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1" name="Google Shape;161;p3"/>
          <p:cNvCxnSpPr/>
          <p:nvPr/>
        </p:nvCxnSpPr>
        <p:spPr>
          <a:xfrm>
            <a:off x="3154680" y="4754880"/>
            <a:ext cx="1737360" cy="0"/>
          </a:xfrm>
          <a:prstGeom prst="straightConnector1">
            <a:avLst/>
          </a:prstGeom>
          <a:noFill/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2" name="Google Shape;162;p3"/>
          <p:cNvSpPr txBox="1"/>
          <p:nvPr/>
        </p:nvSpPr>
        <p:spPr>
          <a:xfrm>
            <a:off x="3154680" y="489204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NECESIDAD CLAVE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"/>
          <p:cNvSpPr txBox="1"/>
          <p:nvPr/>
        </p:nvSpPr>
        <p:spPr>
          <a:xfrm>
            <a:off x="3154680" y="5166360"/>
            <a:ext cx="1737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Visibilidad en tiempo real del stock disponible en tienda.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3"/>
          <p:cNvSpPr/>
          <p:nvPr/>
        </p:nvSpPr>
        <p:spPr>
          <a:xfrm>
            <a:off x="5266944" y="2148840"/>
            <a:ext cx="2139696" cy="4160520"/>
          </a:xfrm>
          <a:prstGeom prst="roundRect">
            <a:avLst>
              <a:gd fmla="val 3419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3"/>
          <p:cNvSpPr/>
          <p:nvPr/>
        </p:nvSpPr>
        <p:spPr>
          <a:xfrm>
            <a:off x="5495544" y="2423160"/>
            <a:ext cx="457200" cy="457200"/>
          </a:xfrm>
          <a:prstGeom prst="ellipse">
            <a:avLst/>
          </a:prstGeom>
          <a:noFill/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3"/>
          <p:cNvSpPr txBox="1"/>
          <p:nvPr/>
        </p:nvSpPr>
        <p:spPr>
          <a:xfrm>
            <a:off x="5495544" y="24231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600"/>
              <a:buFont typeface="Bookman Old Style"/>
              <a:buNone/>
            </a:pPr>
            <a:r>
              <a:rPr b="1" lang="en-US" sz="1600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3"/>
          <p:cNvSpPr txBox="1"/>
          <p:nvPr/>
        </p:nvSpPr>
        <p:spPr>
          <a:xfrm>
            <a:off x="5468112" y="3063240"/>
            <a:ext cx="1737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Bookman Old Style"/>
              <a:buNone/>
            </a:pPr>
            <a:r>
              <a:rPr b="1" lang="en-US" sz="13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Administración / Finanzas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3"/>
          <p:cNvSpPr txBox="1"/>
          <p:nvPr/>
        </p:nvSpPr>
        <p:spPr>
          <a:xfrm>
            <a:off x="5468112" y="3886200"/>
            <a:ext cx="1737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Fija márgenes, compras y rentabilidad.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9" name="Google Shape;169;p3"/>
          <p:cNvCxnSpPr/>
          <p:nvPr/>
        </p:nvCxnSpPr>
        <p:spPr>
          <a:xfrm>
            <a:off x="5468112" y="4754880"/>
            <a:ext cx="1737360" cy="0"/>
          </a:xfrm>
          <a:prstGeom prst="straightConnector1">
            <a:avLst/>
          </a:prstGeom>
          <a:noFill/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" name="Google Shape;170;p3"/>
          <p:cNvSpPr txBox="1"/>
          <p:nvPr/>
        </p:nvSpPr>
        <p:spPr>
          <a:xfrm>
            <a:off x="5468112" y="489204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NECESIDAD CLAVE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3"/>
          <p:cNvSpPr txBox="1"/>
          <p:nvPr/>
        </p:nvSpPr>
        <p:spPr>
          <a:xfrm>
            <a:off x="5468112" y="5166360"/>
            <a:ext cx="1737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Panel web con métricas claras de ventas, mermas y ganancias.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3"/>
          <p:cNvSpPr/>
          <p:nvPr/>
        </p:nvSpPr>
        <p:spPr>
          <a:xfrm>
            <a:off x="7580376" y="2148840"/>
            <a:ext cx="2139696" cy="4160520"/>
          </a:xfrm>
          <a:prstGeom prst="roundRect">
            <a:avLst>
              <a:gd fmla="val 3419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3"/>
          <p:cNvSpPr/>
          <p:nvPr/>
        </p:nvSpPr>
        <p:spPr>
          <a:xfrm>
            <a:off x="7808976" y="2423160"/>
            <a:ext cx="457200" cy="457200"/>
          </a:xfrm>
          <a:prstGeom prst="ellipse">
            <a:avLst/>
          </a:prstGeom>
          <a:noFill/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3"/>
          <p:cNvSpPr txBox="1"/>
          <p:nvPr/>
        </p:nvSpPr>
        <p:spPr>
          <a:xfrm>
            <a:off x="7808976" y="24231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600"/>
              <a:buFont typeface="Bookman Old Style"/>
              <a:buNone/>
            </a:pPr>
            <a:r>
              <a:rPr b="1" lang="en-US" sz="1600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H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3"/>
          <p:cNvSpPr txBox="1"/>
          <p:nvPr/>
        </p:nvSpPr>
        <p:spPr>
          <a:xfrm>
            <a:off x="7781544" y="3063240"/>
            <a:ext cx="1737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Bookman Old Style"/>
              <a:buNone/>
            </a:pPr>
            <a:r>
              <a:rPr b="1" lang="en-US" sz="13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Recursos Humanos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3"/>
          <p:cNvSpPr txBox="1"/>
          <p:nvPr/>
        </p:nvSpPr>
        <p:spPr>
          <a:xfrm>
            <a:off x="7781544" y="3886200"/>
            <a:ext cx="1737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Gestiona personal, contratos y asistencia.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" name="Google Shape;177;p3"/>
          <p:cNvCxnSpPr/>
          <p:nvPr/>
        </p:nvCxnSpPr>
        <p:spPr>
          <a:xfrm>
            <a:off x="7781544" y="4754880"/>
            <a:ext cx="1737360" cy="0"/>
          </a:xfrm>
          <a:prstGeom prst="straightConnector1">
            <a:avLst/>
          </a:prstGeom>
          <a:noFill/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" name="Google Shape;178;p3"/>
          <p:cNvSpPr txBox="1"/>
          <p:nvPr/>
        </p:nvSpPr>
        <p:spPr>
          <a:xfrm>
            <a:off x="7781544" y="489204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NECESIDAD CLAVE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3"/>
          <p:cNvSpPr txBox="1"/>
          <p:nvPr/>
        </p:nvSpPr>
        <p:spPr>
          <a:xfrm>
            <a:off x="7781544" y="5166360"/>
            <a:ext cx="1737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Módulo propio, sin acceso a métricas ni movimientos de dinero.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3"/>
          <p:cNvSpPr/>
          <p:nvPr/>
        </p:nvSpPr>
        <p:spPr>
          <a:xfrm>
            <a:off x="9893808" y="2148840"/>
            <a:ext cx="2139696" cy="4160520"/>
          </a:xfrm>
          <a:prstGeom prst="roundRect">
            <a:avLst>
              <a:gd fmla="val 3419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3"/>
          <p:cNvSpPr/>
          <p:nvPr/>
        </p:nvSpPr>
        <p:spPr>
          <a:xfrm>
            <a:off x="10122408" y="2423160"/>
            <a:ext cx="457200" cy="457200"/>
          </a:xfrm>
          <a:prstGeom prst="ellipse">
            <a:avLst/>
          </a:prstGeom>
          <a:noFill/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3"/>
          <p:cNvSpPr txBox="1"/>
          <p:nvPr/>
        </p:nvSpPr>
        <p:spPr>
          <a:xfrm>
            <a:off x="10122408" y="24231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600"/>
              <a:buFont typeface="Bookman Old Style"/>
              <a:buNone/>
            </a:pPr>
            <a:r>
              <a:rPr b="1" lang="en-US" sz="1600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3"/>
          <p:cNvSpPr txBox="1"/>
          <p:nvPr/>
        </p:nvSpPr>
        <p:spPr>
          <a:xfrm>
            <a:off x="10094976" y="3063240"/>
            <a:ext cx="1737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Bookman Old Style"/>
              <a:buNone/>
            </a:pPr>
            <a:r>
              <a:rPr b="1" lang="en-US" sz="13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Clientes e-commerce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3"/>
          <p:cNvSpPr txBox="1"/>
          <p:nvPr/>
        </p:nvSpPr>
        <p:spPr>
          <a:xfrm>
            <a:off x="10094976" y="3886200"/>
            <a:ext cx="1737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Público general, Santiago y regiones.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" name="Google Shape;185;p3"/>
          <p:cNvCxnSpPr/>
          <p:nvPr/>
        </p:nvCxnSpPr>
        <p:spPr>
          <a:xfrm>
            <a:off x="10094976" y="4754880"/>
            <a:ext cx="1737360" cy="0"/>
          </a:xfrm>
          <a:prstGeom prst="straightConnector1">
            <a:avLst/>
          </a:prstGeom>
          <a:noFill/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6" name="Google Shape;186;p3"/>
          <p:cNvSpPr txBox="1"/>
          <p:nvPr/>
        </p:nvSpPr>
        <p:spPr>
          <a:xfrm>
            <a:off x="10094976" y="489204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NECESIDAD CLAVE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3"/>
          <p:cNvSpPr txBox="1"/>
          <p:nvPr/>
        </p:nvSpPr>
        <p:spPr>
          <a:xfrm>
            <a:off x="10094976" y="5166360"/>
            <a:ext cx="1737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Comprar prendas exclusivas con despacho confiable a todo Chile.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3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OBJETIVO DEL PROYECTO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"/>
          <p:cNvSpPr txBox="1"/>
          <p:nvPr/>
        </p:nvSpPr>
        <p:spPr>
          <a:xfrm>
            <a:off x="594360" y="7772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000"/>
              <a:buFont typeface="Bookman Old Style"/>
              <a:buNone/>
            </a:pPr>
            <a:r>
              <a:rPr b="1" lang="en-US" sz="30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Objetivo general y los 5 ¿Para qué?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 txBox="1"/>
          <p:nvPr/>
        </p:nvSpPr>
        <p:spPr>
          <a:xfrm>
            <a:off x="640080" y="14173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Digitalizar la gestión de inventario para transformar la operación comercial de la tienda, conectando bodega, punto de venta y e-commerce en una sola fuente de verdad.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"/>
          <p:cNvSpPr/>
          <p:nvPr/>
        </p:nvSpPr>
        <p:spPr>
          <a:xfrm>
            <a:off x="640080" y="2148840"/>
            <a:ext cx="2139696" cy="4160520"/>
          </a:xfrm>
          <a:prstGeom prst="roundRect">
            <a:avLst>
              <a:gd fmla="val 3419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"/>
          <p:cNvSpPr/>
          <p:nvPr/>
        </p:nvSpPr>
        <p:spPr>
          <a:xfrm>
            <a:off x="868680" y="2423160"/>
            <a:ext cx="457200" cy="457200"/>
          </a:xfrm>
          <a:prstGeom prst="ellipse">
            <a:avLst/>
          </a:prstGeom>
          <a:noFill/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"/>
          <p:cNvSpPr txBox="1"/>
          <p:nvPr/>
        </p:nvSpPr>
        <p:spPr>
          <a:xfrm>
            <a:off x="868680" y="24231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600"/>
              <a:buFont typeface="Bookman Old Style"/>
              <a:buNone/>
            </a:pPr>
            <a:r>
              <a:rPr b="1" lang="en-US" sz="1600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 txBox="1"/>
          <p:nvPr/>
        </p:nvSpPr>
        <p:spPr>
          <a:xfrm>
            <a:off x="841248" y="3063240"/>
            <a:ext cx="1737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Bookman Old Style"/>
              <a:buNone/>
            </a:pPr>
            <a:r>
              <a:rPr b="1" lang="en-US" sz="13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Sincronizar el stock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"/>
          <p:cNvSpPr txBox="1"/>
          <p:nvPr/>
        </p:nvSpPr>
        <p:spPr>
          <a:xfrm>
            <a:off x="841248" y="3886200"/>
            <a:ext cx="1737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Unificar bodega, POS y e-commerce en un solo inventario en tiempo real.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" name="Google Shape;153;p3"/>
          <p:cNvCxnSpPr/>
          <p:nvPr/>
        </p:nvCxnSpPr>
        <p:spPr>
          <a:xfrm>
            <a:off x="841248" y="4754880"/>
            <a:ext cx="1737360" cy="0"/>
          </a:xfrm>
          <a:prstGeom prst="straightConnector1">
            <a:avLst/>
          </a:prstGeom>
          <a:noFill/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3"/>
          <p:cNvSpPr txBox="1"/>
          <p:nvPr/>
        </p:nvSpPr>
        <p:spPr>
          <a:xfrm>
            <a:off x="841248" y="489204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¿PARA QUÉ?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3"/>
          <p:cNvSpPr txBox="1"/>
          <p:nvPr/>
        </p:nvSpPr>
        <p:spPr>
          <a:xfrm>
            <a:off x="841248" y="5166360"/>
            <a:ext cx="1737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Para que ningún canal venda un producto que ya no existe físicamente.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3"/>
          <p:cNvSpPr/>
          <p:nvPr/>
        </p:nvSpPr>
        <p:spPr>
          <a:xfrm>
            <a:off x="2953512" y="2148840"/>
            <a:ext cx="2139696" cy="4160520"/>
          </a:xfrm>
          <a:prstGeom prst="roundRect">
            <a:avLst>
              <a:gd fmla="val 3419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3182112" y="2423160"/>
            <a:ext cx="457200" cy="457200"/>
          </a:xfrm>
          <a:prstGeom prst="ellipse">
            <a:avLst/>
          </a:prstGeom>
          <a:noFill/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 txBox="1"/>
          <p:nvPr/>
        </p:nvSpPr>
        <p:spPr>
          <a:xfrm>
            <a:off x="3182112" y="24231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600"/>
              <a:buFont typeface="Bookman Old Style"/>
              <a:buNone/>
            </a:pPr>
            <a:r>
              <a:rPr b="1" lang="en-US" sz="1600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"/>
          <p:cNvSpPr txBox="1"/>
          <p:nvPr/>
        </p:nvSpPr>
        <p:spPr>
          <a:xfrm>
            <a:off x="3154680" y="3063240"/>
            <a:ext cx="1737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Bookman Old Style"/>
              <a:buNone/>
            </a:pPr>
            <a:r>
              <a:rPr b="1" lang="en-US" sz="13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Reducir ventas perdidas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3"/>
          <p:cNvSpPr txBox="1"/>
          <p:nvPr/>
        </p:nvSpPr>
        <p:spPr>
          <a:xfrm>
            <a:off x="3154680" y="3886200"/>
            <a:ext cx="1737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Confirmar disponibilidad real antes de ofrecer un producto al cliente.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1" name="Google Shape;161;p3"/>
          <p:cNvCxnSpPr/>
          <p:nvPr/>
        </p:nvCxnSpPr>
        <p:spPr>
          <a:xfrm>
            <a:off x="3154680" y="4754880"/>
            <a:ext cx="1737360" cy="0"/>
          </a:xfrm>
          <a:prstGeom prst="straightConnector1">
            <a:avLst/>
          </a:prstGeom>
          <a:noFill/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2" name="Google Shape;162;p3"/>
          <p:cNvSpPr txBox="1"/>
          <p:nvPr/>
        </p:nvSpPr>
        <p:spPr>
          <a:xfrm>
            <a:off x="3154680" y="489204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¿PARA QUÉ?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"/>
          <p:cNvSpPr txBox="1"/>
          <p:nvPr/>
        </p:nvSpPr>
        <p:spPr>
          <a:xfrm>
            <a:off x="3154680" y="5166360"/>
            <a:ext cx="1737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Para recuperar los ingresos que hoy se pierden por falta de stock confiable.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3"/>
          <p:cNvSpPr/>
          <p:nvPr/>
        </p:nvSpPr>
        <p:spPr>
          <a:xfrm>
            <a:off x="5266944" y="2148840"/>
            <a:ext cx="2139696" cy="4160520"/>
          </a:xfrm>
          <a:prstGeom prst="roundRect">
            <a:avLst>
              <a:gd fmla="val 3419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3"/>
          <p:cNvSpPr/>
          <p:nvPr/>
        </p:nvSpPr>
        <p:spPr>
          <a:xfrm>
            <a:off x="5495544" y="2423160"/>
            <a:ext cx="457200" cy="457200"/>
          </a:xfrm>
          <a:prstGeom prst="ellipse">
            <a:avLst/>
          </a:prstGeom>
          <a:noFill/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3"/>
          <p:cNvSpPr txBox="1"/>
          <p:nvPr/>
        </p:nvSpPr>
        <p:spPr>
          <a:xfrm>
            <a:off x="5495544" y="24231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600"/>
              <a:buFont typeface="Bookman Old Style"/>
              <a:buNone/>
            </a:pPr>
            <a:r>
              <a:rPr b="1" lang="en-US" sz="1600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3"/>
          <p:cNvSpPr txBox="1"/>
          <p:nvPr/>
        </p:nvSpPr>
        <p:spPr>
          <a:xfrm>
            <a:off x="5468112" y="3063240"/>
            <a:ext cx="1737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Bookman Old Style"/>
              <a:buNone/>
            </a:pPr>
            <a:r>
              <a:rPr b="1" lang="en-US" sz="13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Mejorar la experiencia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3"/>
          <p:cNvSpPr txBox="1"/>
          <p:nvPr/>
        </p:nvSpPr>
        <p:spPr>
          <a:xfrm>
            <a:off x="5468112" y="3886200"/>
            <a:ext cx="1737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Dar visibilidad de stock en tiempo real a vendedores y clientes.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9" name="Google Shape;169;p3"/>
          <p:cNvCxnSpPr/>
          <p:nvPr/>
        </p:nvCxnSpPr>
        <p:spPr>
          <a:xfrm>
            <a:off x="5468112" y="4754880"/>
            <a:ext cx="1737360" cy="0"/>
          </a:xfrm>
          <a:prstGeom prst="straightConnector1">
            <a:avLst/>
          </a:prstGeom>
          <a:noFill/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" name="Google Shape;170;p3"/>
          <p:cNvSpPr txBox="1"/>
          <p:nvPr/>
        </p:nvSpPr>
        <p:spPr>
          <a:xfrm>
            <a:off x="5468112" y="489204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¿PARA QUÉ?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3"/>
          <p:cNvSpPr txBox="1"/>
          <p:nvPr/>
        </p:nvSpPr>
        <p:spPr>
          <a:xfrm>
            <a:off x="5468112" y="5166360"/>
            <a:ext cx="1737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Para que la compra presencial y online sea rápida y confiable.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3"/>
          <p:cNvSpPr/>
          <p:nvPr/>
        </p:nvSpPr>
        <p:spPr>
          <a:xfrm>
            <a:off x="7580376" y="2148840"/>
            <a:ext cx="2139696" cy="4160520"/>
          </a:xfrm>
          <a:prstGeom prst="roundRect">
            <a:avLst>
              <a:gd fmla="val 3419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3"/>
          <p:cNvSpPr/>
          <p:nvPr/>
        </p:nvSpPr>
        <p:spPr>
          <a:xfrm>
            <a:off x="7808976" y="2423160"/>
            <a:ext cx="457200" cy="457200"/>
          </a:xfrm>
          <a:prstGeom prst="ellipse">
            <a:avLst/>
          </a:prstGeom>
          <a:noFill/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3"/>
          <p:cNvSpPr txBox="1"/>
          <p:nvPr/>
        </p:nvSpPr>
        <p:spPr>
          <a:xfrm>
            <a:off x="7808976" y="24231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600"/>
              <a:buFont typeface="Bookman Old Style"/>
              <a:buNone/>
            </a:pPr>
            <a:r>
              <a:rPr b="1" lang="en-US" sz="1600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3"/>
          <p:cNvSpPr txBox="1"/>
          <p:nvPr/>
        </p:nvSpPr>
        <p:spPr>
          <a:xfrm>
            <a:off x="7781544" y="3063240"/>
            <a:ext cx="1737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Bookman Old Style"/>
              <a:buNone/>
            </a:pPr>
            <a:r>
              <a:rPr b="1" lang="en-US" sz="13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Dar trazabilidad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3"/>
          <p:cNvSpPr txBox="1"/>
          <p:nvPr/>
        </p:nvSpPr>
        <p:spPr>
          <a:xfrm>
            <a:off x="7781544" y="3886200"/>
            <a:ext cx="1737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Registrar cada movimiento de inventario con motivo y responsable.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" name="Google Shape;177;p3"/>
          <p:cNvCxnSpPr/>
          <p:nvPr/>
        </p:nvCxnSpPr>
        <p:spPr>
          <a:xfrm>
            <a:off x="7781544" y="4754880"/>
            <a:ext cx="1737360" cy="0"/>
          </a:xfrm>
          <a:prstGeom prst="straightConnector1">
            <a:avLst/>
          </a:prstGeom>
          <a:noFill/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" name="Google Shape;178;p3"/>
          <p:cNvSpPr txBox="1"/>
          <p:nvPr/>
        </p:nvSpPr>
        <p:spPr>
          <a:xfrm>
            <a:off x="7781544" y="489204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¿PARA QUÉ?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3"/>
          <p:cNvSpPr txBox="1"/>
          <p:nvPr/>
        </p:nvSpPr>
        <p:spPr>
          <a:xfrm>
            <a:off x="7781544" y="5166360"/>
            <a:ext cx="1737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Para tomar decisiones de compra y margen con datos reales, no estimaciones.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3"/>
          <p:cNvSpPr/>
          <p:nvPr/>
        </p:nvSpPr>
        <p:spPr>
          <a:xfrm>
            <a:off x="9893808" y="2148840"/>
            <a:ext cx="2139696" cy="4160520"/>
          </a:xfrm>
          <a:prstGeom prst="roundRect">
            <a:avLst>
              <a:gd fmla="val 3419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3"/>
          <p:cNvSpPr/>
          <p:nvPr/>
        </p:nvSpPr>
        <p:spPr>
          <a:xfrm>
            <a:off x="10122408" y="2423160"/>
            <a:ext cx="457200" cy="457200"/>
          </a:xfrm>
          <a:prstGeom prst="ellipse">
            <a:avLst/>
          </a:prstGeom>
          <a:noFill/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3"/>
          <p:cNvSpPr txBox="1"/>
          <p:nvPr/>
        </p:nvSpPr>
        <p:spPr>
          <a:xfrm>
            <a:off x="10122408" y="24231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600"/>
              <a:buFont typeface="Bookman Old Style"/>
              <a:buNone/>
            </a:pPr>
            <a:r>
              <a:rPr b="1" lang="en-US" sz="1600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5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3"/>
          <p:cNvSpPr txBox="1"/>
          <p:nvPr/>
        </p:nvSpPr>
        <p:spPr>
          <a:xfrm>
            <a:off x="10094976" y="3063240"/>
            <a:ext cx="1737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Bookman Old Style"/>
              <a:buNone/>
            </a:pPr>
            <a:r>
              <a:rPr b="1" lang="en-US" sz="13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Aumentar la rentabilidad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3"/>
          <p:cNvSpPr txBox="1"/>
          <p:nvPr/>
        </p:nvSpPr>
        <p:spPr>
          <a:xfrm>
            <a:off x="10094976" y="3886200"/>
            <a:ext cx="1737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Habilitar un nuevo canal de venta (e-commerce) sin perder control operativo.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" name="Google Shape;185;p3"/>
          <p:cNvCxnSpPr/>
          <p:nvPr/>
        </p:nvCxnSpPr>
        <p:spPr>
          <a:xfrm>
            <a:off x="10094976" y="4754880"/>
            <a:ext cx="1737360" cy="0"/>
          </a:xfrm>
          <a:prstGeom prst="straightConnector1">
            <a:avLst/>
          </a:prstGeom>
          <a:noFill/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6" name="Google Shape;186;p3"/>
          <p:cNvSpPr txBox="1"/>
          <p:nvPr/>
        </p:nvSpPr>
        <p:spPr>
          <a:xfrm>
            <a:off x="10094976" y="489204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RESULTADO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3"/>
          <p:cNvSpPr txBox="1"/>
          <p:nvPr/>
        </p:nvSpPr>
        <p:spPr>
          <a:xfrm>
            <a:off x="10094976" y="5166360"/>
            <a:ext cx="1737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Incrementar las ventas en +26% y la precisión del inventario a un 98% durante el primer año.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3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USER METRICS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 txBox="1"/>
          <p:nvPr/>
        </p:nvSpPr>
        <p:spPr>
          <a:xfrm>
            <a:off x="594360" y="7772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000"/>
              <a:buFont typeface="Bookman Old Style"/>
              <a:buNone/>
            </a:pPr>
            <a:r>
              <a:rPr b="1" lang="en-US" sz="30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Cómo se </a:t>
            </a:r>
            <a:r>
              <a:rPr b="1" lang="en-US" sz="30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percibe</a:t>
            </a:r>
            <a:r>
              <a:rPr b="1" lang="en-US" sz="30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en el equipo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 txBox="1"/>
          <p:nvPr/>
        </p:nvSpPr>
        <p:spPr>
          <a:xfrm>
            <a:off x="640080" y="1417320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Métricas de uso y adopción desde la perspectiva del cliente interno y externo.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640080" y="2194560"/>
            <a:ext cx="3538728" cy="3291840"/>
          </a:xfrm>
          <a:prstGeom prst="roundRect">
            <a:avLst>
              <a:gd fmla="val 2222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 txBox="1"/>
          <p:nvPr/>
        </p:nvSpPr>
        <p:spPr>
          <a:xfrm>
            <a:off x="640080" y="2743200"/>
            <a:ext cx="353872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4000"/>
              <a:buFont typeface="Bookman Old Style"/>
              <a:buNone/>
            </a:pPr>
            <a:r>
              <a:rPr b="1" lang="en-US" sz="4000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30 seg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 txBox="1"/>
          <p:nvPr/>
        </p:nvSpPr>
        <p:spPr>
          <a:xfrm>
            <a:off x="914400" y="3794760"/>
            <a:ext cx="299008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para armar un pedido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 txBox="1"/>
          <p:nvPr/>
        </p:nvSpPr>
        <p:spPr>
          <a:xfrm>
            <a:off x="914400" y="4389120"/>
            <a:ext cx="299008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100"/>
              <a:buFont typeface="Calibri"/>
              <a:buNone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hoy toma entre 5 y 7 minutos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4498848" y="2194560"/>
            <a:ext cx="3538728" cy="3291840"/>
          </a:xfrm>
          <a:prstGeom prst="roundRect">
            <a:avLst>
              <a:gd fmla="val 2222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 txBox="1"/>
          <p:nvPr/>
        </p:nvSpPr>
        <p:spPr>
          <a:xfrm>
            <a:off x="4498848" y="2743200"/>
            <a:ext cx="353872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4000"/>
              <a:buFont typeface="Bookman Old Style"/>
              <a:buNone/>
            </a:pPr>
            <a:r>
              <a:rPr b="1" lang="en-US" sz="3800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↓78%</a:t>
            </a:r>
            <a:r>
              <a:rPr b="1" lang="en-US" sz="4000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b="1" lang="en-US" sz="3700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Errores</a:t>
            </a:r>
            <a:endParaRPr sz="3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 txBox="1"/>
          <p:nvPr/>
        </p:nvSpPr>
        <p:spPr>
          <a:xfrm>
            <a:off x="4773168" y="3794760"/>
            <a:ext cx="299008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en pedidos que no corresponden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 txBox="1"/>
          <p:nvPr/>
        </p:nvSpPr>
        <p:spPr>
          <a:xfrm>
            <a:off x="4773168" y="4389120"/>
            <a:ext cx="299008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100"/>
              <a:buFont typeface="Calibri"/>
              <a:buNone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por falta de stock real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8357616" y="2194560"/>
            <a:ext cx="3538728" cy="3291840"/>
          </a:xfrm>
          <a:prstGeom prst="roundRect">
            <a:avLst>
              <a:gd fmla="val 2222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 txBox="1"/>
          <p:nvPr/>
        </p:nvSpPr>
        <p:spPr>
          <a:xfrm>
            <a:off x="8357616" y="2743200"/>
            <a:ext cx="353872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4000"/>
              <a:buFont typeface="Bookman Old Style"/>
              <a:buNone/>
            </a:pPr>
            <a:r>
              <a:rPr b="1" lang="en-US" sz="4000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100%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 txBox="1"/>
          <p:nvPr/>
        </p:nvSpPr>
        <p:spPr>
          <a:xfrm>
            <a:off x="8631936" y="3794760"/>
            <a:ext cx="299008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de los movimientos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 txBox="1"/>
          <p:nvPr/>
        </p:nvSpPr>
        <p:spPr>
          <a:xfrm>
            <a:off x="8631936" y="4389120"/>
            <a:ext cx="299008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100"/>
              <a:buFont typeface="Calibri"/>
              <a:buNone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registrados vía app móvil o web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GESTIÓN DE RIESGOS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 txBox="1"/>
          <p:nvPr/>
        </p:nvSpPr>
        <p:spPr>
          <a:xfrm>
            <a:off x="594360" y="7772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000"/>
              <a:buFont typeface="Bookman Old Style"/>
              <a:buNone/>
            </a:pPr>
            <a:r>
              <a:rPr b="1" lang="en-US" sz="30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Riesgo, probabilidad y </a:t>
            </a:r>
            <a:r>
              <a:rPr b="1" lang="en-US" sz="30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mitigación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640080" y="1691640"/>
            <a:ext cx="5257800" cy="2148840"/>
          </a:xfrm>
          <a:prstGeom prst="roundRect">
            <a:avLst>
              <a:gd fmla="val 3404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noFill/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 txBox="1"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500"/>
              <a:buFont typeface="Bookman Old Style"/>
              <a:buNone/>
            </a:pPr>
            <a:r>
              <a:rPr b="1" lang="en-US" sz="1500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 txBox="1"/>
          <p:nvPr/>
        </p:nvSpPr>
        <p:spPr>
          <a:xfrm>
            <a:off x="1554480" y="1947672"/>
            <a:ext cx="4069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Bookman Old Style"/>
              <a:buNone/>
            </a:pPr>
            <a:r>
              <a:rPr b="1" lang="en-US" sz="14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Resistencia al cambio · Prob: Alta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 txBox="1"/>
          <p:nvPr/>
        </p:nvSpPr>
        <p:spPr>
          <a:xfrm>
            <a:off x="914400" y="2651760"/>
            <a:ext cx="47091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El equipo de bodega debe dejar atrás el papel. Mitigación: capacitación del personal y piloto controlado antes del lanzamiento.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6263640" y="1691640"/>
            <a:ext cx="5257800" cy="2148840"/>
          </a:xfrm>
          <a:prstGeom prst="roundRect">
            <a:avLst>
              <a:gd fmla="val 3404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6537960" y="1965960"/>
            <a:ext cx="457200" cy="457200"/>
          </a:xfrm>
          <a:prstGeom prst="ellipse">
            <a:avLst/>
          </a:prstGeom>
          <a:noFill/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 txBox="1"/>
          <p:nvPr/>
        </p:nvSpPr>
        <p:spPr>
          <a:xfrm>
            <a:off x="6537960" y="19659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500"/>
              <a:buFont typeface="Bookman Old Style"/>
              <a:buNone/>
            </a:pPr>
            <a:r>
              <a:rPr b="1" lang="en-US" sz="1500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 txBox="1"/>
          <p:nvPr/>
        </p:nvSpPr>
        <p:spPr>
          <a:xfrm>
            <a:off x="7178040" y="1947672"/>
            <a:ext cx="4069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Bookman Old Style"/>
              <a:buNone/>
            </a:pPr>
            <a:r>
              <a:rPr b="1" lang="en-US" sz="14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Error en migración · Prob: Media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 txBox="1"/>
          <p:nvPr/>
        </p:nvSpPr>
        <p:spPr>
          <a:xfrm>
            <a:off x="6537960" y="2651760"/>
            <a:ext cx="47091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El inventario heredado en papel tiene discrepancias. Mitigación: validación física cruzada con etiquetado QR antes de activar el sistema.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640080" y="4114800"/>
            <a:ext cx="5257800" cy="2148840"/>
          </a:xfrm>
          <a:prstGeom prst="roundRect">
            <a:avLst>
              <a:gd fmla="val 3404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914400" y="4389120"/>
            <a:ext cx="457200" cy="457200"/>
          </a:xfrm>
          <a:prstGeom prst="ellipse">
            <a:avLst/>
          </a:prstGeom>
          <a:noFill/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 txBox="1"/>
          <p:nvPr/>
        </p:nvSpPr>
        <p:spPr>
          <a:xfrm>
            <a:off x="914400" y="43891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500"/>
              <a:buFont typeface="Bookman Old Style"/>
              <a:buNone/>
            </a:pPr>
            <a:r>
              <a:rPr b="1" lang="en-US" sz="1500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 txBox="1"/>
          <p:nvPr/>
        </p:nvSpPr>
        <p:spPr>
          <a:xfrm>
            <a:off x="1554480" y="4370832"/>
            <a:ext cx="4069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Bookman Old Style"/>
              <a:buNone/>
            </a:pPr>
            <a:r>
              <a:rPr b="1" lang="en-US" sz="14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Caída de la API Starken · Prob: Baja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 txBox="1"/>
          <p:nvPr/>
        </p:nvSpPr>
        <p:spPr>
          <a:xfrm>
            <a:off x="914400" y="5074920"/>
            <a:ext cx="47091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Cambios de tarifa o cobertura pueden afectar el cálculo de envío. Mitigación: caché de tarifas y reintento automático.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6263640" y="4114800"/>
            <a:ext cx="5257800" cy="2148840"/>
          </a:xfrm>
          <a:prstGeom prst="roundRect">
            <a:avLst>
              <a:gd fmla="val 3404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6537960" y="4389120"/>
            <a:ext cx="457200" cy="457200"/>
          </a:xfrm>
          <a:prstGeom prst="ellipse">
            <a:avLst/>
          </a:prstGeom>
          <a:noFill/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 txBox="1"/>
          <p:nvPr/>
        </p:nvSpPr>
        <p:spPr>
          <a:xfrm>
            <a:off x="6537960" y="43891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500"/>
              <a:buFont typeface="Bookman Old Style"/>
              <a:buNone/>
            </a:pPr>
            <a:r>
              <a:rPr b="1" lang="en-US" sz="1500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4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 txBox="1"/>
          <p:nvPr/>
        </p:nvSpPr>
        <p:spPr>
          <a:xfrm>
            <a:off x="7178040" y="4370832"/>
            <a:ext cx="4069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Bookman Old Style"/>
              <a:buNone/>
            </a:pPr>
            <a:r>
              <a:rPr b="1" lang="en-US" sz="14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Fallo en el pago (Webpay) · Prob: Baja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 txBox="1"/>
          <p:nvPr/>
        </p:nvSpPr>
        <p:spPr>
          <a:xfrm>
            <a:off x="6537960" y="5074920"/>
            <a:ext cx="47091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Una transacción puede no completarse durante el pago online. Mitigación: reverso automático y registro de la transacción fallida.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BUSINESS BENEFITS AND METRICS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 txBox="1"/>
          <p:nvPr/>
        </p:nvSpPr>
        <p:spPr>
          <a:xfrm>
            <a:off x="594360" y="7772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000"/>
              <a:buFont typeface="Bookman Old Style"/>
              <a:buNone/>
            </a:pPr>
            <a:r>
              <a:rPr b="1" lang="en-US" sz="30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El impacto en el negocio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 txBox="1"/>
          <p:nvPr/>
        </p:nvSpPr>
        <p:spPr>
          <a:xfrm>
            <a:off x="682550" y="4637919"/>
            <a:ext cx="10647900" cy="17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300"/>
              <a:buFont typeface="Calibri"/>
              <a:buNone/>
            </a:pPr>
            <a:r>
              <a:rPr lang="en-US" sz="16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-La tienda recupera aproximadamente 48 ventas mensuales (80% de las ventas perdidas) y suma ventas online, aumentando el volumen de ventas respecto al escenario actual. </a:t>
            </a:r>
            <a:endParaRPr sz="1600">
              <a:solidFill>
                <a:srgbClr val="A6A6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300"/>
              <a:buFont typeface="Calibri"/>
              <a:buNone/>
            </a:pPr>
            <a:r>
              <a:rPr lang="en-US" sz="16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-El POS y la bodega consultan el mismo inventario, evitando búsquedas manuales y reduciendo el tiempo promedio de 5 a 1,5 minutos</a:t>
            </a:r>
            <a:endParaRPr sz="1600">
              <a:solidFill>
                <a:srgbClr val="A6A6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300"/>
              <a:buFont typeface="Calibri"/>
              <a:buNone/>
            </a:pPr>
            <a:r>
              <a:rPr lang="en-US" sz="16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-ntes el cliente dependía del vendedor para verificar stock; con el e-commerce prácticamente todo el catálogo queda disponible en tiempo real</a:t>
            </a:r>
            <a:endParaRPr sz="1600">
              <a:solidFill>
                <a:srgbClr val="A6A6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300"/>
              <a:buFont typeface="Calibri"/>
              <a:buNone/>
            </a:pPr>
            <a:r>
              <a:rPr lang="en-US" sz="16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-Cada venta, devolución, ingreso a bodega y despacho queda registrado en PostgreSQL mediante la arquitectura SOA. </a:t>
            </a:r>
            <a:endParaRPr sz="1600">
              <a:solidFill>
                <a:srgbClr val="A6A6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A6A6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204876" y="1550427"/>
            <a:ext cx="2758800" cy="2566200"/>
          </a:xfrm>
          <a:prstGeom prst="roundRect">
            <a:avLst>
              <a:gd fmla="val 2222" name="adj"/>
            </a:avLst>
          </a:prstGeom>
          <a:solidFill>
            <a:srgbClr val="161616"/>
          </a:solidFill>
          <a:ln cap="flat" cmpd="sng" w="99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5625" lIns="71275" spcFirstLastPara="1" rIns="71275" wrap="square" tIns="35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 txBox="1"/>
          <p:nvPr/>
        </p:nvSpPr>
        <p:spPr>
          <a:xfrm>
            <a:off x="204876" y="2085083"/>
            <a:ext cx="27588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2651"/>
              <a:buFont typeface="Bookman Old Style"/>
              <a:buNone/>
            </a:pPr>
            <a:r>
              <a:rPr b="1" lang="en-US" sz="2651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+26% ventas</a:t>
            </a:r>
            <a:endParaRPr sz="265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 txBox="1"/>
          <p:nvPr/>
        </p:nvSpPr>
        <p:spPr>
          <a:xfrm>
            <a:off x="454382" y="2869246"/>
            <a:ext cx="2259900" cy="92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013"/>
              <a:buFont typeface="Calibri"/>
              <a:buNone/>
            </a:pPr>
            <a:r>
              <a:rPr lang="en-US" sz="1213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Incremento proyectado en las ventas al recuperar clientes perdidos y habilitar el canal e-commerce.</a:t>
            </a:r>
            <a:endParaRPr sz="12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3204350" y="1550425"/>
            <a:ext cx="2758800" cy="2566200"/>
          </a:xfrm>
          <a:prstGeom prst="roundRect">
            <a:avLst>
              <a:gd fmla="val 2222" name="adj"/>
            </a:avLst>
          </a:prstGeom>
          <a:solidFill>
            <a:srgbClr val="161616"/>
          </a:solidFill>
          <a:ln cap="flat" cmpd="sng" w="99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5625" lIns="71275" spcFirstLastPara="1" rIns="71275" wrap="square" tIns="35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 txBox="1"/>
          <p:nvPr/>
        </p:nvSpPr>
        <p:spPr>
          <a:xfrm>
            <a:off x="3204350" y="2085058"/>
            <a:ext cx="2758800" cy="71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2651"/>
              <a:buFont typeface="Bookman Old Style"/>
              <a:buNone/>
            </a:pPr>
            <a:r>
              <a:rPr b="1" lang="en-US" sz="2651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↓70% tiempo de busqueda</a:t>
            </a:r>
            <a:endParaRPr sz="265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 txBox="1"/>
          <p:nvPr/>
        </p:nvSpPr>
        <p:spPr>
          <a:xfrm>
            <a:off x="3453844" y="2869186"/>
            <a:ext cx="2259600" cy="92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013"/>
              <a:buFont typeface="Calibri"/>
              <a:buNone/>
            </a:pPr>
            <a:r>
              <a:rPr lang="en-US" sz="1213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reducción</a:t>
            </a:r>
            <a:r>
              <a:rPr lang="en-US" sz="1213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 del tiempo que el personal dedica a localizar productos gracias al inventario sincronizado </a:t>
            </a:r>
            <a:endParaRPr sz="12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6216286" y="1550427"/>
            <a:ext cx="2758800" cy="2566200"/>
          </a:xfrm>
          <a:prstGeom prst="roundRect">
            <a:avLst>
              <a:gd fmla="val 2222" name="adj"/>
            </a:avLst>
          </a:prstGeom>
          <a:solidFill>
            <a:srgbClr val="161616"/>
          </a:solidFill>
          <a:ln cap="flat" cmpd="sng" w="99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5625" lIns="71275" spcFirstLastPara="1" rIns="71275" wrap="square" tIns="35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 txBox="1"/>
          <p:nvPr/>
        </p:nvSpPr>
        <p:spPr>
          <a:xfrm>
            <a:off x="6216348" y="1752192"/>
            <a:ext cx="27588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2650"/>
              <a:buFont typeface="Bookman Old Style"/>
              <a:buNone/>
            </a:pPr>
            <a:r>
              <a:rPr b="1" lang="en-US" sz="2650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+90% Visibilidad</a:t>
            </a:r>
            <a:endParaRPr sz="2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 txBox="1"/>
          <p:nvPr/>
        </p:nvSpPr>
        <p:spPr>
          <a:xfrm>
            <a:off x="6465687" y="2465002"/>
            <a:ext cx="2259900" cy="12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013"/>
              <a:buFont typeface="Calibri"/>
              <a:buNone/>
            </a:pPr>
            <a:r>
              <a:rPr lang="en-US" sz="1213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Consulta de disponibilidad en tiempo real. </a:t>
            </a:r>
            <a:endParaRPr sz="1213">
              <a:solidFill>
                <a:srgbClr val="F5F5F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013"/>
              <a:buFont typeface="Calibri"/>
              <a:buNone/>
            </a:pPr>
            <a:r>
              <a:rPr lang="en-US" sz="1213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Seguimiento automático de pedidos </a:t>
            </a:r>
            <a:endParaRPr sz="1213">
              <a:solidFill>
                <a:srgbClr val="F5F5F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013"/>
              <a:buFont typeface="Calibri"/>
              <a:buNone/>
            </a:pPr>
            <a:r>
              <a:rPr lang="en-US" sz="1213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Mejor experiencia de compra presencial y online </a:t>
            </a:r>
            <a:endParaRPr sz="1213">
              <a:solidFill>
                <a:srgbClr val="F5F5F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9228323" y="1550427"/>
            <a:ext cx="2758800" cy="2566200"/>
          </a:xfrm>
          <a:prstGeom prst="roundRect">
            <a:avLst>
              <a:gd fmla="val 2222" name="adj"/>
            </a:avLst>
          </a:prstGeom>
          <a:solidFill>
            <a:srgbClr val="161616"/>
          </a:solidFill>
          <a:ln cap="flat" cmpd="sng" w="99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5625" lIns="71275" spcFirstLastPara="1" rIns="71275" wrap="square" tIns="35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 txBox="1"/>
          <p:nvPr/>
        </p:nvSpPr>
        <p:spPr>
          <a:xfrm>
            <a:off x="9228323" y="1837092"/>
            <a:ext cx="27588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2650"/>
              <a:buFont typeface="Bookman Old Style"/>
              <a:buNone/>
            </a:pPr>
            <a:r>
              <a:rPr b="1" lang="en-US" sz="2650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+100% Trazabilidad</a:t>
            </a:r>
            <a:endParaRPr sz="2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 txBox="1"/>
          <p:nvPr/>
        </p:nvSpPr>
        <p:spPr>
          <a:xfrm>
            <a:off x="9477725" y="2465002"/>
            <a:ext cx="2259900" cy="12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013"/>
              <a:buFont typeface="Calibri"/>
              <a:buNone/>
            </a:pPr>
            <a:r>
              <a:rPr lang="en-US" sz="1213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Todas las ventas y movimientos de inventario quedan registrados en una única plataforma. </a:t>
            </a:r>
            <a:endParaRPr sz="1213">
              <a:solidFill>
                <a:srgbClr val="F5F5F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fa27e5a6fa_0_13"/>
          <p:cNvSpPr txBox="1"/>
          <p:nvPr/>
        </p:nvSpPr>
        <p:spPr>
          <a:xfrm>
            <a:off x="594360" y="777240"/>
            <a:ext cx="10058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000"/>
              <a:buFont typeface="Bookman Old Style"/>
              <a:buNone/>
            </a:pPr>
            <a:r>
              <a:rPr b="1" lang="en-US" sz="30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Kpi y inversión inicial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g3fa27e5a6fa_0_13"/>
          <p:cNvSpPr txBox="1"/>
          <p:nvPr/>
        </p:nvSpPr>
        <p:spPr>
          <a:xfrm>
            <a:off x="594350" y="1316248"/>
            <a:ext cx="106386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300"/>
              <a:buFont typeface="Calibri"/>
              <a:buNone/>
            </a:pPr>
            <a:r>
              <a:rPr lang="en-US" sz="16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La inversión inicial de $6.800.000 es recuperada durante el sexto mes y genera un beneficio acumulado de $7.240.000 al finalizar el primer año, demostrando que la implementación del sistema es económicamente viable </a:t>
            </a:r>
            <a:endParaRPr sz="1600">
              <a:solidFill>
                <a:srgbClr val="A6A6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A6A6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g3fa27e5a6fa_0_13"/>
          <p:cNvSpPr txBox="1"/>
          <p:nvPr/>
        </p:nvSpPr>
        <p:spPr>
          <a:xfrm>
            <a:off x="11232983" y="5407830"/>
            <a:ext cx="548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g3fa27e5a6fa_0_13"/>
          <p:cNvSpPr/>
          <p:nvPr/>
        </p:nvSpPr>
        <p:spPr>
          <a:xfrm>
            <a:off x="160564" y="2978802"/>
            <a:ext cx="2758800" cy="2566200"/>
          </a:xfrm>
          <a:prstGeom prst="roundRect">
            <a:avLst>
              <a:gd fmla="val 2222" name="adj"/>
            </a:avLst>
          </a:prstGeom>
          <a:solidFill>
            <a:srgbClr val="161616"/>
          </a:solidFill>
          <a:ln cap="flat" cmpd="sng" w="99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5625" lIns="71275" spcFirstLastPara="1" rIns="71275" wrap="square" tIns="35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g3fa27e5a6fa_0_13"/>
          <p:cNvSpPr/>
          <p:nvPr/>
        </p:nvSpPr>
        <p:spPr>
          <a:xfrm>
            <a:off x="3160038" y="2978800"/>
            <a:ext cx="2758800" cy="2566200"/>
          </a:xfrm>
          <a:prstGeom prst="roundRect">
            <a:avLst>
              <a:gd fmla="val 2222" name="adj"/>
            </a:avLst>
          </a:prstGeom>
          <a:solidFill>
            <a:srgbClr val="161616"/>
          </a:solidFill>
          <a:ln cap="flat" cmpd="sng" w="99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5625" lIns="71275" spcFirstLastPara="1" rIns="71275" wrap="square" tIns="35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g3fa27e5a6fa_0_13"/>
          <p:cNvSpPr txBox="1"/>
          <p:nvPr/>
        </p:nvSpPr>
        <p:spPr>
          <a:xfrm>
            <a:off x="3160038" y="3513433"/>
            <a:ext cx="2758800" cy="71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2651"/>
              <a:buFont typeface="Bookman Old Style"/>
              <a:buNone/>
            </a:pPr>
            <a:r>
              <a:rPr b="1" lang="en-US" sz="2651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TIR</a:t>
            </a:r>
            <a:endParaRPr sz="265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g3fa27e5a6fa_0_13"/>
          <p:cNvSpPr txBox="1"/>
          <p:nvPr/>
        </p:nvSpPr>
        <p:spPr>
          <a:xfrm>
            <a:off x="3409531" y="4297561"/>
            <a:ext cx="2259600" cy="92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013"/>
              <a:buFont typeface="Calibri"/>
              <a:buNone/>
            </a:pPr>
            <a:r>
              <a:rPr lang="en-US" sz="3813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      13,4%</a:t>
            </a:r>
            <a:endParaRPr sz="3813">
              <a:solidFill>
                <a:srgbClr val="F5F5F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g3fa27e5a6fa_0_13"/>
          <p:cNvSpPr/>
          <p:nvPr/>
        </p:nvSpPr>
        <p:spPr>
          <a:xfrm>
            <a:off x="6171973" y="2978802"/>
            <a:ext cx="2758800" cy="2566200"/>
          </a:xfrm>
          <a:prstGeom prst="roundRect">
            <a:avLst>
              <a:gd fmla="val 2222" name="adj"/>
            </a:avLst>
          </a:prstGeom>
          <a:solidFill>
            <a:srgbClr val="161616"/>
          </a:solidFill>
          <a:ln cap="flat" cmpd="sng" w="99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5625" lIns="71275" spcFirstLastPara="1" rIns="71275" wrap="square" tIns="35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g3fa27e5a6fa_0_13"/>
          <p:cNvSpPr txBox="1"/>
          <p:nvPr/>
        </p:nvSpPr>
        <p:spPr>
          <a:xfrm>
            <a:off x="6172023" y="3513267"/>
            <a:ext cx="27588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2650"/>
              <a:buFont typeface="Bookman Old Style"/>
              <a:buNone/>
            </a:pPr>
            <a:r>
              <a:rPr b="1" lang="en-US" sz="2650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ROI</a:t>
            </a:r>
            <a:endParaRPr sz="2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g3fa27e5a6fa_0_13"/>
          <p:cNvSpPr txBox="1"/>
          <p:nvPr/>
        </p:nvSpPr>
        <p:spPr>
          <a:xfrm>
            <a:off x="6472025" y="4129102"/>
            <a:ext cx="2259900" cy="12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013"/>
              <a:buFont typeface="Calibri"/>
              <a:buNone/>
            </a:pPr>
            <a:r>
              <a:rPr lang="en-US" sz="3813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106%</a:t>
            </a:r>
            <a:endParaRPr sz="3813">
              <a:solidFill>
                <a:srgbClr val="F5F5F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g3fa27e5a6fa_0_13"/>
          <p:cNvSpPr/>
          <p:nvPr/>
        </p:nvSpPr>
        <p:spPr>
          <a:xfrm>
            <a:off x="9184011" y="2978802"/>
            <a:ext cx="2758800" cy="2566200"/>
          </a:xfrm>
          <a:prstGeom prst="roundRect">
            <a:avLst>
              <a:gd fmla="val 2222" name="adj"/>
            </a:avLst>
          </a:prstGeom>
          <a:solidFill>
            <a:srgbClr val="161616"/>
          </a:solidFill>
          <a:ln cap="flat" cmpd="sng" w="99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5625" lIns="71275" spcFirstLastPara="1" rIns="71275" wrap="square" tIns="35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g3fa27e5a6fa_0_13"/>
          <p:cNvSpPr txBox="1"/>
          <p:nvPr/>
        </p:nvSpPr>
        <p:spPr>
          <a:xfrm>
            <a:off x="9285086" y="3513267"/>
            <a:ext cx="27588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2650"/>
              <a:buFont typeface="Bookman Old Style"/>
              <a:buNone/>
            </a:pPr>
            <a:r>
              <a:rPr b="1" lang="en-US" sz="2650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Payback</a:t>
            </a:r>
            <a:endParaRPr sz="2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g3fa27e5a6fa_0_13"/>
          <p:cNvSpPr txBox="1"/>
          <p:nvPr/>
        </p:nvSpPr>
        <p:spPr>
          <a:xfrm>
            <a:off x="9433587" y="4129102"/>
            <a:ext cx="2259900" cy="12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013"/>
              <a:buFont typeface="Calibri"/>
              <a:buNone/>
            </a:pPr>
            <a:r>
              <a:rPr lang="en-US" sz="3813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6 Meses</a:t>
            </a:r>
            <a:endParaRPr sz="3813">
              <a:solidFill>
                <a:srgbClr val="F5F5F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g3fa27e5a6fa_0_13"/>
          <p:cNvSpPr txBox="1"/>
          <p:nvPr/>
        </p:nvSpPr>
        <p:spPr>
          <a:xfrm>
            <a:off x="148113" y="3513433"/>
            <a:ext cx="2758800" cy="71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2651"/>
              <a:buFont typeface="Bookman Old Style"/>
              <a:buNone/>
            </a:pPr>
            <a:r>
              <a:rPr b="1" lang="en-US" sz="2651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VAN</a:t>
            </a:r>
            <a:endParaRPr sz="265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g3fa27e5a6fa_0_13"/>
          <p:cNvSpPr txBox="1"/>
          <p:nvPr/>
        </p:nvSpPr>
        <p:spPr>
          <a:xfrm>
            <a:off x="397906" y="4297561"/>
            <a:ext cx="2259600" cy="92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013"/>
              <a:buFont typeface="Calibri"/>
              <a:buNone/>
            </a:pPr>
            <a:r>
              <a:rPr lang="en-US" sz="3813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6,5 M</a:t>
            </a:r>
            <a:endParaRPr sz="3813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ALCANCE DEL PROYECTO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 txBox="1"/>
          <p:nvPr/>
        </p:nvSpPr>
        <p:spPr>
          <a:xfrm>
            <a:off x="594360" y="7772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000"/>
              <a:buFont typeface="Bookman Old Style"/>
              <a:buNone/>
            </a:pPr>
            <a:r>
              <a:rPr b="1" lang="en-US" sz="30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Qué incluye el MVP y qué no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 txBox="1"/>
          <p:nvPr/>
        </p:nvSpPr>
        <p:spPr>
          <a:xfrm>
            <a:off x="640080" y="1417320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Primera versión funcional orientada a digitalizar la operación completa de la tienda y sincronizar el inventario entre todos los canales.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0"/>
          <p:cNvSpPr/>
          <p:nvPr/>
        </p:nvSpPr>
        <p:spPr>
          <a:xfrm>
            <a:off x="640080" y="2103120"/>
            <a:ext cx="3538728" cy="3291840"/>
          </a:xfrm>
          <a:prstGeom prst="roundRect">
            <a:avLst>
              <a:gd fmla="val 2222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914400" y="2377440"/>
            <a:ext cx="502920" cy="502920"/>
          </a:xfrm>
          <a:prstGeom prst="ellipse">
            <a:avLst/>
          </a:prstGeom>
          <a:noFill/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0"/>
          <p:cNvSpPr txBox="1"/>
          <p:nvPr/>
        </p:nvSpPr>
        <p:spPr>
          <a:xfrm>
            <a:off x="914400" y="23774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2000"/>
              <a:buFont typeface="Bookman Old Style"/>
              <a:buNone/>
            </a:pPr>
            <a:r>
              <a:rPr b="1" lang="en-US" sz="2000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✓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0"/>
          <p:cNvSpPr txBox="1"/>
          <p:nvPr/>
        </p:nvSpPr>
        <p:spPr>
          <a:xfrm>
            <a:off x="914400" y="3063240"/>
            <a:ext cx="299008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500"/>
              <a:buFont typeface="Bookman Old Style"/>
              <a:buNone/>
            </a:pPr>
            <a:r>
              <a:rPr b="1" lang="en-US" sz="15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Sí contempla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0"/>
          <p:cNvSpPr txBox="1"/>
          <p:nvPr/>
        </p:nvSpPr>
        <p:spPr>
          <a:xfrm>
            <a:off x="914400" y="3703320"/>
            <a:ext cx="299008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Sincronización de stock entre POS, web y bodega · POS para ventas presenciales · E-commerce con catálogo y carrito · Autenticación y roles (RBAC) con Firebase · Pagos con Webpay Plus · Envíos con API Starken · Dashboard con indicadores.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0"/>
          <p:cNvSpPr/>
          <p:nvPr/>
        </p:nvSpPr>
        <p:spPr>
          <a:xfrm>
            <a:off x="4498848" y="2103120"/>
            <a:ext cx="3538728" cy="3291840"/>
          </a:xfrm>
          <a:prstGeom prst="roundRect">
            <a:avLst>
              <a:gd fmla="val 2222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0"/>
          <p:cNvSpPr/>
          <p:nvPr/>
        </p:nvSpPr>
        <p:spPr>
          <a:xfrm>
            <a:off x="4773168" y="2377440"/>
            <a:ext cx="502920" cy="502920"/>
          </a:xfrm>
          <a:prstGeom prst="ellipse">
            <a:avLst/>
          </a:prstGeom>
          <a:noFill/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0"/>
          <p:cNvSpPr txBox="1"/>
          <p:nvPr/>
        </p:nvSpPr>
        <p:spPr>
          <a:xfrm>
            <a:off x="4773168" y="23774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2000"/>
              <a:buFont typeface="Bookman Old Style"/>
              <a:buNone/>
            </a:pPr>
            <a:r>
              <a:rPr b="1" lang="en-US" sz="2000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✕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0"/>
          <p:cNvSpPr txBox="1"/>
          <p:nvPr/>
        </p:nvSpPr>
        <p:spPr>
          <a:xfrm>
            <a:off x="4773168" y="3063240"/>
            <a:ext cx="299008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500"/>
              <a:buFont typeface="Bookman Old Style"/>
              <a:buNone/>
            </a:pPr>
            <a:r>
              <a:rPr b="1" lang="en-US" sz="15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No contempla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 txBox="1"/>
          <p:nvPr/>
        </p:nvSpPr>
        <p:spPr>
          <a:xfrm>
            <a:off x="4773168" y="3703320"/>
            <a:ext cx="299008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Facturación electrónica con el SII · Integración con ERP externos (Softland, Defontana) · Marketplace multivendedor · App móvil para clientes · Gestión automática de proveedores · Programa de fidelización · Analítica con IA.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0"/>
          <p:cNvSpPr/>
          <p:nvPr/>
        </p:nvSpPr>
        <p:spPr>
          <a:xfrm>
            <a:off x="8357616" y="2103120"/>
            <a:ext cx="3538728" cy="3291840"/>
          </a:xfrm>
          <a:prstGeom prst="roundRect">
            <a:avLst>
              <a:gd fmla="val 2222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8631936" y="2377440"/>
            <a:ext cx="502920" cy="502920"/>
          </a:xfrm>
          <a:prstGeom prst="ellipse">
            <a:avLst/>
          </a:prstGeom>
          <a:noFill/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0"/>
          <p:cNvSpPr txBox="1"/>
          <p:nvPr/>
        </p:nvSpPr>
        <p:spPr>
          <a:xfrm>
            <a:off x="8631936" y="23774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2000"/>
              <a:buFont typeface="Bookman Old Style"/>
              <a:buNone/>
            </a:pPr>
            <a:r>
              <a:rPr b="1" lang="en-US" sz="2000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i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0"/>
          <p:cNvSpPr txBox="1"/>
          <p:nvPr/>
        </p:nvSpPr>
        <p:spPr>
          <a:xfrm>
            <a:off x="8631936" y="3063240"/>
            <a:ext cx="299008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500"/>
              <a:buFont typeface="Bookman Old Style"/>
              <a:buNone/>
            </a:pPr>
            <a:r>
              <a:rPr b="1" lang="en-US" sz="15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Por qué este alcance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0"/>
          <p:cNvSpPr txBox="1"/>
          <p:nvPr/>
        </p:nvSpPr>
        <p:spPr>
          <a:xfrm>
            <a:off x="8631936" y="3703320"/>
            <a:ext cx="299008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El proyecto se enfoca en digitalizar la operación comercial de una tienda física de ropa rock. Facturación, ERP e inteligencia artificial quedan como trabajo futuro, para mantener un alcance viable en 12 semanas.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0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ADOPTION STRATEGY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7"/>
          <p:cNvSpPr txBox="1"/>
          <p:nvPr/>
        </p:nvSpPr>
        <p:spPr>
          <a:xfrm>
            <a:off x="594360" y="7772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000"/>
              <a:buFont typeface="Bookman Old Style"/>
              <a:buNone/>
            </a:pPr>
            <a:r>
              <a:rPr b="1" lang="en-US" sz="30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Cómo hacemos la transición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7"/>
          <p:cNvSpPr txBox="1"/>
          <p:nvPr/>
        </p:nvSpPr>
        <p:spPr>
          <a:xfrm>
            <a:off x="640080" y="141732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Tres etapas para que el equipo y los clientes migren del papel a la plataforma sin frenar las ventas.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7" name="Google Shape;307;p7"/>
          <p:cNvCxnSpPr/>
          <p:nvPr/>
        </p:nvCxnSpPr>
        <p:spPr>
          <a:xfrm>
            <a:off x="1417320" y="3200400"/>
            <a:ext cx="9326880" cy="0"/>
          </a:xfrm>
          <a:prstGeom prst="straightConnector1">
            <a:avLst/>
          </a:prstGeom>
          <a:noFill/>
          <a:ln cap="flat" cmpd="sng" w="254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8" name="Google Shape;308;p7"/>
          <p:cNvSpPr/>
          <p:nvPr/>
        </p:nvSpPr>
        <p:spPr>
          <a:xfrm>
            <a:off x="2103120" y="2834640"/>
            <a:ext cx="731520" cy="731520"/>
          </a:xfrm>
          <a:prstGeom prst="ellipse">
            <a:avLst/>
          </a:prstGeom>
          <a:solidFill>
            <a:srgbClr val="D7263D"/>
          </a:solidFill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7"/>
          <p:cNvSpPr txBox="1"/>
          <p:nvPr/>
        </p:nvSpPr>
        <p:spPr>
          <a:xfrm>
            <a:off x="2103120" y="283464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2200"/>
              <a:buFont typeface="Bookman Old Style"/>
              <a:buNone/>
            </a:pPr>
            <a:r>
              <a:rPr b="1" lang="en-US" sz="22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7"/>
          <p:cNvSpPr txBox="1"/>
          <p:nvPr/>
        </p:nvSpPr>
        <p:spPr>
          <a:xfrm>
            <a:off x="822960" y="379476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500"/>
              <a:buFont typeface="Bookman Old Style"/>
              <a:buNone/>
            </a:pPr>
            <a:r>
              <a:rPr b="1" lang="en-US" sz="15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Migración y etiquetado masivo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7"/>
          <p:cNvSpPr txBox="1"/>
          <p:nvPr/>
        </p:nvSpPr>
        <p:spPr>
          <a:xfrm>
            <a:off x="822960" y="4434840"/>
            <a:ext cx="3291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Cierre del proceso en papel e inyección de códigos QR/SKU a todo el inventario existente.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7"/>
          <p:cNvSpPr/>
          <p:nvPr/>
        </p:nvSpPr>
        <p:spPr>
          <a:xfrm>
            <a:off x="5852160" y="2834640"/>
            <a:ext cx="731520" cy="731520"/>
          </a:xfrm>
          <a:prstGeom prst="ellipse">
            <a:avLst/>
          </a:prstGeom>
          <a:solidFill>
            <a:srgbClr val="D7263D"/>
          </a:solidFill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7"/>
          <p:cNvSpPr txBox="1"/>
          <p:nvPr/>
        </p:nvSpPr>
        <p:spPr>
          <a:xfrm>
            <a:off x="5852160" y="283464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2200"/>
              <a:buFont typeface="Bookman Old Style"/>
              <a:buNone/>
            </a:pPr>
            <a:r>
              <a:rPr b="1" lang="en-US" sz="22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7"/>
          <p:cNvSpPr txBox="1"/>
          <p:nvPr/>
        </p:nvSpPr>
        <p:spPr>
          <a:xfrm>
            <a:off x="4572000" y="379476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500"/>
              <a:buFont typeface="Bookman Old Style"/>
              <a:buNone/>
            </a:pPr>
            <a:r>
              <a:rPr b="1" lang="en-US" sz="15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Capacitación práctica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7"/>
          <p:cNvSpPr txBox="1"/>
          <p:nvPr/>
        </p:nvSpPr>
        <p:spPr>
          <a:xfrm>
            <a:off x="4572000" y="4434840"/>
            <a:ext cx="3291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Entrenamiento con la app móvil para el equipo de bodega, antes del lanzamiento de la tienda web.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7"/>
          <p:cNvSpPr/>
          <p:nvPr/>
        </p:nvSpPr>
        <p:spPr>
          <a:xfrm>
            <a:off x="9601200" y="2834640"/>
            <a:ext cx="731520" cy="731520"/>
          </a:xfrm>
          <a:prstGeom prst="ellipse">
            <a:avLst/>
          </a:prstGeom>
          <a:solidFill>
            <a:srgbClr val="D7263D"/>
          </a:solidFill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7"/>
          <p:cNvSpPr txBox="1"/>
          <p:nvPr/>
        </p:nvSpPr>
        <p:spPr>
          <a:xfrm>
            <a:off x="9601200" y="283464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2200"/>
              <a:buFont typeface="Bookman Old Style"/>
              <a:buNone/>
            </a:pPr>
            <a:r>
              <a:rPr b="1" lang="en-US" sz="22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7"/>
          <p:cNvSpPr txBox="1"/>
          <p:nvPr/>
        </p:nvSpPr>
        <p:spPr>
          <a:xfrm>
            <a:off x="8321040" y="379476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500"/>
              <a:buFont typeface="Bookman Old Style"/>
              <a:buNone/>
            </a:pPr>
            <a:r>
              <a:rPr b="1" lang="en-US" sz="15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Lanzamiento omnicanal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7"/>
          <p:cNvSpPr txBox="1"/>
          <p:nvPr/>
        </p:nvSpPr>
        <p:spPr>
          <a:xfrm>
            <a:off x="8321040" y="4434840"/>
            <a:ext cx="3291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Publicación del e-commerce conectado a Starken y comunicación del nuevo sistema de stock garantizado.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7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METODOLOGÍA DE TRABAJO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7"/>
          <p:cNvSpPr txBox="1"/>
          <p:nvPr/>
        </p:nvSpPr>
        <p:spPr>
          <a:xfrm>
            <a:off x="594360" y="7772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000"/>
              <a:buFont typeface="Bookman Old Style"/>
              <a:buNone/>
            </a:pPr>
            <a:r>
              <a:rPr b="1" lang="en-US" sz="30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Scrum: MVP en 12 semanas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7"/>
          <p:cNvSpPr txBox="1"/>
          <p:nvPr/>
        </p:nvSpPr>
        <p:spPr>
          <a:xfrm>
            <a:off x="640080" y="141732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El desarrollo se organiza en sprints cortos, con revisión y retrospectiva cada 3 semanas para ajustar el alcance sobre la marcha.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7" name="Google Shape;307;p7"/>
          <p:cNvCxnSpPr/>
          <p:nvPr/>
        </p:nvCxnSpPr>
        <p:spPr>
          <a:xfrm>
            <a:off x="1417320" y="3200400"/>
            <a:ext cx="9326880" cy="0"/>
          </a:xfrm>
          <a:prstGeom prst="straightConnector1">
            <a:avLst/>
          </a:prstGeom>
          <a:noFill/>
          <a:ln cap="flat" cmpd="sng" w="254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8" name="Google Shape;308;p7"/>
          <p:cNvSpPr/>
          <p:nvPr/>
        </p:nvSpPr>
        <p:spPr>
          <a:xfrm>
            <a:off x="2103120" y="2834640"/>
            <a:ext cx="731520" cy="731520"/>
          </a:xfrm>
          <a:prstGeom prst="ellipse">
            <a:avLst/>
          </a:prstGeom>
          <a:solidFill>
            <a:srgbClr val="D7263D"/>
          </a:solidFill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7"/>
          <p:cNvSpPr txBox="1"/>
          <p:nvPr/>
        </p:nvSpPr>
        <p:spPr>
          <a:xfrm>
            <a:off x="2103120" y="283464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2200"/>
              <a:buFont typeface="Bookman Old Style"/>
              <a:buNone/>
            </a:pPr>
            <a:r>
              <a:rPr b="1" lang="en-US" sz="22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7"/>
          <p:cNvSpPr txBox="1"/>
          <p:nvPr/>
        </p:nvSpPr>
        <p:spPr>
          <a:xfrm>
            <a:off x="822960" y="379476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500"/>
              <a:buFont typeface="Bookman Old Style"/>
              <a:buNone/>
            </a:pPr>
            <a:r>
              <a:rPr b="1" lang="en-US" sz="15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Sprint Planning y arquitectura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7"/>
          <p:cNvSpPr txBox="1"/>
          <p:nvPr/>
        </p:nvSpPr>
        <p:spPr>
          <a:xfrm>
            <a:off x="822960" y="4434840"/>
            <a:ext cx="3291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Definición de backlog, diseño de la arquitectura SOA y de la base de datos en PostgreSQL.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7"/>
          <p:cNvSpPr/>
          <p:nvPr/>
        </p:nvSpPr>
        <p:spPr>
          <a:xfrm>
            <a:off x="5852160" y="2834640"/>
            <a:ext cx="731520" cy="731520"/>
          </a:xfrm>
          <a:prstGeom prst="ellipse">
            <a:avLst/>
          </a:prstGeom>
          <a:solidFill>
            <a:srgbClr val="D7263D"/>
          </a:solidFill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7"/>
          <p:cNvSpPr txBox="1"/>
          <p:nvPr/>
        </p:nvSpPr>
        <p:spPr>
          <a:xfrm>
            <a:off x="5852160" y="283464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2200"/>
              <a:buFont typeface="Bookman Old Style"/>
              <a:buNone/>
            </a:pPr>
            <a:r>
              <a:rPr b="1" lang="en-US" sz="22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7"/>
          <p:cNvSpPr txBox="1"/>
          <p:nvPr/>
        </p:nvSpPr>
        <p:spPr>
          <a:xfrm>
            <a:off x="4572000" y="379476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500"/>
              <a:buFont typeface="Bookman Old Style"/>
              <a:buNone/>
            </a:pPr>
            <a:r>
              <a:rPr b="1" lang="en-US" sz="15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Sprints de desarrollo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7"/>
          <p:cNvSpPr txBox="1"/>
          <p:nvPr/>
        </p:nvSpPr>
        <p:spPr>
          <a:xfrm>
            <a:off x="4572000" y="4434840"/>
            <a:ext cx="3291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Construcción incremental del POS, la app de bodega en Ionic Angular y el e-commerce, con Sprint Review y Retrospectiva cada 3 semanas.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7"/>
          <p:cNvSpPr/>
          <p:nvPr/>
        </p:nvSpPr>
        <p:spPr>
          <a:xfrm>
            <a:off x="9601200" y="2834640"/>
            <a:ext cx="731520" cy="731520"/>
          </a:xfrm>
          <a:prstGeom prst="ellipse">
            <a:avLst/>
          </a:prstGeom>
          <a:solidFill>
            <a:srgbClr val="D7263D"/>
          </a:solidFill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7"/>
          <p:cNvSpPr txBox="1"/>
          <p:nvPr/>
        </p:nvSpPr>
        <p:spPr>
          <a:xfrm>
            <a:off x="9601200" y="283464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2200"/>
              <a:buFont typeface="Bookman Old Style"/>
              <a:buNone/>
            </a:pPr>
            <a:r>
              <a:rPr b="1" lang="en-US" sz="22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7"/>
          <p:cNvSpPr txBox="1"/>
          <p:nvPr/>
        </p:nvSpPr>
        <p:spPr>
          <a:xfrm>
            <a:off x="8321040" y="379476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500"/>
              <a:buFont typeface="Bookman Old Style"/>
              <a:buNone/>
            </a:pPr>
            <a:r>
              <a:rPr b="1" lang="en-US" sz="15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Sprint final: testing y piloto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7"/>
          <p:cNvSpPr txBox="1"/>
          <p:nvPr/>
        </p:nvSpPr>
        <p:spPr>
          <a:xfrm>
            <a:off x="8321040" y="4434840"/>
            <a:ext cx="3291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Integración de Webpay y Starken, pruebas funcionales y marcha blanca con el equipo antes del lanzamiento.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7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PLAN DE TRABAJO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 txBox="1"/>
          <p:nvPr/>
        </p:nvSpPr>
        <p:spPr>
          <a:xfrm>
            <a:off x="594360" y="7772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000"/>
              <a:buFont typeface="Bookman Old Style"/>
              <a:buNone/>
            </a:pPr>
            <a:r>
              <a:rPr b="1" lang="en-US" sz="30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Plan QQCC (Qué, Quién, Cuánto, Cuándo)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 txBox="1"/>
          <p:nvPr/>
        </p:nvSpPr>
        <p:spPr>
          <a:xfrm>
            <a:off x="640080" y="141732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Asignación del equipo de desarrollo: qué se construye, quién lo hace, cuándo y su costo asociado.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2" name="Table 101"/>
          <p:cNvGraphicFramePr>
            <a:graphicFrameLocks noGrp="1"/>
          </p:cNvGraphicFramePr>
          <p:nvPr/>
        </p:nvGraphicFramePr>
        <p:xfrm>
          <a:off x="640080" y="1900000"/>
          <a:ext cx="10911838" cy="3960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710025"/>
                <a:gridCol w="2618841"/>
                <a:gridCol w="1964131"/>
                <a:gridCol w="2618841"/>
              </a:tblGrid>
              <a:tr h="44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2F2F2"/>
                          </a:solidFill>
                          <a:latin typeface="Calibri"/>
                        </a:rPr>
                        <a:t>Qué</a:t>
                      </a:r>
                    </a:p>
                  </a:txBody>
                  <a:tcPr marL="120000" marR="120000" marT="50000" marB="50000" anchor="ctr">
                    <a:solidFill>
                      <a:srgbClr val="D726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2F2F2"/>
                          </a:solidFill>
                          <a:latin typeface="Calibri"/>
                        </a:rPr>
                        <a:t>Quién</a:t>
                      </a:r>
                    </a:p>
                  </a:txBody>
                  <a:tcPr marL="120000" marR="120000" marT="50000" marB="50000" anchor="ctr">
                    <a:solidFill>
                      <a:srgbClr val="D726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2F2F2"/>
                          </a:solidFill>
                          <a:latin typeface="Calibri"/>
                        </a:rPr>
                        <a:t>Cuándo</a:t>
                      </a:r>
                    </a:p>
                  </a:txBody>
                  <a:tcPr marL="120000" marR="120000" marT="50000" marB="50000" anchor="ctr">
                    <a:solidFill>
                      <a:srgbClr val="D726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2F2F2"/>
                          </a:solidFill>
                          <a:latin typeface="Calibri"/>
                        </a:rPr>
                        <a:t>Costo asociado</a:t>
                      </a:r>
                    </a:p>
                  </a:txBody>
                  <a:tcPr marL="120000" marR="120000" marT="50000" marB="50000" anchor="ctr">
                    <a:solidFill>
                      <a:srgbClr val="D7263D"/>
                    </a:solidFill>
                  </a:tcPr>
                </a:tc>
              </a:tr>
              <a:tr h="44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2F2F2"/>
                          </a:solidFill>
                          <a:latin typeface="Calibri"/>
                        </a:rPr>
                        <a:t>Arquitectura SOA</a:t>
                      </a:r>
                    </a:p>
                  </a:txBody>
                  <a:tcPr marL="120000" marR="120000" marT="50000" marB="5000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0B0B0"/>
                          </a:solidFill>
                          <a:latin typeface="Calibri"/>
                        </a:rPr>
                        <a:t>Dev 3</a:t>
                      </a:r>
                    </a:p>
                  </a:txBody>
                  <a:tcPr marL="120000" marR="120000" marT="50000" marB="5000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0B0B0"/>
                          </a:solidFill>
                          <a:latin typeface="Calibri"/>
                        </a:rPr>
                        <a:t>Septiembre</a:t>
                      </a:r>
                    </a:p>
                  </a:txBody>
                  <a:tcPr marL="120000" marR="120000" marT="50000" marB="5000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0B0B0"/>
                          </a:solidFill>
                          <a:latin typeface="Calibri"/>
                        </a:rPr>
                        <a:t>$600.000</a:t>
                      </a:r>
                    </a:p>
                  </a:txBody>
                  <a:tcPr marL="120000" marR="120000" marT="50000" marB="50000" anchor="ctr">
                    <a:solidFill>
                      <a:srgbClr val="161616"/>
                    </a:solidFill>
                  </a:tcPr>
                </a:tc>
              </a:tr>
              <a:tr h="44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2F2F2"/>
                          </a:solidFill>
                          <a:latin typeface="Calibri"/>
                        </a:rPr>
                        <a:t>Base de datos</a:t>
                      </a:r>
                    </a:p>
                  </a:txBody>
                  <a:tcPr marL="120000" marR="120000" marT="50000" marB="5000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0B0B0"/>
                          </a:solidFill>
                          <a:latin typeface="Calibri"/>
                        </a:rPr>
                        <a:t>Dev 2</a:t>
                      </a:r>
                    </a:p>
                  </a:txBody>
                  <a:tcPr marL="120000" marR="120000" marT="50000" marB="5000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0B0B0"/>
                          </a:solidFill>
                          <a:latin typeface="Calibri"/>
                        </a:rPr>
                        <a:t>Septiembre</a:t>
                      </a:r>
                    </a:p>
                  </a:txBody>
                  <a:tcPr marL="120000" marR="120000" marT="50000" marB="5000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0B0B0"/>
                          </a:solidFill>
                          <a:latin typeface="Calibri"/>
                        </a:rPr>
                        <a:t>$600.000</a:t>
                      </a:r>
                    </a:p>
                  </a:txBody>
                  <a:tcPr marL="120000" marR="120000" marT="50000" marB="50000" anchor="ctr">
                    <a:solidFill>
                      <a:srgbClr val="161616"/>
                    </a:solidFill>
                  </a:tcPr>
                </a:tc>
              </a:tr>
              <a:tr h="44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2F2F2"/>
                          </a:solidFill>
                          <a:latin typeface="Calibri"/>
                        </a:rPr>
                        <a:t>UI/UX React + Ionic</a:t>
                      </a:r>
                    </a:p>
                  </a:txBody>
                  <a:tcPr marL="120000" marR="120000" marT="50000" marB="5000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0B0B0"/>
                          </a:solidFill>
                          <a:latin typeface="Calibri"/>
                        </a:rPr>
                        <a:t>Dev 1</a:t>
                      </a:r>
                    </a:p>
                  </a:txBody>
                  <a:tcPr marL="120000" marR="120000" marT="50000" marB="5000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0B0B0"/>
                          </a:solidFill>
                          <a:latin typeface="Calibri"/>
                        </a:rPr>
                        <a:t>Septiembre</a:t>
                      </a:r>
                    </a:p>
                  </a:txBody>
                  <a:tcPr marL="120000" marR="120000" marT="50000" marB="5000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0B0B0"/>
                          </a:solidFill>
                          <a:latin typeface="Calibri"/>
                        </a:rPr>
                        <a:t>$600.000</a:t>
                      </a:r>
                    </a:p>
                  </a:txBody>
                  <a:tcPr marL="120000" marR="120000" marT="50000" marB="50000" anchor="ctr">
                    <a:solidFill>
                      <a:srgbClr val="161616"/>
                    </a:solidFill>
                  </a:tcPr>
                </a:tc>
              </a:tr>
              <a:tr h="44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2F2F2"/>
                          </a:solidFill>
                          <a:latin typeface="Calibri"/>
                        </a:rPr>
                        <a:t>POS + Inventario</a:t>
                      </a:r>
                    </a:p>
                  </a:txBody>
                  <a:tcPr marL="120000" marR="120000" marT="50000" marB="5000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0B0B0"/>
                          </a:solidFill>
                          <a:latin typeface="Calibri"/>
                        </a:rPr>
                        <a:t>Dev 2 y Dev 3</a:t>
                      </a:r>
                    </a:p>
                  </a:txBody>
                  <a:tcPr marL="120000" marR="120000" marT="50000" marB="5000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0B0B0"/>
                          </a:solidFill>
                          <a:latin typeface="Calibri"/>
                        </a:rPr>
                        <a:t>Octubre</a:t>
                      </a:r>
                    </a:p>
                  </a:txBody>
                  <a:tcPr marL="120000" marR="120000" marT="50000" marB="5000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0B0B0"/>
                          </a:solidFill>
                          <a:latin typeface="Calibri"/>
                        </a:rPr>
                        <a:t>$1.800.000</a:t>
                      </a:r>
                    </a:p>
                  </a:txBody>
                  <a:tcPr marL="120000" marR="120000" marT="50000" marB="50000" anchor="ctr">
                    <a:solidFill>
                      <a:srgbClr val="161616"/>
                    </a:solidFill>
                  </a:tcPr>
                </a:tc>
              </a:tr>
              <a:tr h="44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2F2F2"/>
                          </a:solidFill>
                          <a:latin typeface="Calibri"/>
                        </a:rPr>
                        <a:t>E-commerce + Webpay</a:t>
                      </a:r>
                    </a:p>
                  </a:txBody>
                  <a:tcPr marL="120000" marR="120000" marT="50000" marB="5000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0B0B0"/>
                          </a:solidFill>
                          <a:latin typeface="Calibri"/>
                        </a:rPr>
                        <a:t>Dev 1 y Dev 3</a:t>
                      </a:r>
                    </a:p>
                  </a:txBody>
                  <a:tcPr marL="120000" marR="120000" marT="50000" marB="5000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0B0B0"/>
                          </a:solidFill>
                          <a:latin typeface="Calibri"/>
                        </a:rPr>
                        <a:t>Noviembre</a:t>
                      </a:r>
                    </a:p>
                  </a:txBody>
                  <a:tcPr marL="120000" marR="120000" marT="50000" marB="5000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0B0B0"/>
                          </a:solidFill>
                          <a:latin typeface="Calibri"/>
                        </a:rPr>
                        <a:t>$1.800.000</a:t>
                      </a:r>
                    </a:p>
                  </a:txBody>
                  <a:tcPr marL="120000" marR="120000" marT="50000" marB="50000" anchor="ctr">
                    <a:solidFill>
                      <a:srgbClr val="161616"/>
                    </a:solidFill>
                  </a:tcPr>
                </a:tc>
              </a:tr>
              <a:tr h="44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2F2F2"/>
                          </a:solidFill>
                          <a:latin typeface="Calibri"/>
                        </a:rPr>
                        <a:t>Dashboard + Starken</a:t>
                      </a:r>
                    </a:p>
                  </a:txBody>
                  <a:tcPr marL="120000" marR="120000" marT="50000" marB="5000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0B0B0"/>
                          </a:solidFill>
                          <a:latin typeface="Calibri"/>
                        </a:rPr>
                        <a:t>Todo el equipo</a:t>
                      </a:r>
                    </a:p>
                  </a:txBody>
                  <a:tcPr marL="120000" marR="120000" marT="50000" marB="5000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0B0B0"/>
                          </a:solidFill>
                          <a:latin typeface="Calibri"/>
                        </a:rPr>
                        <a:t>Noviembre</a:t>
                      </a:r>
                    </a:p>
                  </a:txBody>
                  <a:tcPr marL="120000" marR="120000" marT="50000" marB="5000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0B0B0"/>
                          </a:solidFill>
                          <a:latin typeface="Calibri"/>
                        </a:rPr>
                        <a:t>Incluido</a:t>
                      </a:r>
                    </a:p>
                  </a:txBody>
                  <a:tcPr marL="120000" marR="120000" marT="50000" marB="50000" anchor="ctr">
                    <a:solidFill>
                      <a:srgbClr val="161616"/>
                    </a:solidFill>
                  </a:tcPr>
                </a:tc>
              </a:tr>
              <a:tr h="44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2F2F2"/>
                          </a:solidFill>
                          <a:latin typeface="Calibri"/>
                        </a:rPr>
                        <a:t>Piloto + Capacitación</a:t>
                      </a:r>
                    </a:p>
                  </a:txBody>
                  <a:tcPr marL="120000" marR="120000" marT="50000" marB="5000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0B0B0"/>
                          </a:solidFill>
                          <a:latin typeface="Calibri"/>
                        </a:rPr>
                        <a:t>Todo el equipo</a:t>
                      </a:r>
                    </a:p>
                  </a:txBody>
                  <a:tcPr marL="120000" marR="120000" marT="50000" marB="5000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0B0B0"/>
                          </a:solidFill>
                          <a:latin typeface="Calibri"/>
                        </a:rPr>
                        <a:t>Diciembre</a:t>
                      </a:r>
                    </a:p>
                  </a:txBody>
                  <a:tcPr marL="120000" marR="120000" marT="50000" marB="5000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0B0B0"/>
                          </a:solidFill>
                          <a:latin typeface="Calibri"/>
                        </a:rPr>
                        <a:t>$1.400.000</a:t>
                      </a:r>
                    </a:p>
                  </a:txBody>
                  <a:tcPr marL="120000" marR="120000" marT="50000" marB="50000" anchor="ctr">
                    <a:solidFill>
                      <a:srgbClr val="161616"/>
                    </a:solidFill>
                  </a:tcPr>
                </a:tc>
              </a:tr>
              <a:tr h="44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2F2F2"/>
                          </a:solidFill>
                          <a:latin typeface="Calibri"/>
                        </a:rPr>
                        <a:t>Total inversión</a:t>
                      </a:r>
                    </a:p>
                  </a:txBody>
                  <a:tcPr marL="120000" marR="120000" marT="50000" marB="50000" anchor="ctr">
                    <a:solidFill>
                      <a:srgbClr val="2222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B0B0B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20000" marR="120000" marT="50000" marB="50000" anchor="ctr">
                    <a:solidFill>
                      <a:srgbClr val="2222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B0B0B0"/>
                          </a:solidFill>
                          <a:latin typeface="Calibri"/>
                        </a:rPr>
                        <a:t>12 semanas</a:t>
                      </a:r>
                    </a:p>
                  </a:txBody>
                  <a:tcPr marL="120000" marR="120000" marT="50000" marB="50000" anchor="ctr">
                    <a:solidFill>
                      <a:srgbClr val="2222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2F2F2"/>
                          </a:solidFill>
                          <a:latin typeface="Calibri"/>
                        </a:rPr>
                        <a:t>$6.800.000</a:t>
                      </a:r>
                    </a:p>
                  </a:txBody>
                  <a:tcPr marL="120000" marR="120000" marT="50000" marB="50000" anchor="ctr">
                    <a:solidFill>
                      <a:srgbClr val="2222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BUDGET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 txBox="1"/>
          <p:nvPr/>
        </p:nvSpPr>
        <p:spPr>
          <a:xfrm>
            <a:off x="594360" y="7772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000"/>
              <a:buFont typeface="Bookman Old Style"/>
              <a:buNone/>
            </a:pPr>
            <a:r>
              <a:rPr b="1" lang="en-US" sz="30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Dónde se invierte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 txBox="1"/>
          <p:nvPr/>
        </p:nvSpPr>
        <p:spPr>
          <a:xfrm>
            <a:off x="640080" y="1417320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Tres frentes de inversión para pasar del papel a una plataforma conectada de punta a punta.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0"/>
          <p:cNvSpPr/>
          <p:nvPr/>
        </p:nvSpPr>
        <p:spPr>
          <a:xfrm>
            <a:off x="640080" y="2103120"/>
            <a:ext cx="3538728" cy="3291840"/>
          </a:xfrm>
          <a:prstGeom prst="roundRect">
            <a:avLst>
              <a:gd fmla="val 2222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914400" y="2377440"/>
            <a:ext cx="502920" cy="502920"/>
          </a:xfrm>
          <a:prstGeom prst="ellipse">
            <a:avLst/>
          </a:prstGeom>
          <a:noFill/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0"/>
          <p:cNvSpPr txBox="1"/>
          <p:nvPr/>
        </p:nvSpPr>
        <p:spPr>
          <a:xfrm>
            <a:off x="914400" y="23774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2000"/>
              <a:buFont typeface="Bookman Old Style"/>
              <a:buNone/>
            </a:pPr>
            <a:r>
              <a:rPr b="1" lang="en-US" sz="2000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$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0"/>
          <p:cNvSpPr txBox="1"/>
          <p:nvPr/>
        </p:nvSpPr>
        <p:spPr>
          <a:xfrm>
            <a:off x="914400" y="3063240"/>
            <a:ext cx="299008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500"/>
              <a:buFont typeface="Bookman Old Style"/>
              <a:buNone/>
            </a:pPr>
            <a:r>
              <a:rPr b="1" lang="en-US" sz="15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Desarrollo de software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0"/>
          <p:cNvSpPr txBox="1"/>
          <p:nvPr/>
        </p:nvSpPr>
        <p:spPr>
          <a:xfrm>
            <a:off x="914400" y="3703320"/>
            <a:ext cx="299008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Honorarios de desarrollo de los equipos de e-commerce web, app móvil (gestión de inventario) y panel financiero.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0"/>
          <p:cNvSpPr/>
          <p:nvPr/>
        </p:nvSpPr>
        <p:spPr>
          <a:xfrm>
            <a:off x="4498848" y="2103120"/>
            <a:ext cx="3538728" cy="3291840"/>
          </a:xfrm>
          <a:prstGeom prst="roundRect">
            <a:avLst>
              <a:gd fmla="val 2222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0"/>
          <p:cNvSpPr/>
          <p:nvPr/>
        </p:nvSpPr>
        <p:spPr>
          <a:xfrm>
            <a:off x="4773168" y="2377440"/>
            <a:ext cx="502920" cy="502920"/>
          </a:xfrm>
          <a:prstGeom prst="ellipse">
            <a:avLst/>
          </a:prstGeom>
          <a:noFill/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0"/>
          <p:cNvSpPr txBox="1"/>
          <p:nvPr/>
        </p:nvSpPr>
        <p:spPr>
          <a:xfrm>
            <a:off x="4773168" y="23774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2000"/>
              <a:buFont typeface="Bookman Old Style"/>
              <a:buNone/>
            </a:pPr>
            <a:r>
              <a:rPr b="1" lang="en-US" sz="2000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$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0"/>
          <p:cNvSpPr txBox="1"/>
          <p:nvPr/>
        </p:nvSpPr>
        <p:spPr>
          <a:xfrm>
            <a:off x="4773168" y="3063240"/>
            <a:ext cx="299008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500"/>
              <a:buFont typeface="Bookman Old Style"/>
              <a:buNone/>
            </a:pPr>
            <a:r>
              <a:rPr b="1" lang="en-US" sz="15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Hardware e infraestructura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 txBox="1"/>
          <p:nvPr/>
        </p:nvSpPr>
        <p:spPr>
          <a:xfrm>
            <a:off x="4773168" y="3703320"/>
            <a:ext cx="299008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Colectores de datos para bodega, impresoras térmicas de etiquetas y servicios de hosting web.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0"/>
          <p:cNvSpPr/>
          <p:nvPr/>
        </p:nvSpPr>
        <p:spPr>
          <a:xfrm>
            <a:off x="8357616" y="2103120"/>
            <a:ext cx="3538728" cy="3291840"/>
          </a:xfrm>
          <a:prstGeom prst="roundRect">
            <a:avLst>
              <a:gd fmla="val 2222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8631936" y="2377440"/>
            <a:ext cx="502920" cy="502920"/>
          </a:xfrm>
          <a:prstGeom prst="ellipse">
            <a:avLst/>
          </a:prstGeom>
          <a:noFill/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0"/>
          <p:cNvSpPr txBox="1"/>
          <p:nvPr/>
        </p:nvSpPr>
        <p:spPr>
          <a:xfrm>
            <a:off x="8631936" y="23774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2000"/>
              <a:buFont typeface="Bookman Old Style"/>
              <a:buNone/>
            </a:pPr>
            <a:r>
              <a:rPr b="1" lang="en-US" sz="2000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$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0"/>
          <p:cNvSpPr txBox="1"/>
          <p:nvPr/>
        </p:nvSpPr>
        <p:spPr>
          <a:xfrm>
            <a:off x="8631936" y="3063240"/>
            <a:ext cx="299008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500"/>
              <a:buFont typeface="Bookman Old Style"/>
              <a:buNone/>
            </a:pPr>
            <a:r>
              <a:rPr b="1" lang="en-US" sz="15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Integración y servicios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0"/>
          <p:cNvSpPr txBox="1"/>
          <p:nvPr/>
        </p:nvSpPr>
        <p:spPr>
          <a:xfrm>
            <a:off x="8631936" y="3703320"/>
            <a:ext cx="299008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Tarifas de pasarelas de pago, APIs de envío (Starken) y mantenimiento continuo del sistema.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0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ENTREGABLES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 txBox="1"/>
          <p:nvPr/>
        </p:nvSpPr>
        <p:spPr>
          <a:xfrm>
            <a:off x="594360" y="7772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000"/>
              <a:buFont typeface="Bookman Old Style"/>
              <a:buNone/>
            </a:pPr>
            <a:r>
              <a:rPr b="1" lang="en-US" sz="30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Qué se entrega al finalizar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 txBox="1"/>
          <p:nvPr/>
        </p:nvSpPr>
        <p:spPr>
          <a:xfrm>
            <a:off x="640080" y="1417320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Evidencias concretas que demuestran el éxito del proyecto al término del MVP de 12 semanas.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0"/>
          <p:cNvSpPr/>
          <p:nvPr/>
        </p:nvSpPr>
        <p:spPr>
          <a:xfrm>
            <a:off x="640080" y="2103120"/>
            <a:ext cx="3538728" cy="3291840"/>
          </a:xfrm>
          <a:prstGeom prst="roundRect">
            <a:avLst>
              <a:gd fmla="val 2222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914400" y="2377440"/>
            <a:ext cx="502920" cy="502920"/>
          </a:xfrm>
          <a:prstGeom prst="ellipse">
            <a:avLst/>
          </a:prstGeom>
          <a:noFill/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0"/>
          <p:cNvSpPr txBox="1"/>
          <p:nvPr/>
        </p:nvSpPr>
        <p:spPr>
          <a:xfrm>
            <a:off x="914400" y="23774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2000"/>
              <a:buFont typeface="Bookman Old Style"/>
              <a:buNone/>
            </a:pPr>
            <a:r>
              <a:rPr b="1" lang="en-US" sz="2000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⌘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0"/>
          <p:cNvSpPr txBox="1"/>
          <p:nvPr/>
        </p:nvSpPr>
        <p:spPr>
          <a:xfrm>
            <a:off x="914400" y="3063240"/>
            <a:ext cx="299008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500"/>
              <a:buFont typeface="Bookman Old Style"/>
              <a:buNone/>
            </a:pPr>
            <a:r>
              <a:rPr b="1" lang="en-US" sz="15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Software funcional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0"/>
          <p:cNvSpPr txBox="1"/>
          <p:nvPr/>
        </p:nvSpPr>
        <p:spPr>
          <a:xfrm>
            <a:off x="914400" y="3703320"/>
            <a:ext cx="299008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E-commerce web, app de bodega en Ionic Angular y panel administrativo, integrados con Webpay y Starken.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0"/>
          <p:cNvSpPr/>
          <p:nvPr/>
        </p:nvSpPr>
        <p:spPr>
          <a:xfrm>
            <a:off x="4498848" y="2103120"/>
            <a:ext cx="3538728" cy="3291840"/>
          </a:xfrm>
          <a:prstGeom prst="roundRect">
            <a:avLst>
              <a:gd fmla="val 2222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0"/>
          <p:cNvSpPr/>
          <p:nvPr/>
        </p:nvSpPr>
        <p:spPr>
          <a:xfrm>
            <a:off x="4773168" y="2377440"/>
            <a:ext cx="502920" cy="502920"/>
          </a:xfrm>
          <a:prstGeom prst="ellipse">
            <a:avLst/>
          </a:prstGeom>
          <a:noFill/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0"/>
          <p:cNvSpPr txBox="1"/>
          <p:nvPr/>
        </p:nvSpPr>
        <p:spPr>
          <a:xfrm>
            <a:off x="4773168" y="23774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2000"/>
              <a:buFont typeface="Bookman Old Style"/>
              <a:buNone/>
            </a:pPr>
            <a:r>
              <a:rPr b="1" lang="en-US" sz="2000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▤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0"/>
          <p:cNvSpPr txBox="1"/>
          <p:nvPr/>
        </p:nvSpPr>
        <p:spPr>
          <a:xfrm>
            <a:off x="4773168" y="3063240"/>
            <a:ext cx="299008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500"/>
              <a:buFont typeface="Bookman Old Style"/>
              <a:buNone/>
            </a:pPr>
            <a:r>
              <a:rPr b="1" lang="en-US" sz="15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Documentación técnica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 txBox="1"/>
          <p:nvPr/>
        </p:nvSpPr>
        <p:spPr>
          <a:xfrm>
            <a:off x="4773168" y="3703320"/>
            <a:ext cx="299008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Especificación de casos de uso, modelo de datos (3FN) y diagrama de arquitectura SOA.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0"/>
          <p:cNvSpPr/>
          <p:nvPr/>
        </p:nvSpPr>
        <p:spPr>
          <a:xfrm>
            <a:off x="8357616" y="2103120"/>
            <a:ext cx="3538728" cy="3291840"/>
          </a:xfrm>
          <a:prstGeom prst="roundRect">
            <a:avLst>
              <a:gd fmla="val 2222" name="adj"/>
            </a:avLst>
          </a:prstGeom>
          <a:solidFill>
            <a:srgbClr val="161616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8631936" y="2377440"/>
            <a:ext cx="502920" cy="502920"/>
          </a:xfrm>
          <a:prstGeom prst="ellipse">
            <a:avLst/>
          </a:prstGeom>
          <a:noFill/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0"/>
          <p:cNvSpPr txBox="1"/>
          <p:nvPr/>
        </p:nvSpPr>
        <p:spPr>
          <a:xfrm>
            <a:off x="8631936" y="23774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2000"/>
              <a:buFont typeface="Bookman Old Style"/>
              <a:buNone/>
            </a:pPr>
            <a:r>
              <a:rPr b="1" lang="en-US" sz="2000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✓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0"/>
          <p:cNvSpPr txBox="1"/>
          <p:nvPr/>
        </p:nvSpPr>
        <p:spPr>
          <a:xfrm>
            <a:off x="8631936" y="3063240"/>
            <a:ext cx="299008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500"/>
              <a:buFont typeface="Bookman Old Style"/>
              <a:buNone/>
            </a:pPr>
            <a:r>
              <a:rPr b="1" lang="en-US" sz="15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Evidencia de calidad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0"/>
          <p:cNvSpPr txBox="1"/>
          <p:nvPr/>
        </p:nvSpPr>
        <p:spPr>
          <a:xfrm>
            <a:off x="8631936" y="3703320"/>
            <a:ext cx="299008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Pruebas funcionales ejecutadas, KPIs cumplidos frente a la línea base e informe financiero (VAN, TIR, ROI, payback).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0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2"/>
          <p:cNvSpPr/>
          <p:nvPr/>
        </p:nvSpPr>
        <p:spPr>
          <a:xfrm>
            <a:off x="-2011680" y="3474720"/>
            <a:ext cx="5486400" cy="5486400"/>
          </a:xfrm>
          <a:prstGeom prst="ellipse">
            <a:avLst/>
          </a:prstGeom>
          <a:solidFill>
            <a:srgbClr val="6E0F1F">
              <a:alpha val="4509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2"/>
          <p:cNvSpPr txBox="1"/>
          <p:nvPr/>
        </p:nvSpPr>
        <p:spPr>
          <a:xfrm>
            <a:off x="640080" y="82296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PRÓXIMOS PASOS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2"/>
          <p:cNvSpPr txBox="1"/>
          <p:nvPr/>
        </p:nvSpPr>
        <p:spPr>
          <a:xfrm>
            <a:off x="594360" y="1188720"/>
            <a:ext cx="86868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4000"/>
              <a:buFont typeface="Bookman Old Style"/>
              <a:buNone/>
            </a:pPr>
            <a:r>
              <a:rPr b="1" lang="en-US" sz="40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De la carpeta al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4000"/>
              <a:buFont typeface="Bookman Old Style"/>
              <a:buNone/>
            </a:pPr>
            <a:r>
              <a:rPr b="1" lang="en-US" sz="40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dashboard en vivo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640080" y="3291840"/>
            <a:ext cx="411480" cy="411480"/>
          </a:xfrm>
          <a:prstGeom prst="ellipse">
            <a:avLst/>
          </a:prstGeom>
          <a:noFill/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2"/>
          <p:cNvSpPr txBox="1"/>
          <p:nvPr/>
        </p:nvSpPr>
        <p:spPr>
          <a:xfrm>
            <a:off x="640080" y="32918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400"/>
              <a:buFont typeface="Bookman Old Style"/>
              <a:buNone/>
            </a:pPr>
            <a:r>
              <a:rPr b="1" lang="en-US" sz="1400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2"/>
          <p:cNvSpPr txBox="1"/>
          <p:nvPr/>
        </p:nvSpPr>
        <p:spPr>
          <a:xfrm>
            <a:off x="1234440" y="324612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Validar el Opportunity Canvas con el equipo y cerrar alcance del MVP.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2"/>
          <p:cNvSpPr/>
          <p:nvPr/>
        </p:nvSpPr>
        <p:spPr>
          <a:xfrm>
            <a:off x="640080" y="3977640"/>
            <a:ext cx="411480" cy="411480"/>
          </a:xfrm>
          <a:prstGeom prst="ellipse">
            <a:avLst/>
          </a:prstGeom>
          <a:noFill/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2"/>
          <p:cNvSpPr txBox="1"/>
          <p:nvPr/>
        </p:nvSpPr>
        <p:spPr>
          <a:xfrm>
            <a:off x="640080" y="39776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400"/>
              <a:buFont typeface="Bookman Old Style"/>
              <a:buNone/>
            </a:pPr>
            <a:r>
              <a:rPr b="1" lang="en-US" sz="1400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2"/>
          <p:cNvSpPr txBox="1"/>
          <p:nvPr/>
        </p:nvSpPr>
        <p:spPr>
          <a:xfrm>
            <a:off x="1234440" y="393192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Definir presupuesto y equipo de desarrollo (web, app móvil, integraciones).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640080" y="4663440"/>
            <a:ext cx="411480" cy="411480"/>
          </a:xfrm>
          <a:prstGeom prst="ellipse">
            <a:avLst/>
          </a:prstGeom>
          <a:noFill/>
          <a:ln cap="flat" cmpd="sng" w="1905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2"/>
          <p:cNvSpPr txBox="1"/>
          <p:nvPr/>
        </p:nvSpPr>
        <p:spPr>
          <a:xfrm>
            <a:off x="640080" y="46634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400"/>
              <a:buFont typeface="Bookman Old Style"/>
              <a:buNone/>
            </a:pPr>
            <a:r>
              <a:rPr b="1" lang="en-US" sz="1400">
                <a:solidFill>
                  <a:srgbClr val="D7263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2"/>
          <p:cNvSpPr txBox="1"/>
          <p:nvPr/>
        </p:nvSpPr>
        <p:spPr>
          <a:xfrm>
            <a:off x="1234440" y="461772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Etapa piloto: etiquetado de bodega + capacitación antes del lanzamiento e-commerce.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2" name="Google Shape;362;p12"/>
          <p:cNvCxnSpPr/>
          <p:nvPr/>
        </p:nvCxnSpPr>
        <p:spPr>
          <a:xfrm>
            <a:off x="640080" y="5852160"/>
            <a:ext cx="5029200" cy="0"/>
          </a:xfrm>
          <a:prstGeom prst="straightConnector1">
            <a:avLst/>
          </a:prstGeom>
          <a:noFill/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3" name="Google Shape;363;p12"/>
          <p:cNvSpPr txBox="1"/>
          <p:nvPr/>
        </p:nvSpPr>
        <p:spPr>
          <a:xfrm>
            <a:off x="640080" y="59893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Gracias · Opportunity Framing Canvas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 txBox="1"/>
          <p:nvPr/>
        </p:nvSpPr>
        <p:spPr>
          <a:xfrm>
            <a:off x="594360" y="7772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000"/>
              <a:buFont typeface="Bookman Old Style"/>
              <a:buNone/>
            </a:pPr>
            <a:r>
              <a:rPr b="1" lang="en-US" sz="30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Modelo de datos relacional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640080" y="1417320"/>
            <a:ext cx="100584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8C8C8"/>
                </a:solidFill>
                <a:latin typeface="Calibri"/>
              </a:rPr>
              <a:t>Modelo relacional en PostgreSQL: Usuarios, Productos, Ventas y Pedidos como entidades centrales, con Detalle_venta y Movimientos para trazabilidad completa del inventario.</a:t>
            </a:r>
          </a:p>
        </p:txBody>
      </p:sp>
      <p:pic>
        <p:nvPicPr>
          <p:cNvPr id="141" name="Picture 140" descr="arquitectur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000" y="2150000"/>
            <a:ext cx="7158000" cy="4600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CASOS DE USO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 txBox="1"/>
          <p:nvPr/>
        </p:nvSpPr>
        <p:spPr>
          <a:xfrm>
            <a:off x="594360" y="7772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000"/>
              <a:buFont typeface="Bookman Old Style"/>
              <a:buNone/>
            </a:pPr>
            <a:r>
              <a:rPr b="1" lang="en-US" sz="3000">
                <a:solidFill>
                  <a:srgbClr val="F5F5F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Diagrama de casos de uso (UML)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640080" y="1417320"/>
            <a:ext cx="100584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8C8C8"/>
                </a:solidFill>
                <a:latin typeface="Calibri"/>
              </a:rPr>
              <a:t>12 casos de uso para Cliente, Vendedor, Bodega y Gerente, con relaciones «include»/«extend» e integraciones a Webpay y Starken.</a:t>
            </a:r>
          </a:p>
        </p:txBody>
      </p:sp>
      <p:pic>
        <p:nvPicPr>
          <p:cNvPr id="141" name="Picture 140" descr="casos_de_us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500" y="1750000"/>
            <a:ext cx="3747000" cy="505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2026-08-30T20:21:22Z</dcterms:created>
  <dc:creator>PptxGenJS</dc:creator>
</cp:coreProperties>
</file>